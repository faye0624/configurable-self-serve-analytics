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
  </p:notesMasterIdLst>
  <p:handoutMasterIdLst>
    <p:handoutMasterId r:id="rId35"/>
  </p:handoutMasterIdLst>
  <p:sldIdLst>
    <p:sldId id="256" r:id="rId3"/>
    <p:sldId id="263" r:id="rId5"/>
    <p:sldId id="257" r:id="rId6"/>
    <p:sldId id="258" r:id="rId7"/>
    <p:sldId id="259" r:id="rId8"/>
    <p:sldId id="264" r:id="rId9"/>
    <p:sldId id="262" r:id="rId10"/>
    <p:sldId id="271" r:id="rId11"/>
    <p:sldId id="272" r:id="rId12"/>
    <p:sldId id="273" r:id="rId13"/>
    <p:sldId id="261" r:id="rId14"/>
    <p:sldId id="260" r:id="rId15"/>
    <p:sldId id="270" r:id="rId16"/>
    <p:sldId id="269" r:id="rId17"/>
    <p:sldId id="274" r:id="rId18"/>
    <p:sldId id="285" r:id="rId19"/>
    <p:sldId id="275" r:id="rId20"/>
    <p:sldId id="276" r:id="rId21"/>
    <p:sldId id="277" r:id="rId22"/>
    <p:sldId id="286" r:id="rId23"/>
    <p:sldId id="278" r:id="rId24"/>
    <p:sldId id="279" r:id="rId25"/>
    <p:sldId id="288" r:id="rId26"/>
    <p:sldId id="280" r:id="rId27"/>
    <p:sldId id="281" r:id="rId28"/>
    <p:sldId id="291" r:id="rId29"/>
    <p:sldId id="292" r:id="rId30"/>
    <p:sldId id="289" r:id="rId31"/>
    <p:sldId id="282" r:id="rId32"/>
    <p:sldId id="283" r:id="rId33"/>
    <p:sldId id="284" r:id="rId34"/>
  </p:sldIdLst>
  <p:sldSz cx="12192000" cy="6858000"/>
  <p:notesSz cx="6858000" cy="9144000"/>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354212-CC27-402D-917C-763D36D715E2}">
          <p14:sldIdLst>
            <p14:sldId id="256"/>
          </p14:sldIdLst>
        </p14:section>
        <p14:section name="Project Ideation" id="{CF41FDE7-C845-4F56-A878-EFB1B7E047B9}">
          <p14:sldIdLst>
            <p14:sldId id="263"/>
            <p14:sldId id="257"/>
            <p14:sldId id="258"/>
            <p14:sldId id="259"/>
          </p14:sldIdLst>
        </p14:section>
        <p14:section name="Project Proposal" id="{2D50F324-4F4A-4742-BC38-D3709C72CD11}">
          <p14:sldIdLst>
            <p14:sldId id="264"/>
            <p14:sldId id="262"/>
            <p14:sldId id="271"/>
            <p14:sldId id="272"/>
            <p14:sldId id="273"/>
          </p14:sldIdLst>
        </p14:section>
        <p14:section name="Weekly Progress Tracker" id="{C88567F8-11CC-40A2-9B2D-E452A74BA8D9}">
          <p14:sldIdLst>
            <p14:sldId id="261"/>
            <p14:sldId id="260"/>
            <p14:sldId id="270"/>
            <p14:sldId id="269"/>
            <p14:sldId id="274"/>
            <p14:sldId id="285"/>
            <p14:sldId id="275"/>
            <p14:sldId id="276"/>
            <p14:sldId id="277"/>
            <p14:sldId id="286"/>
            <p14:sldId id="278"/>
            <p14:sldId id="279"/>
            <p14:sldId id="288"/>
            <p14:sldId id="280"/>
            <p14:sldId id="281"/>
            <p14:sldId id="291"/>
            <p14:sldId id="292"/>
            <p14:sldId id="289"/>
            <p14:sldId id="282"/>
            <p14:sldId id="283"/>
            <p14:sldId id="28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handoutMaster" Target="handoutMasters/handout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ableStyles" Target="tableStyles.xml"/><Relationship Id="rId39" Type="http://schemas.openxmlformats.org/officeDocument/2006/relationships/customXml" Target="../customXml/item1.xml"/><Relationship Id="rId40" Type="http://schemas.openxmlformats.org/officeDocument/2006/relationships/customXml" Target="../customXml/item2.xml"/><Relationship Id="rId41"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91B07DD3-8E0C-4A50-B5FE-ABD362AD454B}" type="datetime1">
              <a:rPr lang="en-GB" smtClean="0"/>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DE7DFA-63CC-4ED7-B30E-ACF88B4B8932}" type="slidenum">
              <a:rPr lang="en-GB" smtClean="0"/>
            </a:fld>
            <a:endParaRPr lang="en-GB"/>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CED090A-610C-4D83-921E-93394EF804D0}" type="datetime1">
              <a:rPr lang="en-GB" noProof="0" smtClean="0"/>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endParaRPr lang="en-GB" noProof="0"/>
          </a:p>
          <a:p>
            <a:pPr lvl="1" rtl="0"/>
            <a:r>
              <a:rPr lang="en-GB" noProof="0"/>
              <a:t>Second level</a:t>
            </a:r>
            <a:endParaRPr lang="en-GB" noProof="0"/>
          </a:p>
          <a:p>
            <a:pPr lvl="2" rtl="0"/>
            <a:r>
              <a:rPr lang="en-GB" noProof="0"/>
              <a:t>Third level</a:t>
            </a:r>
            <a:endParaRPr lang="en-GB" noProof="0"/>
          </a:p>
          <a:p>
            <a:pPr lvl="3" rtl="0"/>
            <a:r>
              <a:rPr lang="en-GB" noProof="0"/>
              <a:t>Fourth level</a:t>
            </a:r>
            <a:endParaRPr lang="en-GB" noProof="0"/>
          </a:p>
          <a:p>
            <a:pPr lvl="4" rtl="0"/>
            <a:r>
              <a:rPr lang="en-GB" noProof="0"/>
              <a:t>Fifth level</a:t>
            </a:r>
            <a:endParaRPr lang="en-GB"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98C5307-140F-447F-BCBA-BB92E3A2906B}" type="slidenum">
              <a:rPr lang="en-GB" noProof="0" smtClean="0"/>
            </a:fld>
            <a:endParaRPr lang="en-GB" noProof="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98C5307-140F-447F-BCBA-BB92E3A2906B}" type="slidenum">
              <a:rPr lang="en-GB" smtClean="0"/>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useBgFill="1">
        <p:nvSpPr>
          <p:cNvPr id="8" name="Rectangle 7"/>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9" name="Rectangle 8"/>
          <p:cNvSpPr/>
          <p:nvPr userDrawn="1"/>
        </p:nvSpPr>
        <p:spPr>
          <a:xfrm>
            <a:off x="1" y="0"/>
            <a:ext cx="81153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srgbClr val="CAB4C3"/>
              </a:solidFill>
              <a:effectLst/>
              <a:uLnTx/>
              <a:uFillTx/>
              <a:latin typeface="Avenir Next LT Pro"/>
              <a:ea typeface="+mn-ea"/>
              <a:cs typeface="+mn-cs"/>
            </a:endParaRPr>
          </a:p>
        </p:txBody>
      </p:sp>
      <p:sp>
        <p:nvSpPr>
          <p:cNvPr id="10" name="Title 1"/>
          <p:cNvSpPr>
            <a:spLocks noGrp="1"/>
          </p:cNvSpPr>
          <p:nvPr>
            <p:ph type="ctrTitle"/>
          </p:nvPr>
        </p:nvSpPr>
        <p:spPr>
          <a:xfrm>
            <a:off x="649044" y="753034"/>
            <a:ext cx="6815446" cy="3887390"/>
          </a:xfrm>
        </p:spPr>
        <p:txBody>
          <a:bodyPr rtlCol="0" anchor="t">
            <a:normAutofit/>
          </a:bodyPr>
          <a:lstStyle>
            <a:lvl1pPr>
              <a:defRPr sz="8500" spc="-20" baseline="0">
                <a:solidFill>
                  <a:schemeClr val="bg1"/>
                </a:solidFill>
              </a:defRPr>
            </a:lvl1pPr>
          </a:lstStyle>
          <a:p>
            <a:pPr rtl="0"/>
            <a:r>
              <a:rPr lang="en-US" noProof="0"/>
              <a:t>Click to edit Master title style</a:t>
            </a:r>
            <a:endParaRPr lang="en-GB" noProof="0"/>
          </a:p>
        </p:txBody>
      </p:sp>
      <p:sp>
        <p:nvSpPr>
          <p:cNvPr id="11" name="Subtitle 2"/>
          <p:cNvSpPr>
            <a:spLocks noGrp="1"/>
          </p:cNvSpPr>
          <p:nvPr>
            <p:ph type="subTitle" idx="1"/>
          </p:nvPr>
        </p:nvSpPr>
        <p:spPr>
          <a:xfrm>
            <a:off x="649045" y="4640424"/>
            <a:ext cx="6437555" cy="1303176"/>
          </a:xfrm>
        </p:spPr>
        <p:txBody>
          <a:bodyPr rtlCol="0" anchor="b">
            <a:normAutofit/>
          </a:bodyPr>
          <a:lstStyle>
            <a:lvl1pPr marL="0" indent="0">
              <a:buNone/>
              <a:defRPr sz="2800" b="1">
                <a:solidFill>
                  <a:schemeClr val="bg1"/>
                </a:solidFill>
              </a:defRPr>
            </a:lvl1pPr>
          </a:lstStyle>
          <a:p>
            <a:pPr rtl="0"/>
            <a:r>
              <a:rPr lang="en-US" noProof="0"/>
              <a:t>Click to edit Master subtitle style</a:t>
            </a:r>
            <a:endParaRPr lang="en-GB" noProof="0"/>
          </a:p>
        </p:txBody>
      </p:sp>
      <p:sp>
        <p:nvSpPr>
          <p:cNvPr id="18" name="Picture Placeholder 16"/>
          <p:cNvSpPr>
            <a:spLocks noGrp="1"/>
          </p:cNvSpPr>
          <p:nvPr>
            <p:ph type="pic" sz="quarter" idx="13" hasCustomPrompt="1"/>
          </p:nvPr>
        </p:nvSpPr>
        <p:spPr>
          <a:xfrm>
            <a:off x="8113533" y="0"/>
            <a:ext cx="4082983" cy="6858000"/>
          </a:xfrm>
        </p:spPr>
        <p:txBody>
          <a:bodyPr rtlCol="0"/>
          <a:lstStyle>
            <a:lvl1pPr marL="0" indent="0" algn="ctr">
              <a:buNone/>
              <a:defRPr/>
            </a:lvl1pPr>
          </a:lstStyle>
          <a:p>
            <a:pPr rtl="0"/>
            <a:r>
              <a:rPr lang="en-GB" noProof="0"/>
              <a:t>Click to add photo</a:t>
            </a:r>
            <a:endParaRPr lang="en-GB"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7" name="Rectangle 6"/>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8" name="Rectangle 7"/>
          <p:cNvSpPr/>
          <p:nvPr userDrawn="1"/>
        </p:nvSpPr>
        <p:spPr>
          <a:xfrm>
            <a:off x="0" y="0"/>
            <a:ext cx="40767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9" name="Title 1"/>
          <p:cNvSpPr>
            <a:spLocks noGrp="1"/>
          </p:cNvSpPr>
          <p:nvPr>
            <p:ph type="title"/>
          </p:nvPr>
        </p:nvSpPr>
        <p:spPr>
          <a:xfrm>
            <a:off x="532264" y="776941"/>
            <a:ext cx="3209008" cy="5166659"/>
          </a:xfrm>
        </p:spPr>
        <p:txBody>
          <a:bodyPr rtlCol="0" anchor="b"/>
          <a:lstStyle>
            <a:lvl1pPr>
              <a:defRPr spc="-20" baseline="0">
                <a:solidFill>
                  <a:schemeClr val="bg1"/>
                </a:solidFill>
              </a:defRPr>
            </a:lvl1pPr>
          </a:lstStyle>
          <a:p>
            <a:pPr rtl="0"/>
            <a:r>
              <a:rPr lang="en-US" noProof="0">
                <a:solidFill>
                  <a:srgbClr val="FFFFFF"/>
                </a:solidFill>
              </a:rPr>
              <a:t>Click to edit Master title style</a:t>
            </a:r>
            <a:endParaRPr lang="en-GB" noProof="0">
              <a:solidFill>
                <a:srgbClr val="FFFFFF"/>
              </a:solidFill>
            </a:endParaRPr>
          </a:p>
        </p:txBody>
      </p:sp>
      <p:sp>
        <p:nvSpPr>
          <p:cNvPr id="13" name="Footer Placeholder 4"/>
          <p:cNvSpPr>
            <a:spLocks noGrp="1"/>
          </p:cNvSpPr>
          <p:nvPr>
            <p:ph type="ftr" sz="quarter" idx="11"/>
          </p:nvPr>
        </p:nvSpPr>
        <p:spPr>
          <a:xfrm>
            <a:off x="199277" y="6356350"/>
            <a:ext cx="3749040" cy="365125"/>
          </a:xfrm>
        </p:spPr>
        <p:txBody>
          <a:bodyPr rtlCol="0"/>
          <a:lstStyle>
            <a:lvl1pPr>
              <a:defRPr>
                <a:solidFill>
                  <a:schemeClr val="bg1"/>
                </a:solidFill>
              </a:defRPr>
            </a:lvl1pPr>
          </a:lstStyle>
          <a:p>
            <a:pPr rtl="0"/>
            <a:r>
              <a:rPr lang="en-GB" noProof="0"/>
              <a:t>Presentation title</a:t>
            </a:r>
            <a:endParaRPr lang="en-GB" noProof="0"/>
          </a:p>
        </p:txBody>
      </p:sp>
      <p:sp>
        <p:nvSpPr>
          <p:cNvPr id="19" name="Picture Placeholder 16"/>
          <p:cNvSpPr>
            <a:spLocks noGrp="1"/>
          </p:cNvSpPr>
          <p:nvPr>
            <p:ph type="pic" sz="quarter" idx="13" hasCustomPrompt="1"/>
          </p:nvPr>
        </p:nvSpPr>
        <p:spPr>
          <a:xfrm>
            <a:off x="4076700" y="0"/>
            <a:ext cx="4038600" cy="3429000"/>
          </a:xfrm>
        </p:spPr>
        <p:txBody>
          <a:bodyPr rtlCol="0"/>
          <a:lstStyle>
            <a:lvl1pPr marL="0" indent="0" algn="ctr">
              <a:buNone/>
              <a:defRPr/>
            </a:lvl1pPr>
          </a:lstStyle>
          <a:p>
            <a:pPr rtl="0"/>
            <a:r>
              <a:rPr lang="en-GB" noProof="0"/>
              <a:t>Click to add photo</a:t>
            </a:r>
            <a:endParaRPr lang="en-GB" noProof="0"/>
          </a:p>
        </p:txBody>
      </p:sp>
      <p:sp>
        <p:nvSpPr>
          <p:cNvPr id="20" name="Picture Placeholder 16"/>
          <p:cNvSpPr>
            <a:spLocks noGrp="1"/>
          </p:cNvSpPr>
          <p:nvPr>
            <p:ph type="pic" sz="quarter" idx="14" hasCustomPrompt="1"/>
          </p:nvPr>
        </p:nvSpPr>
        <p:spPr>
          <a:xfrm>
            <a:off x="8115300" y="0"/>
            <a:ext cx="4076701" cy="3429000"/>
          </a:xfrm>
        </p:spPr>
        <p:txBody>
          <a:bodyPr rtlCol="0"/>
          <a:lstStyle>
            <a:lvl1pPr marL="0" indent="0" algn="ctr">
              <a:buNone/>
              <a:defRPr/>
            </a:lvl1pPr>
          </a:lstStyle>
          <a:p>
            <a:pPr rtl="0"/>
            <a:r>
              <a:rPr lang="en-GB" noProof="0"/>
              <a:t>Click to add photo</a:t>
            </a:r>
            <a:endParaRPr lang="en-GB" noProof="0"/>
          </a:p>
        </p:txBody>
      </p:sp>
      <p:sp>
        <p:nvSpPr>
          <p:cNvPr id="24" name="Text Placeholder 21"/>
          <p:cNvSpPr>
            <a:spLocks noGrp="1"/>
          </p:cNvSpPr>
          <p:nvPr>
            <p:ph type="body" sz="quarter" idx="15" hasCustomPrompt="1"/>
          </p:nvPr>
        </p:nvSpPr>
        <p:spPr>
          <a:xfrm>
            <a:off x="4864100" y="3841750"/>
            <a:ext cx="6599238" cy="2296083"/>
          </a:xfrm>
        </p:spPr>
        <p:txBody>
          <a:bodyPr rtlCol="0">
            <a:normAutofit/>
          </a:bodyPr>
          <a:lstStyle>
            <a:lvl1pPr marL="342900" indent="-342900">
              <a:buFont typeface="Arial" panose="020B0604020202090204" pitchFamily="34" charset="0"/>
              <a:buChar char="•"/>
              <a:defRPr sz="2000"/>
            </a:lvl1pPr>
          </a:lstStyle>
          <a:p>
            <a:pPr lvl="0" rtl="0"/>
            <a:r>
              <a:rPr lang="en-GB" noProof="0"/>
              <a:t>Click to add text</a:t>
            </a:r>
            <a:endParaRPr lang="en-GB" noProof="0"/>
          </a:p>
        </p:txBody>
      </p:sp>
      <p:sp>
        <p:nvSpPr>
          <p:cNvPr id="14" name="Date Placeholder 3"/>
          <p:cNvSpPr>
            <a:spLocks noGrp="1"/>
          </p:cNvSpPr>
          <p:nvPr>
            <p:ph type="dt" sz="half" idx="10"/>
          </p:nvPr>
        </p:nvSpPr>
        <p:spPr>
          <a:xfrm>
            <a:off x="7013448" y="6355080"/>
            <a:ext cx="4352544" cy="365125"/>
          </a:xfrm>
        </p:spPr>
        <p:txBody>
          <a:bodyPr rtlCol="0"/>
          <a:lstStyle>
            <a:lvl1pPr>
              <a:defRPr/>
            </a:lvl1pPr>
          </a:lstStyle>
          <a:p>
            <a:pPr rtl="0">
              <a:defRPr/>
            </a:pPr>
            <a:r>
              <a:rPr lang="en-GB" noProof="0">
                <a:solidFill>
                  <a:prstClr val="black"/>
                </a:solidFill>
              </a:rPr>
              <a:t>20XX</a:t>
            </a:r>
            <a:endParaRPr lang="en-GB" noProof="0">
              <a:solidFill>
                <a:prstClr val="black"/>
              </a:solidFill>
            </a:endParaRPr>
          </a:p>
        </p:txBody>
      </p:sp>
      <p:sp>
        <p:nvSpPr>
          <p:cNvPr id="15" name="Slide Number Placeholder 5"/>
          <p:cNvSpPr>
            <a:spLocks noGrp="1"/>
          </p:cNvSpPr>
          <p:nvPr>
            <p:ph type="sldNum" sz="quarter" idx="12"/>
          </p:nvPr>
        </p:nvSpPr>
        <p:spPr>
          <a:xfrm>
            <a:off x="11365992" y="6356350"/>
            <a:ext cx="630936"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3" name="Rectangle 2"/>
          <p:cNvSpPr/>
          <p:nvPr userDrawn="1"/>
        </p:nvSpPr>
        <p:spPr>
          <a:xfrm>
            <a:off x="0" y="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4" name="Title 1"/>
          <p:cNvSpPr>
            <a:spLocks noGrp="1"/>
          </p:cNvSpPr>
          <p:nvPr>
            <p:ph type="title"/>
          </p:nvPr>
        </p:nvSpPr>
        <p:spPr>
          <a:xfrm>
            <a:off x="649045" y="365124"/>
            <a:ext cx="9523655" cy="1501327"/>
          </a:xfrm>
        </p:spPr>
        <p:txBody>
          <a:bodyPr rtlCol="0"/>
          <a:lstStyle>
            <a:lvl1pPr>
              <a:defRPr spc="-20" baseline="0">
                <a:solidFill>
                  <a:schemeClr val="bg1"/>
                </a:solidFill>
              </a:defRPr>
            </a:lvl1pPr>
          </a:lstStyle>
          <a:p>
            <a:pPr rtl="0"/>
            <a:r>
              <a:rPr lang="en-US" noProof="0">
                <a:solidFill>
                  <a:srgbClr val="FFFFFF"/>
                </a:solidFill>
              </a:rPr>
              <a:t>Click to edit Master title style</a:t>
            </a:r>
            <a:endParaRPr lang="en-GB" noProof="0">
              <a:solidFill>
                <a:srgbClr val="FFFFFF"/>
              </a:solidFill>
            </a:endParaRPr>
          </a:p>
        </p:txBody>
      </p:sp>
      <p:sp>
        <p:nvSpPr>
          <p:cNvPr id="12" name="Picture Placeholder 10"/>
          <p:cNvSpPr>
            <a:spLocks noGrp="1"/>
          </p:cNvSpPr>
          <p:nvPr>
            <p:ph type="pic" sz="quarter" idx="13" hasCustomPrompt="1"/>
          </p:nvPr>
        </p:nvSpPr>
        <p:spPr>
          <a:xfrm>
            <a:off x="0" y="2286000"/>
            <a:ext cx="5067300" cy="4572000"/>
          </a:xfrm>
        </p:spPr>
        <p:txBody>
          <a:bodyPr rtlCol="0"/>
          <a:lstStyle>
            <a:lvl1pPr marL="0" indent="0" algn="ctr">
              <a:buNone/>
              <a:defRPr/>
            </a:lvl1pPr>
          </a:lstStyle>
          <a:p>
            <a:pPr rtl="0"/>
            <a:r>
              <a:rPr lang="en-GB" noProof="0"/>
              <a:t>Click to add photo</a:t>
            </a:r>
            <a:endParaRPr lang="en-GB" noProof="0"/>
          </a:p>
        </p:txBody>
      </p:sp>
      <p:sp>
        <p:nvSpPr>
          <p:cNvPr id="7" name="Footer Placeholder 4"/>
          <p:cNvSpPr>
            <a:spLocks noGrp="1"/>
          </p:cNvSpPr>
          <p:nvPr>
            <p:ph type="ftr" sz="quarter" idx="11"/>
          </p:nvPr>
        </p:nvSpPr>
        <p:spPr>
          <a:xfrm>
            <a:off x="201168" y="6356350"/>
            <a:ext cx="4837176" cy="365125"/>
          </a:xfrm>
        </p:spPr>
        <p:txBody>
          <a:bodyPr rtlCol="0"/>
          <a:lstStyle>
            <a:lvl1pPr>
              <a:defRPr>
                <a:solidFill>
                  <a:schemeClr val="bg1"/>
                </a:solidFill>
              </a:defRPr>
            </a:lvl1pPr>
          </a:lstStyle>
          <a:p>
            <a:pPr rtl="0"/>
            <a:r>
              <a:rPr lang="en-GB" noProof="0">
                <a:effectLst>
                  <a:outerShdw blurRad="38100" dist="38100" dir="2700000" algn="tl">
                    <a:srgbClr val="000000">
                      <a:alpha val="43137"/>
                    </a:srgbClr>
                  </a:outerShdw>
                </a:effectLst>
              </a:rPr>
              <a:t>Presentation title</a:t>
            </a:r>
            <a:endParaRPr lang="en-GB" noProof="0">
              <a:effectLst>
                <a:outerShdw blurRad="38100" dist="38100" dir="2700000" algn="tl">
                  <a:srgbClr val="000000">
                    <a:alpha val="43137"/>
                  </a:srgbClr>
                </a:outerShdw>
              </a:effectLst>
            </a:endParaRPr>
          </a:p>
        </p:txBody>
      </p:sp>
      <p:sp>
        <p:nvSpPr>
          <p:cNvPr id="6" name="Content Placeholder 2"/>
          <p:cNvSpPr>
            <a:spLocks noGrp="1"/>
          </p:cNvSpPr>
          <p:nvPr>
            <p:ph idx="1"/>
          </p:nvPr>
        </p:nvSpPr>
        <p:spPr>
          <a:xfrm>
            <a:off x="5819887" y="2899186"/>
            <a:ext cx="5610113" cy="3284359"/>
          </a:xfrm>
        </p:spPr>
        <p:txBody>
          <a:bodyPr rtlCol="0">
            <a:normAutofit/>
          </a:bodyPr>
          <a:lstStyle>
            <a:lvl1pPr marL="0" indent="0">
              <a:buNone/>
              <a:defRPr/>
            </a:lvl1pPr>
          </a:lstStyle>
          <a:p>
            <a:pPr lvl="0" rtl="0"/>
            <a:r>
              <a:rPr lang="en-US" noProof="0"/>
              <a:t>Click to edit Master text styles</a:t>
            </a:r>
            <a:endParaRPr lang="en-US" noProof="0"/>
          </a:p>
        </p:txBody>
      </p:sp>
      <p:sp>
        <p:nvSpPr>
          <p:cNvPr id="8" name="Date Placeholder 3"/>
          <p:cNvSpPr>
            <a:spLocks noGrp="1"/>
          </p:cNvSpPr>
          <p:nvPr>
            <p:ph type="dt" sz="half" idx="10"/>
          </p:nvPr>
        </p:nvSpPr>
        <p:spPr>
          <a:xfrm>
            <a:off x="7013448" y="6355080"/>
            <a:ext cx="4352544" cy="365125"/>
          </a:xfrm>
        </p:spPr>
        <p:txBody>
          <a:bodyPr rtlCol="0"/>
          <a:lstStyle>
            <a:lvl1pPr>
              <a:defRPr/>
            </a:lvl1pPr>
          </a:lstStyle>
          <a:p>
            <a:pPr rtl="0">
              <a:defRPr/>
            </a:pPr>
            <a:r>
              <a:rPr lang="en-GB" noProof="0">
                <a:solidFill>
                  <a:prstClr val="black"/>
                </a:solidFill>
              </a:rPr>
              <a:t>20XX</a:t>
            </a:r>
            <a:endParaRPr lang="en-GB" noProof="0">
              <a:solidFill>
                <a:prstClr val="black"/>
              </a:solidFill>
            </a:endParaRPr>
          </a:p>
        </p:txBody>
      </p:sp>
      <p:sp>
        <p:nvSpPr>
          <p:cNvPr id="9" name="Slide Number Placeholder 5"/>
          <p:cNvSpPr>
            <a:spLocks noGrp="1"/>
          </p:cNvSpPr>
          <p:nvPr>
            <p:ph type="sldNum" sz="quarter" idx="12"/>
          </p:nvPr>
        </p:nvSpPr>
        <p:spPr>
          <a:xfrm>
            <a:off x="11365992" y="6356350"/>
            <a:ext cx="630936"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defRPr/>
            </a:pPr>
            <a:fld id="{CD6D940D-6D44-4DF9-9322-B4B11F7EDCD0}"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3" name="Rectangle 2"/>
          <p:cNvSpPr/>
          <p:nvPr userDrawn="1"/>
        </p:nvSpPr>
        <p:spPr>
          <a:xfrm>
            <a:off x="1" y="0"/>
            <a:ext cx="70865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srgbClr val="CAB4C3"/>
              </a:solidFill>
              <a:effectLst/>
              <a:uLnTx/>
              <a:uFillTx/>
              <a:latin typeface="Avenir Next LT Pro"/>
              <a:ea typeface="+mn-ea"/>
              <a:cs typeface="+mn-cs"/>
            </a:endParaRPr>
          </a:p>
        </p:txBody>
      </p:sp>
      <p:sp>
        <p:nvSpPr>
          <p:cNvPr id="4" name="Title 1"/>
          <p:cNvSpPr>
            <a:spLocks noGrp="1"/>
          </p:cNvSpPr>
          <p:nvPr>
            <p:ph type="ctrTitle"/>
          </p:nvPr>
        </p:nvSpPr>
        <p:spPr>
          <a:xfrm>
            <a:off x="649045" y="753035"/>
            <a:ext cx="5945393" cy="2366683"/>
          </a:xfrm>
        </p:spPr>
        <p:txBody>
          <a:bodyPr rtlCol="0">
            <a:normAutofit/>
          </a:bodyPr>
          <a:lstStyle>
            <a:lvl1pPr>
              <a:defRPr spc="-20" baseline="0">
                <a:solidFill>
                  <a:schemeClr val="bg1"/>
                </a:solidFill>
              </a:defRPr>
            </a:lvl1pPr>
          </a:lstStyle>
          <a:p>
            <a:pPr rtl="0"/>
            <a:r>
              <a:rPr lang="en-US" sz="6000" noProof="0"/>
              <a:t>Click to edit Master title style</a:t>
            </a:r>
            <a:endParaRPr lang="en-GB" sz="6000" noProof="0"/>
          </a:p>
        </p:txBody>
      </p:sp>
      <p:sp>
        <p:nvSpPr>
          <p:cNvPr id="5" name="Subtitle 2"/>
          <p:cNvSpPr>
            <a:spLocks noGrp="1"/>
          </p:cNvSpPr>
          <p:nvPr>
            <p:ph type="subTitle" idx="1"/>
          </p:nvPr>
        </p:nvSpPr>
        <p:spPr>
          <a:xfrm>
            <a:off x="649045" y="3075868"/>
            <a:ext cx="5945393" cy="1108335"/>
          </a:xfrm>
        </p:spPr>
        <p:txBody>
          <a:bodyPr rtlCol="0">
            <a:normAutofit/>
          </a:bodyPr>
          <a:lstStyle>
            <a:lvl1pPr marL="0" indent="0">
              <a:buNone/>
              <a:defRPr sz="2400">
                <a:solidFill>
                  <a:schemeClr val="bg1"/>
                </a:solidFill>
              </a:defRPr>
            </a:lvl1pPr>
          </a:lstStyle>
          <a:p>
            <a:pPr rtl="0"/>
            <a:r>
              <a:rPr lang="en-US" noProof="0"/>
              <a:t>Click to edit Master subtitle style</a:t>
            </a:r>
            <a:endParaRPr lang="en-GB" noProof="0"/>
          </a:p>
        </p:txBody>
      </p:sp>
      <p:sp>
        <p:nvSpPr>
          <p:cNvPr id="16" name="Picture Placeholder 15"/>
          <p:cNvSpPr>
            <a:spLocks noGrp="1"/>
          </p:cNvSpPr>
          <p:nvPr>
            <p:ph type="pic" sz="quarter" idx="14" hasCustomPrompt="1"/>
          </p:nvPr>
        </p:nvSpPr>
        <p:spPr>
          <a:xfrm>
            <a:off x="0" y="4533900"/>
            <a:ext cx="7086598" cy="2324100"/>
          </a:xfrm>
        </p:spPr>
        <p:txBody>
          <a:bodyPr rtlCol="0"/>
          <a:lstStyle>
            <a:lvl1pPr marL="0" indent="0" algn="l">
              <a:buNone/>
              <a:defRPr/>
            </a:lvl1pPr>
          </a:lstStyle>
          <a:p>
            <a:pPr rtl="0"/>
            <a:r>
              <a:rPr lang="en-GB" noProof="0"/>
              <a:t>Click to add photo</a:t>
            </a:r>
            <a:endParaRPr lang="en-GB" noProof="0"/>
          </a:p>
        </p:txBody>
      </p:sp>
      <p:sp>
        <p:nvSpPr>
          <p:cNvPr id="8" name="Footer Placeholder 4"/>
          <p:cNvSpPr>
            <a:spLocks noGrp="1"/>
          </p:cNvSpPr>
          <p:nvPr>
            <p:ph type="ftr" sz="quarter" idx="11"/>
          </p:nvPr>
        </p:nvSpPr>
        <p:spPr>
          <a:xfrm>
            <a:off x="201168" y="6356350"/>
            <a:ext cx="4837176" cy="365125"/>
          </a:xfrm>
        </p:spPr>
        <p:txBody>
          <a:bodyPr rtlCol="0"/>
          <a:lstStyle>
            <a:lvl1pPr>
              <a:defRPr>
                <a:solidFill>
                  <a:schemeClr val="bg1"/>
                </a:solidFill>
              </a:defRPr>
            </a:lvl1pPr>
          </a:lstStyle>
          <a:p>
            <a:pPr rtl="0">
              <a:defRPr/>
            </a:pPr>
            <a:r>
              <a:rPr lang="en-GB" noProof="0">
                <a:effectLst>
                  <a:outerShdw blurRad="38100" dist="38100" dir="2700000" algn="tl">
                    <a:srgbClr val="000000">
                      <a:alpha val="43137"/>
                    </a:srgbClr>
                  </a:outerShdw>
                </a:effectLst>
              </a:rPr>
              <a:t>Presentation title</a:t>
            </a:r>
            <a:endParaRPr lang="en-GB" noProof="0">
              <a:effectLst>
                <a:outerShdw blurRad="38100" dist="38100" dir="2700000" algn="tl">
                  <a:srgbClr val="000000">
                    <a:alpha val="43137"/>
                  </a:srgbClr>
                </a:outerShdw>
              </a:effectLst>
            </a:endParaRPr>
          </a:p>
        </p:txBody>
      </p:sp>
      <p:sp>
        <p:nvSpPr>
          <p:cNvPr id="14" name="Picture Placeholder 12"/>
          <p:cNvSpPr>
            <a:spLocks noGrp="1"/>
          </p:cNvSpPr>
          <p:nvPr>
            <p:ph type="pic" sz="quarter" idx="13" hasCustomPrompt="1"/>
          </p:nvPr>
        </p:nvSpPr>
        <p:spPr>
          <a:xfrm>
            <a:off x="7086600" y="0"/>
            <a:ext cx="5105400" cy="4533900"/>
          </a:xfrm>
        </p:spPr>
        <p:txBody>
          <a:bodyPr rtlCol="0"/>
          <a:lstStyle>
            <a:lvl1pPr marL="0" indent="0" algn="ctr">
              <a:buNone/>
              <a:defRPr/>
            </a:lvl1pPr>
          </a:lstStyle>
          <a:p>
            <a:pPr rtl="0"/>
            <a:r>
              <a:rPr lang="en-GB" noProof="0"/>
              <a:t>Click to add photo</a:t>
            </a:r>
            <a:endParaRPr lang="en-GB" noProof="0"/>
          </a:p>
        </p:txBody>
      </p:sp>
      <p:sp>
        <p:nvSpPr>
          <p:cNvPr id="17" name="Picture Placeholder 15"/>
          <p:cNvSpPr>
            <a:spLocks noGrp="1"/>
          </p:cNvSpPr>
          <p:nvPr>
            <p:ph type="pic" sz="quarter" idx="15" hasCustomPrompt="1"/>
          </p:nvPr>
        </p:nvSpPr>
        <p:spPr>
          <a:xfrm>
            <a:off x="7086598" y="4533900"/>
            <a:ext cx="5105402" cy="2324100"/>
          </a:xfrm>
        </p:spPr>
        <p:txBody>
          <a:bodyPr rtlCol="0"/>
          <a:lstStyle>
            <a:lvl1pPr marL="0" indent="0">
              <a:buNone/>
              <a:defRPr/>
            </a:lvl1pPr>
          </a:lstStyle>
          <a:p>
            <a:pPr rtl="0"/>
            <a:r>
              <a:rPr lang="en-GB" noProof="0"/>
              <a:t>Click to add photo</a:t>
            </a:r>
            <a:endParaRPr lang="en-GB" noProof="0"/>
          </a:p>
        </p:txBody>
      </p:sp>
      <p:sp>
        <p:nvSpPr>
          <p:cNvPr id="10" name="Date Placeholder 3"/>
          <p:cNvSpPr>
            <a:spLocks noGrp="1"/>
          </p:cNvSpPr>
          <p:nvPr>
            <p:ph type="dt" sz="half" idx="10"/>
          </p:nvPr>
        </p:nvSpPr>
        <p:spPr>
          <a:xfrm>
            <a:off x="7013448" y="6355080"/>
            <a:ext cx="4352544" cy="365125"/>
          </a:xfrm>
        </p:spPr>
        <p:txBody>
          <a:bodyPr rtlCol="0"/>
          <a:lstStyle>
            <a:lvl1pPr>
              <a:defRPr>
                <a:solidFill>
                  <a:schemeClr val="bg1"/>
                </a:solidFill>
              </a:defRPr>
            </a:lvl1pPr>
          </a:lstStyle>
          <a:p>
            <a:pPr rtl="0">
              <a:defRPr/>
            </a:pPr>
            <a:r>
              <a:rPr lang="en-GB" noProof="0">
                <a:effectLst>
                  <a:outerShdw blurRad="38100" dist="38100" dir="2700000" algn="tl">
                    <a:srgbClr val="000000">
                      <a:alpha val="43137"/>
                    </a:srgbClr>
                  </a:outerShdw>
                </a:effectLst>
              </a:rPr>
              <a:t>20XX</a:t>
            </a:r>
            <a:endParaRPr lang="en-GB" noProof="0">
              <a:effectLst>
                <a:outerShdw blurRad="38100" dist="38100" dir="2700000" algn="tl">
                  <a:srgbClr val="000000">
                    <a:alpha val="43137"/>
                  </a:srgbClr>
                </a:outerShdw>
              </a:effectLst>
            </a:endParaRPr>
          </a:p>
        </p:txBody>
      </p:sp>
      <p:sp>
        <p:nvSpPr>
          <p:cNvPr id="11" name="Slide Number Placeholder 5"/>
          <p:cNvSpPr>
            <a:spLocks noGrp="1"/>
          </p:cNvSpPr>
          <p:nvPr>
            <p:ph type="sldNum" sz="quarter" idx="12"/>
          </p:nvPr>
        </p:nvSpPr>
        <p:spPr>
          <a:xfrm>
            <a:off x="11365992" y="6356350"/>
            <a:ext cx="630936" cy="365125"/>
          </a:xfrm>
        </p:spPr>
        <p:txBody>
          <a:bodyPr rtlCol="0"/>
          <a:lstStyle>
            <a:lvl1pPr>
              <a:defRPr>
                <a:solidFill>
                  <a:schemeClr val="bg1"/>
                </a:solidFill>
              </a:defRPr>
            </a:lvl1pPr>
          </a:lstStyle>
          <a:p>
            <a:pPr rtl="0">
              <a:defRPr/>
            </a:pPr>
            <a:fld id="{2722F022-211C-4882-844C-086FEA6806AA}" type="slidenum">
              <a:rPr lang="en-GB" noProof="0" smtClean="0">
                <a:effectLst>
                  <a:outerShdw blurRad="38100" dist="38100" dir="2700000" algn="tl">
                    <a:srgbClr val="000000">
                      <a:alpha val="43137"/>
                    </a:srgbClr>
                  </a:outerShdw>
                </a:effectLst>
              </a:rPr>
            </a:fld>
            <a:endParaRPr lang="en-GB" noProof="0">
              <a:effectLst>
                <a:outerShdw blurRad="38100" dist="38100" dir="2700000" algn="tl">
                  <a:srgbClr val="000000">
                    <a:alpha val="43137"/>
                  </a:srgbClr>
                </a:outerShdw>
              </a:effectLs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0" name="Rectangle 9"/>
          <p:cNvSpPr/>
          <p:nvPr userDrawn="1"/>
        </p:nvSpPr>
        <p:spPr>
          <a:xfrm>
            <a:off x="0" y="0"/>
            <a:ext cx="3048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4" name="Title 3"/>
          <p:cNvSpPr>
            <a:spLocks noGrp="1"/>
          </p:cNvSpPr>
          <p:nvPr>
            <p:ph type="title" hasCustomPrompt="1"/>
          </p:nvPr>
        </p:nvSpPr>
        <p:spPr>
          <a:xfrm>
            <a:off x="331788" y="875030"/>
            <a:ext cx="2384425" cy="5068570"/>
          </a:xfrm>
        </p:spPr>
        <p:txBody>
          <a:bodyPr rtlCol="0"/>
          <a:lstStyle>
            <a:lvl1pPr>
              <a:lnSpc>
                <a:spcPct val="100000"/>
              </a:lnSpc>
              <a:defRPr spc="-20" baseline="0">
                <a:solidFill>
                  <a:schemeClr val="bg1"/>
                </a:solidFill>
              </a:defRPr>
            </a:lvl1pPr>
          </a:lstStyle>
          <a:p>
            <a:pPr rtl="0"/>
            <a:r>
              <a:rPr lang="en-GB" noProof="0"/>
              <a:t>Click  to add text</a:t>
            </a:r>
            <a:endParaRPr lang="en-GB" noProof="0"/>
          </a:p>
        </p:txBody>
      </p:sp>
      <p:sp>
        <p:nvSpPr>
          <p:cNvPr id="13" name="Footer Placeholder 4"/>
          <p:cNvSpPr>
            <a:spLocks noGrp="1"/>
          </p:cNvSpPr>
          <p:nvPr>
            <p:ph type="ftr" sz="quarter" idx="11"/>
          </p:nvPr>
        </p:nvSpPr>
        <p:spPr>
          <a:xfrm>
            <a:off x="199277" y="6356350"/>
            <a:ext cx="2771138" cy="365125"/>
          </a:xfrm>
        </p:spPr>
        <p:txBody>
          <a:bodyPr rtlCol="0"/>
          <a:lstStyle>
            <a:lvl1pPr>
              <a:defRPr>
                <a:solidFill>
                  <a:schemeClr val="bg1"/>
                </a:solidFill>
              </a:defRPr>
            </a:lvl1pPr>
          </a:lstStyle>
          <a:p>
            <a:pPr rtl="0">
              <a:defRPr/>
            </a:pPr>
            <a:r>
              <a:rPr lang="en-GB" noProof="0"/>
              <a:t>Presentation title</a:t>
            </a:r>
            <a:endParaRPr lang="en-GB" noProof="0"/>
          </a:p>
        </p:txBody>
      </p:sp>
      <p:sp>
        <p:nvSpPr>
          <p:cNvPr id="3" name="Content Placeholder 2"/>
          <p:cNvSpPr>
            <a:spLocks noGrp="1"/>
          </p:cNvSpPr>
          <p:nvPr>
            <p:ph sz="quarter" idx="14" hasCustomPrompt="1"/>
          </p:nvPr>
        </p:nvSpPr>
        <p:spPr>
          <a:xfrm>
            <a:off x="3302000" y="876300"/>
            <a:ext cx="8607425" cy="4749800"/>
          </a:xfrm>
        </p:spPr>
        <p:txBody>
          <a:bodyPr rtlCol="0"/>
          <a:lstStyle>
            <a:lvl1pPr>
              <a:defRPr/>
            </a:lvl1pPr>
          </a:lstStyle>
          <a:p>
            <a:pPr lvl="0" rtl="0"/>
            <a:r>
              <a:rPr lang="en-GB" noProof="0"/>
              <a:t>Click to add content</a:t>
            </a:r>
            <a:endParaRPr lang="en-GB" noProof="0"/>
          </a:p>
        </p:txBody>
      </p:sp>
      <p:sp>
        <p:nvSpPr>
          <p:cNvPr id="14" name="Date Placeholder 3"/>
          <p:cNvSpPr>
            <a:spLocks noGrp="1"/>
          </p:cNvSpPr>
          <p:nvPr>
            <p:ph type="dt" sz="half" idx="10"/>
          </p:nvPr>
        </p:nvSpPr>
        <p:spPr>
          <a:xfrm>
            <a:off x="7013448" y="6355080"/>
            <a:ext cx="4352544" cy="365125"/>
          </a:xfrm>
        </p:spPr>
        <p:txBody>
          <a:bodyPr rtlCol="0"/>
          <a:lstStyle>
            <a:lvl1pPr>
              <a:defRPr/>
            </a:lvl1pPr>
          </a:lstStyle>
          <a:p>
            <a:pPr rtl="0">
              <a:defRPr/>
            </a:pPr>
            <a:r>
              <a:rPr lang="en-GB" noProof="0">
                <a:solidFill>
                  <a:prstClr val="black"/>
                </a:solidFill>
              </a:rPr>
              <a:t>20XX</a:t>
            </a:r>
            <a:endParaRPr lang="en-GB" noProof="0">
              <a:solidFill>
                <a:prstClr val="black"/>
              </a:solidFill>
            </a:endParaRPr>
          </a:p>
        </p:txBody>
      </p:sp>
      <p:sp>
        <p:nvSpPr>
          <p:cNvPr id="15" name="Slide Number Placeholder 5"/>
          <p:cNvSpPr>
            <a:spLocks noGrp="1"/>
          </p:cNvSpPr>
          <p:nvPr>
            <p:ph type="sldNum" sz="quarter" idx="12"/>
          </p:nvPr>
        </p:nvSpPr>
        <p:spPr>
          <a:xfrm>
            <a:off x="11365992" y="6356350"/>
            <a:ext cx="630936"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defRPr/>
            </a:pPr>
            <a:fld id="{06B786C7-B8F9-4072-AAAA-17258464D730}"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Rectangle 7"/>
          <p:cNvSpPr/>
          <p:nvPr userDrawn="1"/>
        </p:nvSpPr>
        <p:spPr>
          <a:xfrm>
            <a:off x="0" y="0"/>
            <a:ext cx="3048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4" name="Title 3"/>
          <p:cNvSpPr>
            <a:spLocks noGrp="1"/>
          </p:cNvSpPr>
          <p:nvPr>
            <p:ph type="title" hasCustomPrompt="1"/>
          </p:nvPr>
        </p:nvSpPr>
        <p:spPr>
          <a:xfrm>
            <a:off x="331787" y="996950"/>
            <a:ext cx="2384425" cy="4946650"/>
          </a:xfrm>
        </p:spPr>
        <p:txBody>
          <a:bodyPr rtlCol="0"/>
          <a:lstStyle>
            <a:lvl1pPr>
              <a:lnSpc>
                <a:spcPct val="100000"/>
              </a:lnSpc>
              <a:defRPr spc="-20" baseline="0">
                <a:solidFill>
                  <a:schemeClr val="bg1"/>
                </a:solidFill>
              </a:defRPr>
            </a:lvl1pPr>
          </a:lstStyle>
          <a:p>
            <a:pPr rtl="0"/>
            <a:r>
              <a:rPr lang="en-GB" noProof="0"/>
              <a:t>Click  to add text</a:t>
            </a:r>
            <a:endParaRPr lang="en-GB" noProof="0"/>
          </a:p>
        </p:txBody>
      </p:sp>
      <p:sp>
        <p:nvSpPr>
          <p:cNvPr id="9" name="Footer Placeholder 4"/>
          <p:cNvSpPr>
            <a:spLocks noGrp="1"/>
          </p:cNvSpPr>
          <p:nvPr>
            <p:ph type="ftr" sz="quarter" idx="11"/>
          </p:nvPr>
        </p:nvSpPr>
        <p:spPr>
          <a:xfrm>
            <a:off x="199277" y="6356350"/>
            <a:ext cx="2771138" cy="365125"/>
          </a:xfrm>
        </p:spPr>
        <p:txBody>
          <a:bodyPr rtlCol="0"/>
          <a:lstStyle>
            <a:lvl1pPr>
              <a:defRPr>
                <a:solidFill>
                  <a:schemeClr val="bg1"/>
                </a:solidFill>
              </a:defRPr>
            </a:lvl1pPr>
          </a:lstStyle>
          <a:p>
            <a:pPr rtl="0">
              <a:defRPr/>
            </a:pPr>
            <a:r>
              <a:rPr lang="en-GB" noProof="0"/>
              <a:t>Presentation title</a:t>
            </a:r>
            <a:endParaRPr lang="en-GB" noProof="0"/>
          </a:p>
        </p:txBody>
      </p:sp>
      <p:sp>
        <p:nvSpPr>
          <p:cNvPr id="3" name="Content Placeholder 2"/>
          <p:cNvSpPr>
            <a:spLocks noGrp="1"/>
          </p:cNvSpPr>
          <p:nvPr>
            <p:ph sz="quarter" idx="14" hasCustomPrompt="1"/>
          </p:nvPr>
        </p:nvSpPr>
        <p:spPr>
          <a:xfrm>
            <a:off x="3422650" y="996950"/>
            <a:ext cx="8367713" cy="4545013"/>
          </a:xfrm>
        </p:spPr>
        <p:txBody>
          <a:bodyPr rtlCol="0"/>
          <a:lstStyle>
            <a:lvl1pPr>
              <a:defRPr/>
            </a:lvl1pPr>
          </a:lstStyle>
          <a:p>
            <a:pPr lvl="0" rtl="0"/>
            <a:r>
              <a:rPr lang="en-GB" noProof="0"/>
              <a:t>Click to add content</a:t>
            </a:r>
            <a:endParaRPr lang="en-GB" noProof="0"/>
          </a:p>
        </p:txBody>
      </p:sp>
      <p:sp>
        <p:nvSpPr>
          <p:cNvPr id="10" name="Date Placeholder 3"/>
          <p:cNvSpPr>
            <a:spLocks noGrp="1"/>
          </p:cNvSpPr>
          <p:nvPr>
            <p:ph type="dt" sz="half" idx="10"/>
          </p:nvPr>
        </p:nvSpPr>
        <p:spPr>
          <a:xfrm>
            <a:off x="7013448" y="6355080"/>
            <a:ext cx="4352544" cy="365125"/>
          </a:xfrm>
        </p:spPr>
        <p:txBody>
          <a:bodyPr rtlCol="0"/>
          <a:lstStyle>
            <a:lvl1pPr>
              <a:defRPr/>
            </a:lvl1pPr>
          </a:lstStyle>
          <a:p>
            <a:pPr rtl="0">
              <a:defRPr/>
            </a:pPr>
            <a:r>
              <a:rPr lang="en-GB" noProof="0">
                <a:solidFill>
                  <a:prstClr val="black"/>
                </a:solidFill>
              </a:rPr>
              <a:t>20XX</a:t>
            </a:r>
            <a:endParaRPr lang="en-GB" noProof="0">
              <a:solidFill>
                <a:prstClr val="black"/>
              </a:solidFill>
            </a:endParaRPr>
          </a:p>
        </p:txBody>
      </p:sp>
      <p:sp>
        <p:nvSpPr>
          <p:cNvPr id="11" name="Slide Number Placeholder 5"/>
          <p:cNvSpPr>
            <a:spLocks noGrp="1"/>
          </p:cNvSpPr>
          <p:nvPr>
            <p:ph type="sldNum" sz="quarter" idx="12"/>
          </p:nvPr>
        </p:nvSpPr>
        <p:spPr>
          <a:xfrm>
            <a:off x="11365992" y="6356350"/>
            <a:ext cx="630936"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defRPr/>
            </a:pPr>
            <a:fld id="{06B786C7-B8F9-4072-AAAA-17258464D730}"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6" name="Picture Placeholder 22"/>
          <p:cNvSpPr>
            <a:spLocks noGrp="1"/>
          </p:cNvSpPr>
          <p:nvPr>
            <p:ph type="pic" sz="quarter" idx="13" hasCustomPrompt="1"/>
          </p:nvPr>
        </p:nvSpPr>
        <p:spPr>
          <a:xfrm>
            <a:off x="-2" y="0"/>
            <a:ext cx="12192000" cy="6858000"/>
          </a:xfrm>
          <a:noFill/>
        </p:spPr>
        <p:txBody>
          <a:bodyPr rtlCol="0"/>
          <a:lstStyle>
            <a:lvl1pPr marL="0" indent="0" algn="ctr">
              <a:buNone/>
              <a:defRPr/>
            </a:lvl1pPr>
          </a:lstStyle>
          <a:p>
            <a:pPr rtl="0"/>
            <a:r>
              <a:rPr lang="en-GB" noProof="0"/>
              <a:t>Click to add photo</a:t>
            </a:r>
            <a:endParaRPr lang="en-GB" noProof="0"/>
          </a:p>
        </p:txBody>
      </p:sp>
      <p:sp>
        <p:nvSpPr>
          <p:cNvPr id="17" name="Title 1"/>
          <p:cNvSpPr>
            <a:spLocks noGrp="1"/>
          </p:cNvSpPr>
          <p:nvPr>
            <p:ph type="ctrTitle"/>
          </p:nvPr>
        </p:nvSpPr>
        <p:spPr>
          <a:xfrm>
            <a:off x="1177636" y="-2"/>
            <a:ext cx="11014364" cy="4100947"/>
          </a:xfrm>
          <a:gradFill>
            <a:gsLst>
              <a:gs pos="77000">
                <a:srgbClr val="000000">
                  <a:alpha val="30000"/>
                </a:srgbClr>
              </a:gs>
              <a:gs pos="38000">
                <a:srgbClr val="000000">
                  <a:alpha val="20000"/>
                </a:srgbClr>
              </a:gs>
              <a:gs pos="0">
                <a:srgbClr val="000000">
                  <a:alpha val="0"/>
                </a:srgbClr>
              </a:gs>
              <a:gs pos="20000">
                <a:srgbClr val="000000">
                  <a:alpha val="0"/>
                </a:srgbClr>
              </a:gs>
              <a:gs pos="100000">
                <a:srgbClr val="000000">
                  <a:alpha val="30000"/>
                </a:srgbClr>
              </a:gs>
            </a:gsLst>
            <a:lin ang="21594000" scaled="0"/>
          </a:gradFill>
        </p:spPr>
        <p:txBody>
          <a:bodyPr rIns="731520" rtlCol="0">
            <a:normAutofit/>
          </a:bodyPr>
          <a:lstStyle>
            <a:lvl1pPr algn="r">
              <a:defRPr sz="6000">
                <a:solidFill>
                  <a:schemeClr val="bg1"/>
                </a:solidFill>
              </a:defRPr>
            </a:lvl1pPr>
          </a:lstStyle>
          <a:p>
            <a:pPr algn="r" rtl="0"/>
            <a:r>
              <a:rPr lang="en-US" noProof="0">
                <a:solidFill>
                  <a:srgbClr val="FFFFFF"/>
                </a:solidFill>
                <a:effectLst>
                  <a:outerShdw blurRad="38100" dist="38100" dir="2700000" algn="tl">
                    <a:srgbClr val="000000">
                      <a:alpha val="43137"/>
                    </a:srgbClr>
                  </a:outerShdw>
                </a:effectLst>
              </a:rPr>
              <a:t>Click to edit Master title style</a:t>
            </a:r>
            <a:endParaRPr lang="en-GB" noProof="0">
              <a:solidFill>
                <a:srgbClr val="FFFFFF"/>
              </a:solidFill>
              <a:effectLst>
                <a:outerShdw blurRad="38100" dist="38100" dir="2700000" algn="tl">
                  <a:srgbClr val="000000">
                    <a:alpha val="43137"/>
                  </a:srgbClr>
                </a:outerShdw>
              </a:effectLst>
            </a:endParaRPr>
          </a:p>
        </p:txBody>
      </p:sp>
      <p:sp>
        <p:nvSpPr>
          <p:cNvPr id="18" name="Subtitle 2"/>
          <p:cNvSpPr>
            <a:spLocks noGrp="1"/>
          </p:cNvSpPr>
          <p:nvPr>
            <p:ph type="subTitle" idx="1"/>
          </p:nvPr>
        </p:nvSpPr>
        <p:spPr>
          <a:xfrm>
            <a:off x="3241963" y="4089656"/>
            <a:ext cx="8950035" cy="2796566"/>
          </a:xfrm>
          <a:gradFill>
            <a:gsLst>
              <a:gs pos="77000">
                <a:srgbClr val="000000">
                  <a:alpha val="30000"/>
                </a:srgbClr>
              </a:gs>
              <a:gs pos="33000">
                <a:srgbClr val="000000">
                  <a:alpha val="20000"/>
                </a:srgbClr>
              </a:gs>
              <a:gs pos="0">
                <a:srgbClr val="000000">
                  <a:alpha val="0"/>
                </a:srgbClr>
              </a:gs>
              <a:gs pos="100000">
                <a:srgbClr val="000000">
                  <a:alpha val="30000"/>
                </a:srgbClr>
              </a:gs>
            </a:gsLst>
            <a:lin ang="21594000" scaled="0"/>
          </a:gradFill>
        </p:spPr>
        <p:txBody>
          <a:bodyPr tIns="640080" rIns="731520" rtlCol="0" anchor="t">
            <a:normAutofit/>
          </a:bodyPr>
          <a:lstStyle>
            <a:lvl1pPr marL="0" indent="0" algn="r">
              <a:buNone/>
              <a:defRPr sz="2800" b="1" baseline="0">
                <a:solidFill>
                  <a:schemeClr val="bg1"/>
                </a:solidFill>
              </a:defRPr>
            </a:lvl1pPr>
          </a:lstStyle>
          <a:p>
            <a:pPr algn="r" rtl="0"/>
            <a:r>
              <a:rPr lang="en-US" noProof="0">
                <a:solidFill>
                  <a:srgbClr val="FFFFFF"/>
                </a:solidFill>
                <a:effectLst>
                  <a:outerShdw blurRad="38100" dist="38100" dir="2700000" algn="tl">
                    <a:srgbClr val="000000">
                      <a:alpha val="43137"/>
                    </a:srgbClr>
                  </a:outerShdw>
                </a:effectLst>
              </a:rPr>
              <a:t>Click to edit Master subtitle style</a:t>
            </a:r>
            <a:endParaRPr lang="en-GB" noProof="0">
              <a:solidFill>
                <a:srgbClr val="FFFFFF"/>
              </a:solidFill>
              <a:effectLst>
                <a:outerShdw blurRad="38100" dist="38100" dir="2700000" algn="tl">
                  <a:srgbClr val="000000">
                    <a:alpha val="43137"/>
                  </a:srgbClr>
                </a:outerShdw>
              </a:effectLst>
            </a:endParaRPr>
          </a:p>
        </p:txBody>
      </p:sp>
      <p:sp>
        <p:nvSpPr>
          <p:cNvPr id="19" name="Footer Placeholder 4"/>
          <p:cNvSpPr>
            <a:spLocks noGrp="1"/>
          </p:cNvSpPr>
          <p:nvPr>
            <p:ph type="ftr" sz="quarter" idx="11"/>
          </p:nvPr>
        </p:nvSpPr>
        <p:spPr>
          <a:xfrm>
            <a:off x="201168" y="6356350"/>
            <a:ext cx="4837176" cy="365125"/>
          </a:xfrm>
        </p:spPr>
        <p:txBody>
          <a:bodyPr rtlCol="0"/>
          <a:lstStyle>
            <a:lvl1pPr>
              <a:defRPr>
                <a:solidFill>
                  <a:schemeClr val="bg1"/>
                </a:solidFill>
              </a:defRPr>
            </a:lvl1pPr>
          </a:lstStyle>
          <a:p>
            <a:pPr rtl="0">
              <a:defRPr/>
            </a:pPr>
            <a:r>
              <a:rPr lang="en-GB" noProof="0">
                <a:effectLst>
                  <a:outerShdw blurRad="38100" dist="38100" dir="2700000" algn="tl">
                    <a:srgbClr val="000000">
                      <a:alpha val="43137"/>
                    </a:srgbClr>
                  </a:outerShdw>
                </a:effectLst>
              </a:rPr>
              <a:t>Presentation title</a:t>
            </a:r>
            <a:endParaRPr lang="en-GB" noProof="0">
              <a:effectLst>
                <a:outerShdw blurRad="38100" dist="38100" dir="2700000" algn="tl">
                  <a:srgbClr val="000000">
                    <a:alpha val="43137"/>
                  </a:srgbClr>
                </a:outerShdw>
              </a:effectLst>
            </a:endParaRPr>
          </a:p>
        </p:txBody>
      </p:sp>
      <p:sp>
        <p:nvSpPr>
          <p:cNvPr id="20" name="Date Placeholder 3"/>
          <p:cNvSpPr>
            <a:spLocks noGrp="1"/>
          </p:cNvSpPr>
          <p:nvPr>
            <p:ph type="dt" sz="half" idx="10"/>
          </p:nvPr>
        </p:nvSpPr>
        <p:spPr>
          <a:xfrm>
            <a:off x="7013448" y="6355080"/>
            <a:ext cx="4352544" cy="365125"/>
          </a:xfrm>
        </p:spPr>
        <p:txBody>
          <a:bodyPr rtlCol="0"/>
          <a:lstStyle>
            <a:lvl1pPr>
              <a:defRPr>
                <a:solidFill>
                  <a:schemeClr val="bg1"/>
                </a:solidFill>
              </a:defRPr>
            </a:lvl1pPr>
          </a:lstStyle>
          <a:p>
            <a:pPr rtl="0">
              <a:defRPr/>
            </a:pPr>
            <a:r>
              <a:rPr lang="en-GB" noProof="0">
                <a:effectLst>
                  <a:outerShdw blurRad="38100" dist="38100" dir="2700000" algn="tl">
                    <a:srgbClr val="000000">
                      <a:alpha val="43137"/>
                    </a:srgbClr>
                  </a:outerShdw>
                </a:effectLst>
              </a:rPr>
              <a:t>20XX</a:t>
            </a:r>
            <a:endParaRPr lang="en-GB" noProof="0">
              <a:effectLst>
                <a:outerShdw blurRad="38100" dist="38100" dir="2700000" algn="tl">
                  <a:srgbClr val="000000">
                    <a:alpha val="43137"/>
                  </a:srgbClr>
                </a:outerShdw>
              </a:effectLst>
            </a:endParaRPr>
          </a:p>
        </p:txBody>
      </p:sp>
      <p:sp>
        <p:nvSpPr>
          <p:cNvPr id="21" name="Slide Number Placeholder 5"/>
          <p:cNvSpPr>
            <a:spLocks noGrp="1"/>
          </p:cNvSpPr>
          <p:nvPr>
            <p:ph type="sldNum" sz="quarter" idx="12"/>
          </p:nvPr>
        </p:nvSpPr>
        <p:spPr>
          <a:xfrm>
            <a:off x="11365992" y="6356350"/>
            <a:ext cx="630936" cy="365125"/>
          </a:xfrm>
        </p:spPr>
        <p:txBody>
          <a:bodyPr rtlCol="0"/>
          <a:lstStyle>
            <a:lvl1pPr>
              <a:defRPr>
                <a:solidFill>
                  <a:schemeClr val="bg1"/>
                </a:solidFill>
              </a:defRPr>
            </a:lvl1pPr>
          </a:lstStyle>
          <a:p>
            <a:pPr rtl="0">
              <a:defRPr/>
            </a:pPr>
            <a:fld id="{CD6D940D-6D44-4DF9-9322-B4B11F7EDCD0}" type="slidenum">
              <a:rPr lang="en-GB" noProof="0" smtClean="0">
                <a:effectLst>
                  <a:outerShdw blurRad="38100" dist="38100" dir="2700000" algn="tl">
                    <a:srgbClr val="000000">
                      <a:alpha val="43137"/>
                    </a:srgbClr>
                  </a:outerShdw>
                </a:effectLst>
              </a:rPr>
            </a:fld>
            <a:endParaRPr lang="en-GB" noProof="0">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Rectangle 1"/>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10" name="Title 9"/>
          <p:cNvSpPr>
            <a:spLocks noGrp="1"/>
          </p:cNvSpPr>
          <p:nvPr>
            <p:ph type="title" hasCustomPrompt="1"/>
          </p:nvPr>
        </p:nvSpPr>
        <p:spPr>
          <a:xfrm>
            <a:off x="1002983" y="194783"/>
            <a:ext cx="9421177" cy="769493"/>
          </a:xfrm>
        </p:spPr>
        <p:txBody>
          <a:bodyPr rtlCol="0" anchor="ctr"/>
          <a:lstStyle>
            <a:lvl1pPr>
              <a:lnSpc>
                <a:spcPct val="100000"/>
              </a:lnSpc>
              <a:defRPr spc="-20" baseline="0">
                <a:solidFill>
                  <a:schemeClr val="bg1"/>
                </a:solidFill>
              </a:defRPr>
            </a:lvl1pPr>
          </a:lstStyle>
          <a:p>
            <a:pPr rtl="0"/>
            <a:r>
              <a:rPr lang="en-GB" noProof="0"/>
              <a:t>Click to add title</a:t>
            </a:r>
            <a:endParaRPr lang="en-GB" noProof="0"/>
          </a:p>
        </p:txBody>
      </p:sp>
      <p:sp>
        <p:nvSpPr>
          <p:cNvPr id="8" name="Content Placeholder 7"/>
          <p:cNvSpPr>
            <a:spLocks noGrp="1"/>
          </p:cNvSpPr>
          <p:nvPr>
            <p:ph sz="quarter" idx="14" hasCustomPrompt="1"/>
          </p:nvPr>
        </p:nvSpPr>
        <p:spPr>
          <a:xfrm>
            <a:off x="931863" y="1695450"/>
            <a:ext cx="10328275" cy="4314825"/>
          </a:xfrm>
        </p:spPr>
        <p:txBody>
          <a:bodyPr rtlCol="0"/>
          <a:lstStyle>
            <a:lvl1pPr>
              <a:defRPr/>
            </a:lvl1pPr>
          </a:lstStyle>
          <a:p>
            <a:pPr lvl="0" rtl="0"/>
            <a:r>
              <a:rPr lang="en-GB" noProof="0"/>
              <a:t>Click to add content</a:t>
            </a:r>
            <a:endParaRPr lang="en-GB" noProof="0"/>
          </a:p>
        </p:txBody>
      </p:sp>
      <p:sp>
        <p:nvSpPr>
          <p:cNvPr id="4" name="Footer Placeholder 4"/>
          <p:cNvSpPr>
            <a:spLocks noGrp="1"/>
          </p:cNvSpPr>
          <p:nvPr>
            <p:ph type="ftr" sz="quarter" idx="11"/>
          </p:nvPr>
        </p:nvSpPr>
        <p:spPr>
          <a:xfrm>
            <a:off x="201168" y="6356350"/>
            <a:ext cx="4837176" cy="365125"/>
          </a:xfrm>
        </p:spPr>
        <p:txBody>
          <a:bodyPr rtlCol="0"/>
          <a:lstStyle>
            <a:lvl1pPr>
              <a:defRPr/>
            </a:lvl1pPr>
          </a:lstStyle>
          <a:p>
            <a:pPr rtl="0"/>
            <a:r>
              <a:rPr lang="en-GB" noProof="0">
                <a:solidFill>
                  <a:prstClr val="black"/>
                </a:solidFill>
              </a:rPr>
              <a:t>Presentation title</a:t>
            </a:r>
            <a:endParaRPr lang="en-GB" noProof="0">
              <a:solidFill>
                <a:prstClr val="black"/>
              </a:solidFill>
            </a:endParaRPr>
          </a:p>
        </p:txBody>
      </p:sp>
      <p:sp>
        <p:nvSpPr>
          <p:cNvPr id="5" name="Date Placeholder 3"/>
          <p:cNvSpPr>
            <a:spLocks noGrp="1"/>
          </p:cNvSpPr>
          <p:nvPr>
            <p:ph type="dt" sz="half" idx="10"/>
          </p:nvPr>
        </p:nvSpPr>
        <p:spPr>
          <a:xfrm>
            <a:off x="7013448" y="6355080"/>
            <a:ext cx="4352544" cy="365125"/>
          </a:xfrm>
        </p:spPr>
        <p:txBody>
          <a:bodyPr rtlCol="0"/>
          <a:lstStyle>
            <a:lvl1pPr>
              <a:defRPr/>
            </a:lvl1pPr>
          </a:lstStyle>
          <a:p>
            <a:pPr rtl="0">
              <a:defRPr/>
            </a:pPr>
            <a:r>
              <a:rPr lang="en-GB" noProof="0">
                <a:solidFill>
                  <a:prstClr val="black"/>
                </a:solidFill>
              </a:rPr>
              <a:t>20XX</a:t>
            </a:r>
            <a:endParaRPr lang="en-GB" noProof="0">
              <a:solidFill>
                <a:prstClr val="black"/>
              </a:solidFill>
            </a:endParaRPr>
          </a:p>
        </p:txBody>
      </p:sp>
      <p:sp>
        <p:nvSpPr>
          <p:cNvPr id="6" name="Slide Number Placeholder 5"/>
          <p:cNvSpPr>
            <a:spLocks noGrp="1"/>
          </p:cNvSpPr>
          <p:nvPr>
            <p:ph type="sldNum" sz="quarter" idx="12"/>
          </p:nvPr>
        </p:nvSpPr>
        <p:spPr>
          <a:xfrm>
            <a:off x="11365992" y="6356350"/>
            <a:ext cx="630936"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defRPr/>
            </a:pPr>
            <a:fld id="{06B786C7-B8F9-4072-AAAA-17258464D730}"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Rectangle 1"/>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10" name="Title 9"/>
          <p:cNvSpPr>
            <a:spLocks noGrp="1"/>
          </p:cNvSpPr>
          <p:nvPr>
            <p:ph type="title" hasCustomPrompt="1"/>
          </p:nvPr>
        </p:nvSpPr>
        <p:spPr>
          <a:xfrm>
            <a:off x="1000759" y="194783"/>
            <a:ext cx="10022841" cy="760892"/>
          </a:xfrm>
        </p:spPr>
        <p:txBody>
          <a:bodyPr rtlCol="0" anchor="ctr"/>
          <a:lstStyle>
            <a:lvl1pPr>
              <a:lnSpc>
                <a:spcPct val="100000"/>
              </a:lnSpc>
              <a:defRPr spc="-20" baseline="0">
                <a:solidFill>
                  <a:schemeClr val="bg1"/>
                </a:solidFill>
              </a:defRPr>
            </a:lvl1pPr>
          </a:lstStyle>
          <a:p>
            <a:pPr rtl="0"/>
            <a:r>
              <a:rPr lang="en-GB" noProof="0"/>
              <a:t>Click to add title</a:t>
            </a:r>
            <a:endParaRPr lang="en-GB" noProof="0"/>
          </a:p>
        </p:txBody>
      </p:sp>
      <p:sp>
        <p:nvSpPr>
          <p:cNvPr id="9" name="Content Placeholder 8"/>
          <p:cNvSpPr>
            <a:spLocks noGrp="1"/>
          </p:cNvSpPr>
          <p:nvPr>
            <p:ph sz="quarter" idx="14" hasCustomPrompt="1"/>
          </p:nvPr>
        </p:nvSpPr>
        <p:spPr>
          <a:xfrm>
            <a:off x="646112" y="1560513"/>
            <a:ext cx="10899776" cy="4341812"/>
          </a:xfrm>
        </p:spPr>
        <p:txBody>
          <a:bodyPr rtlCol="0"/>
          <a:lstStyle>
            <a:lvl1pPr>
              <a:defRPr/>
            </a:lvl1pPr>
          </a:lstStyle>
          <a:p>
            <a:pPr lvl="0" rtl="0"/>
            <a:r>
              <a:rPr lang="en-GB" noProof="0"/>
              <a:t>Click to add content</a:t>
            </a:r>
            <a:endParaRPr lang="en-GB" noProof="0"/>
          </a:p>
        </p:txBody>
      </p:sp>
      <p:sp>
        <p:nvSpPr>
          <p:cNvPr id="4" name="Footer Placeholder 4"/>
          <p:cNvSpPr>
            <a:spLocks noGrp="1"/>
          </p:cNvSpPr>
          <p:nvPr>
            <p:ph type="ftr" sz="quarter" idx="11"/>
          </p:nvPr>
        </p:nvSpPr>
        <p:spPr>
          <a:xfrm>
            <a:off x="201168" y="6356350"/>
            <a:ext cx="4837176" cy="365125"/>
          </a:xfrm>
        </p:spPr>
        <p:txBody>
          <a:bodyPr rtlCol="0"/>
          <a:lstStyle>
            <a:lvl1pPr>
              <a:defRPr/>
            </a:lvl1pPr>
          </a:lstStyle>
          <a:p>
            <a:pPr rtl="0"/>
            <a:r>
              <a:rPr lang="en-GB" noProof="0">
                <a:solidFill>
                  <a:prstClr val="black"/>
                </a:solidFill>
              </a:rPr>
              <a:t>Presentation title</a:t>
            </a:r>
            <a:endParaRPr lang="en-GB" noProof="0">
              <a:solidFill>
                <a:prstClr val="black"/>
              </a:solidFill>
            </a:endParaRPr>
          </a:p>
        </p:txBody>
      </p:sp>
      <p:sp>
        <p:nvSpPr>
          <p:cNvPr id="5" name="Date Placeholder 3"/>
          <p:cNvSpPr>
            <a:spLocks noGrp="1"/>
          </p:cNvSpPr>
          <p:nvPr>
            <p:ph type="dt" sz="half" idx="10"/>
          </p:nvPr>
        </p:nvSpPr>
        <p:spPr>
          <a:xfrm>
            <a:off x="7013448" y="6355080"/>
            <a:ext cx="4352544" cy="365125"/>
          </a:xfrm>
        </p:spPr>
        <p:txBody>
          <a:bodyPr rtlCol="0"/>
          <a:lstStyle>
            <a:lvl1pPr>
              <a:defRPr/>
            </a:lvl1pPr>
          </a:lstStyle>
          <a:p>
            <a:pPr rtl="0">
              <a:defRPr/>
            </a:pPr>
            <a:r>
              <a:rPr lang="en-GB" noProof="0">
                <a:solidFill>
                  <a:prstClr val="black"/>
                </a:solidFill>
              </a:rPr>
              <a:t>20XX</a:t>
            </a:r>
            <a:endParaRPr lang="en-GB" noProof="0">
              <a:solidFill>
                <a:prstClr val="black"/>
              </a:solidFill>
            </a:endParaRPr>
          </a:p>
        </p:txBody>
      </p:sp>
      <p:sp>
        <p:nvSpPr>
          <p:cNvPr id="6" name="Slide Number Placeholder 5"/>
          <p:cNvSpPr>
            <a:spLocks noGrp="1"/>
          </p:cNvSpPr>
          <p:nvPr>
            <p:ph type="sldNum" sz="quarter" idx="12"/>
          </p:nvPr>
        </p:nvSpPr>
        <p:spPr>
          <a:xfrm>
            <a:off x="11365992" y="6356350"/>
            <a:ext cx="630936"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defRPr/>
            </a:pPr>
            <a:fld id="{06B786C7-B8F9-4072-AAAA-17258464D730}"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9" name="Rectangle 8"/>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p:cNvSpPr>
            <a:spLocks noGrp="1"/>
          </p:cNvSpPr>
          <p:nvPr>
            <p:ph type="title" hasCustomPrompt="1"/>
          </p:nvPr>
        </p:nvSpPr>
        <p:spPr>
          <a:xfrm>
            <a:off x="1249680" y="190500"/>
            <a:ext cx="10036292" cy="773776"/>
          </a:xfrm>
        </p:spPr>
        <p:txBody>
          <a:bodyPr rtlCol="0" anchor="ctr"/>
          <a:lstStyle>
            <a:lvl1pPr algn="r">
              <a:lnSpc>
                <a:spcPct val="100000"/>
              </a:lnSpc>
              <a:defRPr spc="-20" baseline="0">
                <a:solidFill>
                  <a:schemeClr val="bg1"/>
                </a:solidFill>
              </a:defRPr>
            </a:lvl1pPr>
          </a:lstStyle>
          <a:p>
            <a:pPr rtl="0"/>
            <a:r>
              <a:rPr lang="en-GB" noProof="0"/>
              <a:t>Click to add title</a:t>
            </a:r>
            <a:endParaRPr lang="en-GB" noProof="0"/>
          </a:p>
        </p:txBody>
      </p:sp>
      <p:sp>
        <p:nvSpPr>
          <p:cNvPr id="12" name="Text Placeholder 30"/>
          <p:cNvSpPr>
            <a:spLocks noGrp="1"/>
          </p:cNvSpPr>
          <p:nvPr>
            <p:ph type="body" sz="quarter" idx="14" hasCustomPrompt="1"/>
          </p:nvPr>
        </p:nvSpPr>
        <p:spPr>
          <a:xfrm>
            <a:off x="1209243" y="1764139"/>
            <a:ext cx="4756714" cy="597604"/>
          </a:xfrm>
          <a:prstGeom prst="rect">
            <a:avLst/>
          </a:prstGeom>
        </p:spPr>
        <p:txBody>
          <a:bodyPr rtlCol="0"/>
          <a:lstStyle>
            <a:lvl1pPr marL="0" indent="0">
              <a:buNone/>
              <a:defRPr sz="2400" b="1">
                <a:solidFill>
                  <a:schemeClr val="accent2"/>
                </a:solidFill>
              </a:defRPr>
            </a:lvl1pPr>
          </a:lstStyle>
          <a:p>
            <a:pPr lvl="0" rtl="0"/>
            <a:r>
              <a:rPr lang="en-GB" noProof="0"/>
              <a:t>Click to add subtitle</a:t>
            </a:r>
            <a:endParaRPr lang="en-GB" noProof="0"/>
          </a:p>
        </p:txBody>
      </p:sp>
      <p:sp>
        <p:nvSpPr>
          <p:cNvPr id="17" name="Text Placeholder 15"/>
          <p:cNvSpPr>
            <a:spLocks noGrp="1"/>
          </p:cNvSpPr>
          <p:nvPr>
            <p:ph type="body" sz="quarter" idx="17" hasCustomPrompt="1"/>
          </p:nvPr>
        </p:nvSpPr>
        <p:spPr>
          <a:xfrm>
            <a:off x="1209243" y="2374900"/>
            <a:ext cx="4756714" cy="3365500"/>
          </a:xfrm>
        </p:spPr>
        <p:txBody>
          <a:bodyPr rtlCol="0">
            <a:normAutofit/>
          </a:bodyPr>
          <a:lstStyle>
            <a:lvl1pPr>
              <a:defRPr sz="2000"/>
            </a:lvl1pPr>
          </a:lstStyle>
          <a:p>
            <a:pPr lvl="0" rtl="0"/>
            <a:r>
              <a:rPr lang="en-GB" noProof="0"/>
              <a:t>Click to add text</a:t>
            </a:r>
            <a:endParaRPr lang="en-GB" noProof="0"/>
          </a:p>
        </p:txBody>
      </p:sp>
      <p:sp>
        <p:nvSpPr>
          <p:cNvPr id="14" name="Text Placeholder 30"/>
          <p:cNvSpPr>
            <a:spLocks noGrp="1"/>
          </p:cNvSpPr>
          <p:nvPr>
            <p:ph type="body" sz="quarter" idx="16" hasCustomPrompt="1"/>
          </p:nvPr>
        </p:nvSpPr>
        <p:spPr>
          <a:xfrm>
            <a:off x="6257467" y="1764031"/>
            <a:ext cx="4756714" cy="597604"/>
          </a:xfrm>
          <a:prstGeom prst="rect">
            <a:avLst/>
          </a:prstGeom>
        </p:spPr>
        <p:txBody>
          <a:bodyPr rtlCol="0"/>
          <a:lstStyle>
            <a:lvl1pPr marL="0" indent="0">
              <a:buNone/>
              <a:defRPr sz="2400" b="1">
                <a:solidFill>
                  <a:schemeClr val="accent2"/>
                </a:solidFill>
              </a:defRPr>
            </a:lvl1pPr>
          </a:lstStyle>
          <a:p>
            <a:pPr lvl="0" rtl="0"/>
            <a:r>
              <a:rPr lang="en-GB" noProof="0"/>
              <a:t>Click to add subtitle</a:t>
            </a:r>
            <a:endParaRPr lang="en-GB" noProof="0"/>
          </a:p>
        </p:txBody>
      </p:sp>
      <p:sp>
        <p:nvSpPr>
          <p:cNvPr id="18" name="Text Placeholder 15"/>
          <p:cNvSpPr>
            <a:spLocks noGrp="1"/>
          </p:cNvSpPr>
          <p:nvPr>
            <p:ph type="body" sz="quarter" idx="18" hasCustomPrompt="1"/>
          </p:nvPr>
        </p:nvSpPr>
        <p:spPr>
          <a:xfrm>
            <a:off x="6257467" y="2374900"/>
            <a:ext cx="4756714" cy="3365500"/>
          </a:xfrm>
        </p:spPr>
        <p:txBody>
          <a:bodyPr rtlCol="0">
            <a:normAutofit/>
          </a:bodyPr>
          <a:lstStyle>
            <a:lvl1pPr>
              <a:defRPr sz="2000"/>
            </a:lvl1pPr>
          </a:lstStyle>
          <a:p>
            <a:pPr lvl="0" rtl="0"/>
            <a:r>
              <a:rPr lang="en-GB" noProof="0"/>
              <a:t>Click to add text</a:t>
            </a:r>
            <a:endParaRPr lang="en-GB" noProof="0"/>
          </a:p>
        </p:txBody>
      </p:sp>
      <p:sp>
        <p:nvSpPr>
          <p:cNvPr id="6" name="Footer Placeholder 4"/>
          <p:cNvSpPr>
            <a:spLocks noGrp="1"/>
          </p:cNvSpPr>
          <p:nvPr>
            <p:ph type="ftr" sz="quarter" idx="11"/>
          </p:nvPr>
        </p:nvSpPr>
        <p:spPr>
          <a:xfrm>
            <a:off x="201168" y="6356350"/>
            <a:ext cx="4837176" cy="365125"/>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defRPr/>
            </a:pPr>
            <a:r>
              <a:rPr lang="en-GB" sz="1050" b="0" i="0" u="none" strike="noStrike" kern="1200" cap="none" spc="0" normalizeH="0" noProof="0">
                <a:ln>
                  <a:noFill/>
                </a:ln>
                <a:solidFill>
                  <a:prstClr val="black"/>
                </a:solidFill>
                <a:effectLst/>
                <a:uLnTx/>
                <a:uFillTx/>
                <a:latin typeface="Avenir Next LT Pro"/>
                <a:ea typeface="+mn-ea"/>
                <a:cs typeface="+mn-cs"/>
              </a:rPr>
              <a:t>Presentation title</a:t>
            </a:r>
            <a:endParaRPr lang="en-GB" sz="1050" b="0" i="0" u="none" strike="noStrike" kern="1200" cap="none" spc="0" normalizeH="0" noProof="0">
              <a:ln>
                <a:noFill/>
              </a:ln>
              <a:solidFill>
                <a:prstClr val="black"/>
              </a:solidFill>
              <a:effectLst/>
              <a:uLnTx/>
              <a:uFillTx/>
              <a:latin typeface="Avenir Next LT Pro"/>
              <a:ea typeface="+mn-ea"/>
              <a:cs typeface="+mn-cs"/>
            </a:endParaRPr>
          </a:p>
        </p:txBody>
      </p:sp>
      <p:sp>
        <p:nvSpPr>
          <p:cNvPr id="7" name="Date Placeholder 3"/>
          <p:cNvSpPr>
            <a:spLocks noGrp="1"/>
          </p:cNvSpPr>
          <p:nvPr>
            <p:ph type="dt" sz="half" idx="10"/>
          </p:nvPr>
        </p:nvSpPr>
        <p:spPr>
          <a:xfrm>
            <a:off x="7013448" y="6355080"/>
            <a:ext cx="4352544" cy="365125"/>
          </a:xfrm>
        </p:spPr>
        <p:txBody>
          <a:bodyPr rtlCol="0"/>
          <a:lstStyle>
            <a:lvl1pPr>
              <a:defRPr/>
            </a:lvl1pPr>
          </a:lstStyle>
          <a:p>
            <a:pPr rtl="0">
              <a:defRPr/>
            </a:pPr>
            <a:r>
              <a:rPr lang="en-GB" noProof="0">
                <a:solidFill>
                  <a:prstClr val="black"/>
                </a:solidFill>
              </a:rPr>
              <a:t>20XX</a:t>
            </a:r>
            <a:endParaRPr lang="en-GB" noProof="0">
              <a:solidFill>
                <a:prstClr val="black"/>
              </a:solidFill>
            </a:endParaRPr>
          </a:p>
        </p:txBody>
      </p:sp>
      <p:sp>
        <p:nvSpPr>
          <p:cNvPr id="8" name="Slide Number Placeholder 5"/>
          <p:cNvSpPr>
            <a:spLocks noGrp="1"/>
          </p:cNvSpPr>
          <p:nvPr>
            <p:ph type="sldNum" sz="quarter" idx="12"/>
          </p:nvPr>
        </p:nvSpPr>
        <p:spPr>
          <a:xfrm>
            <a:off x="11365992" y="6356350"/>
            <a:ext cx="630936"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defRPr/>
            </a:pPr>
            <a:fld id="{06B786C7-B8F9-4072-AAAA-17258464D730}"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5" name="Rectangle 4"/>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7" name="Title 6"/>
          <p:cNvSpPr>
            <a:spLocks noGrp="1"/>
          </p:cNvSpPr>
          <p:nvPr>
            <p:ph type="title" hasCustomPrompt="1"/>
          </p:nvPr>
        </p:nvSpPr>
        <p:spPr>
          <a:xfrm>
            <a:off x="1879600" y="183988"/>
            <a:ext cx="9406372" cy="803380"/>
          </a:xfrm>
        </p:spPr>
        <p:txBody>
          <a:bodyPr rtlCol="0" anchor="ctr"/>
          <a:lstStyle>
            <a:lvl1pPr algn="r">
              <a:lnSpc>
                <a:spcPct val="100000"/>
              </a:lnSpc>
              <a:defRPr spc="-20" baseline="0">
                <a:solidFill>
                  <a:schemeClr val="bg1"/>
                </a:solidFill>
              </a:defRPr>
            </a:lvl1pPr>
          </a:lstStyle>
          <a:p>
            <a:pPr rtl="0"/>
            <a:r>
              <a:rPr lang="en-GB" noProof="0"/>
              <a:t>Click to add title</a:t>
            </a:r>
            <a:endParaRPr lang="en-GB" noProof="0"/>
          </a:p>
        </p:txBody>
      </p:sp>
      <p:sp>
        <p:nvSpPr>
          <p:cNvPr id="8" name="Text Placeholder 30"/>
          <p:cNvSpPr>
            <a:spLocks noGrp="1"/>
          </p:cNvSpPr>
          <p:nvPr>
            <p:ph type="body" sz="quarter" idx="14" hasCustomPrompt="1"/>
          </p:nvPr>
        </p:nvSpPr>
        <p:spPr>
          <a:xfrm>
            <a:off x="851300" y="1764193"/>
            <a:ext cx="3327366" cy="597604"/>
          </a:xfrm>
          <a:prstGeom prst="rect">
            <a:avLst/>
          </a:prstGeom>
        </p:spPr>
        <p:txBody>
          <a:bodyPr rtlCol="0"/>
          <a:lstStyle>
            <a:lvl1pPr marL="0" indent="0">
              <a:buNone/>
              <a:defRPr sz="2400" b="1">
                <a:solidFill>
                  <a:schemeClr val="accent2"/>
                </a:solidFill>
              </a:defRPr>
            </a:lvl1pPr>
          </a:lstStyle>
          <a:p>
            <a:pPr lvl="0" rtl="0"/>
            <a:r>
              <a:rPr lang="en-GB" noProof="0"/>
              <a:t>Click to add subtitle</a:t>
            </a:r>
            <a:endParaRPr lang="en-GB" noProof="0"/>
          </a:p>
        </p:txBody>
      </p:sp>
      <p:sp>
        <p:nvSpPr>
          <p:cNvPr id="14" name="Text Placeholder 15"/>
          <p:cNvSpPr>
            <a:spLocks noGrp="1"/>
          </p:cNvSpPr>
          <p:nvPr>
            <p:ph type="body" sz="quarter" idx="19" hasCustomPrompt="1"/>
          </p:nvPr>
        </p:nvSpPr>
        <p:spPr>
          <a:xfrm>
            <a:off x="851193" y="2374899"/>
            <a:ext cx="3327366" cy="3485573"/>
          </a:xfrm>
        </p:spPr>
        <p:txBody>
          <a:bodyPr rtlCol="0">
            <a:normAutofit/>
          </a:bodyPr>
          <a:lstStyle>
            <a:lvl1pPr>
              <a:defRPr sz="2000"/>
            </a:lvl1pPr>
          </a:lstStyle>
          <a:p>
            <a:pPr lvl="0" rtl="0"/>
            <a:r>
              <a:rPr lang="en-GB" noProof="0"/>
              <a:t>Click to add text</a:t>
            </a:r>
            <a:endParaRPr lang="en-GB" noProof="0"/>
          </a:p>
        </p:txBody>
      </p:sp>
      <p:sp>
        <p:nvSpPr>
          <p:cNvPr id="12" name="Text Placeholder 30"/>
          <p:cNvSpPr>
            <a:spLocks noGrp="1"/>
          </p:cNvSpPr>
          <p:nvPr>
            <p:ph type="body" sz="quarter" idx="18" hasCustomPrompt="1"/>
          </p:nvPr>
        </p:nvSpPr>
        <p:spPr>
          <a:xfrm>
            <a:off x="4432317" y="1764193"/>
            <a:ext cx="3327366" cy="597604"/>
          </a:xfrm>
          <a:prstGeom prst="rect">
            <a:avLst/>
          </a:prstGeom>
        </p:spPr>
        <p:txBody>
          <a:bodyPr rtlCol="0"/>
          <a:lstStyle>
            <a:lvl1pPr marL="0" indent="0">
              <a:buNone/>
              <a:defRPr sz="2400" b="1">
                <a:solidFill>
                  <a:schemeClr val="accent2"/>
                </a:solidFill>
              </a:defRPr>
            </a:lvl1pPr>
          </a:lstStyle>
          <a:p>
            <a:pPr lvl="0" rtl="0"/>
            <a:r>
              <a:rPr lang="en-GB" noProof="0"/>
              <a:t>Click to add subtitle</a:t>
            </a:r>
            <a:endParaRPr lang="en-GB" noProof="0"/>
          </a:p>
        </p:txBody>
      </p:sp>
      <p:sp>
        <p:nvSpPr>
          <p:cNvPr id="15" name="Text Placeholder 15"/>
          <p:cNvSpPr>
            <a:spLocks noGrp="1"/>
          </p:cNvSpPr>
          <p:nvPr>
            <p:ph type="body" sz="quarter" idx="20" hasCustomPrompt="1"/>
          </p:nvPr>
        </p:nvSpPr>
        <p:spPr>
          <a:xfrm>
            <a:off x="4432317" y="2374899"/>
            <a:ext cx="3327366" cy="3485573"/>
          </a:xfrm>
        </p:spPr>
        <p:txBody>
          <a:bodyPr rtlCol="0">
            <a:normAutofit/>
          </a:bodyPr>
          <a:lstStyle>
            <a:lvl1pPr>
              <a:defRPr sz="2000"/>
            </a:lvl1pPr>
          </a:lstStyle>
          <a:p>
            <a:pPr lvl="0" rtl="0"/>
            <a:r>
              <a:rPr lang="en-GB" noProof="0"/>
              <a:t>Click to add text</a:t>
            </a:r>
            <a:endParaRPr lang="en-GB" noProof="0"/>
          </a:p>
        </p:txBody>
      </p:sp>
      <p:sp>
        <p:nvSpPr>
          <p:cNvPr id="10" name="Text Placeholder 30"/>
          <p:cNvSpPr>
            <a:spLocks noGrp="1"/>
          </p:cNvSpPr>
          <p:nvPr>
            <p:ph type="body" sz="quarter" idx="16" hasCustomPrompt="1"/>
          </p:nvPr>
        </p:nvSpPr>
        <p:spPr>
          <a:xfrm>
            <a:off x="8025393" y="1764193"/>
            <a:ext cx="3327366" cy="597604"/>
          </a:xfrm>
          <a:prstGeom prst="rect">
            <a:avLst/>
          </a:prstGeom>
        </p:spPr>
        <p:txBody>
          <a:bodyPr rtlCol="0"/>
          <a:lstStyle>
            <a:lvl1pPr marL="0" indent="0">
              <a:buNone/>
              <a:defRPr sz="2400" b="1">
                <a:solidFill>
                  <a:schemeClr val="accent2"/>
                </a:solidFill>
              </a:defRPr>
            </a:lvl1pPr>
          </a:lstStyle>
          <a:p>
            <a:pPr lvl="0" rtl="0"/>
            <a:r>
              <a:rPr lang="en-GB" noProof="0"/>
              <a:t>Click to add subtitle</a:t>
            </a:r>
            <a:endParaRPr lang="en-GB" noProof="0"/>
          </a:p>
        </p:txBody>
      </p:sp>
      <p:sp>
        <p:nvSpPr>
          <p:cNvPr id="16" name="Text Placeholder 15"/>
          <p:cNvSpPr>
            <a:spLocks noGrp="1"/>
          </p:cNvSpPr>
          <p:nvPr>
            <p:ph type="body" sz="quarter" idx="21" hasCustomPrompt="1"/>
          </p:nvPr>
        </p:nvSpPr>
        <p:spPr>
          <a:xfrm>
            <a:off x="8025393" y="2374899"/>
            <a:ext cx="3327366" cy="3485573"/>
          </a:xfrm>
        </p:spPr>
        <p:txBody>
          <a:bodyPr rtlCol="0">
            <a:normAutofit/>
          </a:bodyPr>
          <a:lstStyle>
            <a:lvl1pPr>
              <a:defRPr sz="2000"/>
            </a:lvl1pPr>
          </a:lstStyle>
          <a:p>
            <a:pPr lvl="0" rtl="0"/>
            <a:r>
              <a:rPr lang="en-GB" noProof="0"/>
              <a:t>Click to add text</a:t>
            </a:r>
            <a:endParaRPr lang="en-GB" noProof="0"/>
          </a:p>
        </p:txBody>
      </p:sp>
      <p:sp>
        <p:nvSpPr>
          <p:cNvPr id="2" name="Footer Placeholder 4"/>
          <p:cNvSpPr>
            <a:spLocks noGrp="1"/>
          </p:cNvSpPr>
          <p:nvPr>
            <p:ph type="ftr" sz="quarter" idx="11"/>
          </p:nvPr>
        </p:nvSpPr>
        <p:spPr>
          <a:xfrm>
            <a:off x="201168" y="6356350"/>
            <a:ext cx="4837176" cy="365125"/>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defRPr/>
            </a:pPr>
            <a:r>
              <a:rPr lang="en-GB" sz="1050" b="0" i="0" u="none" strike="noStrike" kern="1200" cap="none" spc="0" normalizeH="0" noProof="0">
                <a:ln>
                  <a:noFill/>
                </a:ln>
                <a:solidFill>
                  <a:prstClr val="black"/>
                </a:solidFill>
                <a:effectLst/>
                <a:uLnTx/>
                <a:uFillTx/>
                <a:latin typeface="Avenir Next LT Pro"/>
                <a:ea typeface="+mn-ea"/>
                <a:cs typeface="+mn-cs"/>
              </a:rPr>
              <a:t>Presentation title</a:t>
            </a:r>
            <a:endParaRPr lang="en-GB" sz="1050" b="0" i="0" u="none" strike="noStrike" kern="1200" cap="none" spc="0" normalizeH="0" noProof="0">
              <a:ln>
                <a:noFill/>
              </a:ln>
              <a:solidFill>
                <a:prstClr val="black"/>
              </a:solidFill>
              <a:effectLst/>
              <a:uLnTx/>
              <a:uFillTx/>
              <a:latin typeface="Avenir Next LT Pro"/>
              <a:ea typeface="+mn-ea"/>
              <a:cs typeface="+mn-cs"/>
            </a:endParaRPr>
          </a:p>
        </p:txBody>
      </p:sp>
      <p:sp>
        <p:nvSpPr>
          <p:cNvPr id="3" name="Date Placeholder 3"/>
          <p:cNvSpPr>
            <a:spLocks noGrp="1"/>
          </p:cNvSpPr>
          <p:nvPr>
            <p:ph type="dt" sz="half" idx="10"/>
          </p:nvPr>
        </p:nvSpPr>
        <p:spPr>
          <a:xfrm>
            <a:off x="7013448" y="6355080"/>
            <a:ext cx="4352544" cy="365125"/>
          </a:xfrm>
        </p:spPr>
        <p:txBody>
          <a:bodyPr rtlCol="0"/>
          <a:lstStyle>
            <a:lvl1pPr>
              <a:defRPr/>
            </a:lvl1pPr>
          </a:lstStyle>
          <a:p>
            <a:pPr rtl="0">
              <a:defRPr/>
            </a:pPr>
            <a:r>
              <a:rPr lang="en-GB" noProof="0">
                <a:solidFill>
                  <a:prstClr val="black"/>
                </a:solidFill>
              </a:rPr>
              <a:t>20XX</a:t>
            </a:r>
            <a:endParaRPr lang="en-GB" noProof="0">
              <a:solidFill>
                <a:prstClr val="black"/>
              </a:solidFill>
            </a:endParaRPr>
          </a:p>
        </p:txBody>
      </p:sp>
      <p:sp>
        <p:nvSpPr>
          <p:cNvPr id="4" name="Slide Number Placeholder 5"/>
          <p:cNvSpPr>
            <a:spLocks noGrp="1"/>
          </p:cNvSpPr>
          <p:nvPr>
            <p:ph type="sldNum" sz="quarter" idx="12"/>
          </p:nvPr>
        </p:nvSpPr>
        <p:spPr>
          <a:xfrm>
            <a:off x="11365992" y="6356350"/>
            <a:ext cx="630936"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defRPr/>
            </a:pPr>
            <a:fld id="{06B786C7-B8F9-4072-AAAA-17258464D730}"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9224" y="365124"/>
            <a:ext cx="10552176" cy="1499616"/>
          </a:xfrm>
          <a:prstGeom prst="rect">
            <a:avLst/>
          </a:prstGeom>
        </p:spPr>
        <p:txBody>
          <a:bodyPr vert="horz" lIns="91440" tIns="45720" rIns="91440" bIns="45720" rtlCol="0" anchor="b">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649224" y="1984248"/>
            <a:ext cx="10552176" cy="4197096"/>
          </a:xfrm>
          <a:prstGeom prst="rect">
            <a:avLst/>
          </a:prstGeom>
        </p:spPr>
        <p:txBody>
          <a:bodyPr vert="horz" lIns="91440" tIns="45720" rIns="91440" bIns="45720" rtlCol="0">
            <a:normAutofit/>
          </a:bodyPr>
          <a:lstStyle/>
          <a:p>
            <a:pPr lvl="0" rtl="0"/>
            <a:r>
              <a:rPr lang="en-US" noProof="0"/>
              <a:t>Click to edit Master text styles</a:t>
            </a:r>
            <a:endParaRPr lang="en-US" noProof="0"/>
          </a:p>
          <a:p>
            <a:pPr lvl="1" rtl="0"/>
            <a:r>
              <a:rPr lang="en-US" noProof="0"/>
              <a:t>Second level</a:t>
            </a:r>
            <a:endParaRPr lang="en-US" noProof="0"/>
          </a:p>
          <a:p>
            <a:pPr lvl="2" rtl="0"/>
            <a:r>
              <a:rPr lang="en-US" noProof="0"/>
              <a:t>Third level</a:t>
            </a:r>
            <a:endParaRPr lang="en-US" noProof="0"/>
          </a:p>
          <a:p>
            <a:pPr lvl="3" rtl="0"/>
            <a:r>
              <a:rPr lang="en-US" noProof="0"/>
              <a:t>Fourth level</a:t>
            </a:r>
            <a:endParaRPr lang="en-US" noProof="0"/>
          </a:p>
          <a:p>
            <a:pPr lvl="4" rtl="0"/>
            <a:r>
              <a:rPr lang="en-US" noProof="0"/>
              <a:t>Fifth level</a:t>
            </a:r>
            <a:endParaRPr lang="en-GB" noProof="0"/>
          </a:p>
        </p:txBody>
      </p:sp>
      <p:sp>
        <p:nvSpPr>
          <p:cNvPr id="4" name="Date Placeholder 3"/>
          <p:cNvSpPr>
            <a:spLocks noGrp="1"/>
          </p:cNvSpPr>
          <p:nvPr>
            <p:ph type="dt" sz="half" idx="2"/>
          </p:nvPr>
        </p:nvSpPr>
        <p:spPr>
          <a:xfrm>
            <a:off x="7013448" y="6355080"/>
            <a:ext cx="4352544" cy="365125"/>
          </a:xfrm>
          <a:prstGeom prst="rect">
            <a:avLst/>
          </a:prstGeom>
        </p:spPr>
        <p:txBody>
          <a:bodyPr vert="horz" lIns="91440" tIns="45720" rIns="91440" bIns="45720" rtlCol="0" anchor="ctr"/>
          <a:lstStyle>
            <a:lvl1pPr algn="r">
              <a:defRPr sz="1050">
                <a:solidFill>
                  <a:schemeClr val="tx1"/>
                </a:solidFill>
              </a:defRPr>
            </a:lvl1pPr>
          </a:lstStyle>
          <a:p>
            <a:pPr rtl="0"/>
            <a:r>
              <a:rPr lang="en-GB" noProof="0"/>
              <a:t>20XX</a:t>
            </a:r>
            <a:endParaRPr lang="en-GB" noProof="0"/>
          </a:p>
        </p:txBody>
      </p:sp>
      <p:sp>
        <p:nvSpPr>
          <p:cNvPr id="5" name="Footer Placeholder 4"/>
          <p:cNvSpPr>
            <a:spLocks noGrp="1"/>
          </p:cNvSpPr>
          <p:nvPr>
            <p:ph type="ftr" sz="quarter" idx="3"/>
          </p:nvPr>
        </p:nvSpPr>
        <p:spPr>
          <a:xfrm>
            <a:off x="201168" y="6356350"/>
            <a:ext cx="4837176" cy="365125"/>
          </a:xfrm>
          <a:prstGeom prst="rect">
            <a:avLst/>
          </a:prstGeom>
        </p:spPr>
        <p:txBody>
          <a:bodyPr vert="horz" lIns="91440" tIns="45720" rIns="91440" bIns="45720" rtlCol="0" anchor="ctr"/>
          <a:lstStyle>
            <a:lvl1pPr algn="l">
              <a:defRPr sz="1050">
                <a:solidFill>
                  <a:schemeClr val="tx1"/>
                </a:solidFill>
              </a:defRPr>
            </a:lvl1pPr>
          </a:lstStyle>
          <a:p>
            <a:pPr rtl="0"/>
            <a:r>
              <a:rPr lang="en-GB" sz="1050" noProof="0"/>
              <a:t>Presentation title</a:t>
            </a:r>
            <a:endParaRPr lang="en-GB" sz="1050" noProof="0"/>
          </a:p>
        </p:txBody>
      </p:sp>
      <p:sp>
        <p:nvSpPr>
          <p:cNvPr id="6" name="Slide Number Placeholder 5"/>
          <p:cNvSpPr>
            <a:spLocks noGrp="1"/>
          </p:cNvSpPr>
          <p:nvPr>
            <p:ph type="sldNum" sz="quarter" idx="4"/>
          </p:nvPr>
        </p:nvSpPr>
        <p:spPr>
          <a:xfrm>
            <a:off x="11365992" y="6356350"/>
            <a:ext cx="630936" cy="365125"/>
          </a:xfrm>
          <a:prstGeom prst="rect">
            <a:avLst/>
          </a:prstGeom>
        </p:spPr>
        <p:txBody>
          <a:bodyPr vert="horz" lIns="91440" tIns="45720" rIns="91440" bIns="45720" rtlCol="0" anchor="ctr"/>
          <a:lstStyle>
            <a:lvl1pPr algn="r">
              <a:defRPr sz="1050">
                <a:solidFill>
                  <a:schemeClr val="tx1"/>
                </a:solidFill>
              </a:defRPr>
            </a:lvl1pPr>
          </a:lstStyle>
          <a:p>
            <a:pPr rtl="0"/>
            <a:fld id="{0D4885A8-DDA8-4FCF-AB25-DA8F78EC7557}" type="slidenum">
              <a:rPr lang="en-GB" noProof="0" smtClean="0"/>
            </a:fld>
            <a:endParaRPr lang="en-GB" noProof="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800" b="1" kern="1200" spc="-40" baseline="0">
          <a:solidFill>
            <a:schemeClr val="accent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90204" pitchFamily="34" charset="0"/>
        <a:buChar char="•"/>
        <a:defRPr sz="2400" kern="1200" spc="-20" baseline="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9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9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9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9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forms.cloud.microsoft/e/cBP7SgzbUP" TargetMode="External"/><Relationship Id="rId2"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hyperlink" Target="https://forms.cloud.microsoft/e/H0nvCdQ6Nm&#13;" TargetMode="External"/><Relationship Id="rId2"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523287" y="753034"/>
            <a:ext cx="6815446" cy="3887390"/>
          </a:xfrm>
        </p:spPr>
        <p:txBody>
          <a:bodyPr rtlCol="0"/>
          <a:lstStyle/>
          <a:p>
            <a:pPr rtl="0"/>
            <a:r>
              <a:rPr lang="en-US" b="0"/>
              <a:t>M</a:t>
            </a:r>
            <a:r>
              <a:rPr lang="en-GB" b="0"/>
              <a:t>Sc IT+ </a:t>
            </a:r>
            <a:r>
              <a:rPr lang="en-GB"/>
              <a:t>Projects Tracker</a:t>
            </a:r>
            <a:endParaRPr lang="en-GB"/>
          </a:p>
        </p:txBody>
      </p:sp>
      <p:sp>
        <p:nvSpPr>
          <p:cNvPr id="8" name="Subtitle 7"/>
          <p:cNvSpPr>
            <a:spLocks noGrp="1"/>
          </p:cNvSpPr>
          <p:nvPr>
            <p:ph type="subTitle" idx="1"/>
          </p:nvPr>
        </p:nvSpPr>
        <p:spPr>
          <a:xfrm>
            <a:off x="649045" y="4640424"/>
            <a:ext cx="6437555" cy="1303176"/>
          </a:xfrm>
        </p:spPr>
        <p:txBody>
          <a:bodyPr rtlCol="0">
            <a:normAutofit fontScale="92500" lnSpcReduction="10000"/>
          </a:bodyPr>
          <a:lstStyle/>
          <a:p>
            <a:pPr marL="0" defTabSz="1097280">
              <a:lnSpc>
                <a:spcPct val="100000"/>
              </a:lnSpc>
              <a:spcBef>
                <a:spcPts val="0"/>
              </a:spcBef>
            </a:pPr>
            <a:endParaRPr lang="en-US" b="1">
              <a:latin typeface="IBM Plex Sans" charset="0"/>
              <a:ea typeface="IBM Plex Sans" charset="0"/>
              <a:cs typeface="IBM Plex Sans" charset="0"/>
            </a:endParaRPr>
          </a:p>
          <a:p>
            <a:pPr marL="0" defTabSz="1097280">
              <a:lnSpc>
                <a:spcPct val="100000"/>
              </a:lnSpc>
              <a:spcBef>
                <a:spcPts val="0"/>
              </a:spcBef>
            </a:pPr>
            <a:r>
              <a:rPr lang="en-US" sz="2400" b="1">
                <a:latin typeface="IBM Plex Sans" charset="0"/>
                <a:ea typeface="IBM Plex Sans" charset="0"/>
                <a:cs typeface="IBM Plex Sans" charset="0"/>
              </a:rPr>
              <a:t>Gül ÇALIKLI</a:t>
            </a:r>
            <a:endParaRPr lang="en-US" sz="2400" b="1">
              <a:latin typeface="IBM Plex Sans" charset="0"/>
              <a:ea typeface="IBM Plex Sans" charset="0"/>
              <a:cs typeface="IBM Plex Sans" charset="0"/>
            </a:endParaRPr>
          </a:p>
          <a:p>
            <a:pPr marL="0" defTabSz="1097280">
              <a:lnSpc>
                <a:spcPct val="100000"/>
              </a:lnSpc>
              <a:spcBef>
                <a:spcPts val="0"/>
              </a:spcBef>
            </a:pPr>
            <a:endParaRPr lang="en-US" sz="2400" b="1">
              <a:latin typeface="IBM Plex Sans" charset="0"/>
              <a:ea typeface="IBM Plex Sans" charset="0"/>
              <a:cs typeface="IBM Plex Sans" charset="0"/>
            </a:endParaRPr>
          </a:p>
          <a:p>
            <a:pPr marL="0" defTabSz="1097280">
              <a:lnSpc>
                <a:spcPct val="100000"/>
              </a:lnSpc>
              <a:spcBef>
                <a:spcPts val="0"/>
              </a:spcBef>
            </a:pPr>
            <a:r>
              <a:rPr lang="en-US" sz="1600" b="1">
                <a:latin typeface="IBM Plex Sans" charset="0"/>
                <a:ea typeface="IBM Plex Sans" charset="0"/>
                <a:cs typeface="IBM Plex Sans" charset="0"/>
              </a:rPr>
              <a:t>(original slides by John Hill &amp; Mark McGill)</a:t>
            </a:r>
            <a:endParaRPr lang="en-US" sz="1600" b="1">
              <a:latin typeface="IBM Plex Sans" charset="0"/>
              <a:ea typeface="IBM Plex Sans" charset="0"/>
              <a:cs typeface="IBM Plex Sans" charset="0"/>
            </a:endParaRPr>
          </a:p>
        </p:txBody>
      </p:sp>
      <p:pic>
        <p:nvPicPr>
          <p:cNvPr id="1026" name="Picture 2" descr="University of Glasgow | Scotland.or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0" y="0"/>
            <a:ext cx="6858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2"/>
          <a:stretch>
            <a:fillRect/>
          </a:stretch>
        </p:blipFill>
        <p:spPr>
          <a:xfrm>
            <a:off x="9343466" y="0"/>
            <a:ext cx="2848534" cy="11383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ctrTitle"/>
          </p:nvPr>
        </p:nvSpPr>
        <p:spPr/>
        <p:txBody>
          <a:bodyPr/>
          <a:lstStyle/>
          <a:p>
            <a:r>
              <a:rPr lang="en-US"/>
              <a:t>Project Ideation</a:t>
            </a:r>
            <a:endParaRPr lang="en-GB"/>
          </a:p>
        </p:txBody>
      </p:sp>
      <p:sp>
        <p:nvSpPr>
          <p:cNvPr id="10" name="Subtitle 9"/>
          <p:cNvSpPr>
            <a:spLocks noGrp="1"/>
          </p:cNvSpPr>
          <p:nvPr>
            <p:ph type="subTitle" idx="1"/>
          </p:nvPr>
        </p:nvSpPr>
        <p:spPr/>
        <p:txBody>
          <a:bodyPr/>
          <a:lstStyle/>
          <a:p>
            <a:r>
              <a:rPr lang="en-US"/>
              <a:t>To be completed by </a:t>
            </a:r>
            <a:r>
              <a:rPr lang="en-US" b="1">
                <a:solidFill>
                  <a:srgbClr val="FFC000"/>
                </a:solidFill>
              </a:rPr>
              <a:t>May 29th</a:t>
            </a:r>
            <a:endParaRPr lang="en-GB" b="1">
              <a:solidFill>
                <a:srgbClr val="FFC000"/>
              </a:solidFill>
            </a:endParaRPr>
          </a:p>
        </p:txBody>
      </p:sp>
      <p:sp>
        <p:nvSpPr>
          <p:cNvPr id="3" name="Footer Placeholder 2"/>
          <p:cNvSpPr>
            <a:spLocks noGrp="1"/>
          </p:cNvSpPr>
          <p:nvPr>
            <p:ph type="ftr" sz="quarter" idx="11"/>
          </p:nvPr>
        </p:nvSpPr>
        <p:spPr/>
        <p:txBody>
          <a:bodyPr/>
          <a:lstStyle/>
          <a:p>
            <a:pPr rtl="0"/>
            <a:r>
              <a:rPr lang="en-GB" noProof="0"/>
              <a:t>Presentation title</a:t>
            </a:r>
            <a:endParaRPr lang="en-GB" noProof="0"/>
          </a:p>
        </p:txBody>
      </p:sp>
      <p:sp>
        <p:nvSpPr>
          <p:cNvPr id="7" name="Date Placeholder 6"/>
          <p:cNvSpPr>
            <a:spLocks noGrp="1"/>
          </p:cNvSpPr>
          <p:nvPr>
            <p:ph type="dt" sz="half" idx="10"/>
          </p:nvPr>
        </p:nvSpPr>
        <p:spPr/>
        <p:txBody>
          <a:bodyPr/>
          <a:lstStyle/>
          <a:p>
            <a:pPr rtl="0">
              <a:defRPr/>
            </a:pPr>
            <a:r>
              <a:rPr lang="en-GB" noProof="0">
                <a:solidFill>
                  <a:prstClr val="black"/>
                </a:solidFill>
              </a:rPr>
              <a:t>20XX</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6" name="Text Placeholder 5"/>
          <p:cNvSpPr txBox="1"/>
          <p:nvPr/>
        </p:nvSpPr>
        <p:spPr>
          <a:xfrm>
            <a:off x="7716416" y="753035"/>
            <a:ext cx="3746922" cy="5384799"/>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10000"/>
              </a:lnSpc>
              <a:spcBef>
                <a:spcPts val="1000"/>
              </a:spcBef>
              <a:buFont typeface="Arial" panose="020B0604020202090204" pitchFamily="34" charset="0"/>
              <a:buNone/>
              <a:defRPr sz="2400" kern="1200" spc="-20" baseline="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9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9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9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9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GB"/>
              <a:t>Download a copy of this tracker to your University OneDrive account.</a:t>
            </a:r>
            <a:endParaRPr lang="en-GB"/>
          </a:p>
          <a:p>
            <a:endParaRPr lang="en-GB"/>
          </a:p>
          <a:p>
            <a:r>
              <a:rPr lang="en-GB"/>
              <a:t>Fill in the “About You” and “Project Ideation” sections out by </a:t>
            </a:r>
            <a:r>
              <a:rPr lang="en-GB" b="1"/>
              <a:t>May 29</a:t>
            </a:r>
            <a:r>
              <a:rPr lang="en-GB" b="1" baseline="30000"/>
              <a:t>th</a:t>
            </a:r>
            <a:r>
              <a:rPr lang="en-GB" b="1"/>
              <a:t> </a:t>
            </a:r>
            <a:r>
              <a:rPr lang="en-GB"/>
              <a:t>and share the live “edit” link to your project tracker with us via </a:t>
            </a:r>
            <a:r>
              <a:rPr lang="en-GB">
                <a:hlinkClick r:id="rId1"/>
              </a:rPr>
              <a:t>Microsoft Forms</a:t>
            </a:r>
            <a:r>
              <a:rPr lang="en-GB"/>
              <a:t>. This is so your supervisor (once assigned) can access this over the course of your project.  </a:t>
            </a:r>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156" y="361948"/>
            <a:ext cx="3369282" cy="3829051"/>
          </a:xfrm>
        </p:spPr>
        <p:txBody>
          <a:bodyPr>
            <a:normAutofit/>
          </a:bodyPr>
          <a:lstStyle/>
          <a:p>
            <a:r>
              <a:rPr lang="en-US"/>
              <a:t>About You</a:t>
            </a:r>
            <a:br>
              <a:rPr lang="en-US"/>
            </a:br>
            <a:br>
              <a:rPr lang="en-US"/>
            </a:br>
            <a:r>
              <a:rPr lang="en-US" sz="2000" b="0"/>
              <a:t>This information will help your supervisor to understand your background, skillset and interests</a:t>
            </a:r>
            <a:br>
              <a:rPr lang="en-US" sz="1800" b="0">
                <a:solidFill>
                  <a:srgbClr val="C00000"/>
                </a:solidFill>
              </a:rPr>
            </a:br>
            <a:br>
              <a:rPr lang="en-US" sz="1800" b="0">
                <a:solidFill>
                  <a:srgbClr val="C00000"/>
                </a:solidFill>
              </a:rPr>
            </a:br>
            <a:br>
              <a:rPr lang="en-US" sz="1800" b="0">
                <a:solidFill>
                  <a:srgbClr val="C00000"/>
                </a:solidFill>
              </a:rPr>
            </a:br>
            <a:r>
              <a:rPr lang="en-US" sz="1800" b="0"/>
              <a:t>Optional – Include a photo of yourself below</a:t>
            </a:r>
            <a:endParaRPr lang="en-GB" sz="3200" b="0"/>
          </a:p>
        </p:txBody>
      </p:sp>
      <p:sp>
        <p:nvSpPr>
          <p:cNvPr id="5" name="Picture Placeholder 4"/>
          <p:cNvSpPr>
            <a:spLocks noGrp="1"/>
          </p:cNvSpPr>
          <p:nvPr>
            <p:ph type="pic" sz="quarter" idx="14"/>
          </p:nvPr>
        </p:nvSpPr>
        <p:spPr>
          <a:xfrm>
            <a:off x="879097" y="4527867"/>
            <a:ext cx="2389400" cy="2009775"/>
          </a:xfrm>
        </p:spPr>
      </p:sp>
      <p:sp>
        <p:nvSpPr>
          <p:cNvPr id="7" name="Date Placeholder 6"/>
          <p:cNvSpPr>
            <a:spLocks noGrp="1"/>
          </p:cNvSpPr>
          <p:nvPr>
            <p:ph type="dt" sz="half" idx="10"/>
          </p:nvPr>
        </p:nvSpPr>
        <p:spPr/>
        <p:txBody>
          <a:bodyPr/>
          <a:lstStyle/>
          <a:p>
            <a:pPr rtl="0">
              <a:defRPr/>
            </a:pPr>
            <a:r>
              <a:rPr lang="en-GB" noProof="0">
                <a:solidFill>
                  <a:prstClr val="black"/>
                </a:solidFill>
              </a:rPr>
              <a:t>2023</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graphicFrame>
        <p:nvGraphicFramePr>
          <p:cNvPr id="10" name="Table 4"/>
          <p:cNvGraphicFramePr>
            <a:graphicFrameLocks noGrp="1"/>
          </p:cNvGraphicFramePr>
          <p:nvPr/>
        </p:nvGraphicFramePr>
        <p:xfrm>
          <a:off x="4258756" y="234455"/>
          <a:ext cx="7738172" cy="6023471"/>
        </p:xfrm>
        <a:graphic>
          <a:graphicData uri="http://schemas.openxmlformats.org/drawingml/2006/table">
            <a:tbl>
              <a:tblPr firstRow="1" bandRow="1">
                <a:tableStyleId>{5C22544A-7EE6-4342-B048-85BDC9FD1C3A}</a:tableStyleId>
              </a:tblPr>
              <a:tblGrid>
                <a:gridCol w="3869086"/>
                <a:gridCol w="3869086"/>
              </a:tblGrid>
              <a:tr h="519141">
                <a:tc>
                  <a:txBody>
                    <a:bodyPr/>
                    <a:lstStyle/>
                    <a:p>
                      <a:r>
                        <a:rPr lang="en-US" sz="1100"/>
                        <a:t>Question</a:t>
                      </a:r>
                      <a:endParaRPr lang="en-GB" sz="1100"/>
                    </a:p>
                  </a:txBody>
                  <a:tcPr marL="56226" marR="56226" marT="28113" marB="28113"/>
                </a:tc>
                <a:tc>
                  <a:txBody>
                    <a:bodyPr/>
                    <a:lstStyle/>
                    <a:p>
                      <a:r>
                        <a:rPr lang="en-US" sz="1100"/>
                        <a:t>Your Response</a:t>
                      </a:r>
                      <a:endParaRPr lang="en-GB" sz="1100"/>
                    </a:p>
                  </a:txBody>
                  <a:tcPr marL="56226" marR="56226" marT="28113" marB="28113"/>
                </a:tc>
              </a:tr>
              <a:tr h="1280077">
                <a:tc>
                  <a:txBody>
                    <a:bodyPr/>
                    <a:lstStyle/>
                    <a:p>
                      <a:r>
                        <a:rPr lang="en-US" sz="1400"/>
                        <a:t>Is there a </a:t>
                      </a:r>
                      <a:r>
                        <a:rPr lang="en-US" sz="1400" b="1"/>
                        <a:t>name</a:t>
                      </a:r>
                      <a:r>
                        <a:rPr lang="en-US" sz="1400"/>
                        <a:t> other than your first name as noted with the University that you would prefer to be used by your supervisor in your contact with them?</a:t>
                      </a:r>
                      <a:endParaRPr lang="en-GB" sz="1400"/>
                    </a:p>
                  </a:txBody>
                  <a:tcPr marL="56226" marR="56226" marT="28113" marB="28113"/>
                </a:tc>
                <a:tc>
                  <a:txBody>
                    <a:bodyPr/>
                    <a:lstStyle/>
                    <a:p>
                      <a:r>
                        <a:rPr lang="en-US" altLang="en-GB" sz="1100"/>
                        <a:t>Please call me </a:t>
                      </a:r>
                      <a:r>
                        <a:rPr lang="en-US" altLang="zh-CN" sz="1100">
                          <a:ea typeface="宋体"/>
                        </a:rPr>
                        <a:t>Faye.</a:t>
                      </a:r>
                      <a:endParaRPr lang="en-US" altLang="zh-CN" sz="1100">
                        <a:ea typeface="宋体"/>
                      </a:endParaRPr>
                    </a:p>
                  </a:txBody>
                  <a:tcPr marL="56226" marR="56226" marT="28113" marB="28113"/>
                </a:tc>
              </a:tr>
              <a:tr h="1280077">
                <a:tc>
                  <a:txBody>
                    <a:bodyPr/>
                    <a:lstStyle/>
                    <a:p>
                      <a:pPr lvl="0">
                        <a:buNone/>
                      </a:pPr>
                      <a:r>
                        <a:rPr lang="en-US" sz="1400"/>
                        <a:t>Please state your </a:t>
                      </a:r>
                      <a:r>
                        <a:rPr lang="en-US" sz="1400" b="1"/>
                        <a:t>previous degree </a:t>
                      </a:r>
                      <a:r>
                        <a:rPr lang="en-US" sz="1400"/>
                        <a:t>topic and any other </a:t>
                      </a:r>
                      <a:r>
                        <a:rPr lang="en-US" sz="1400" b="1"/>
                        <a:t>relevant background information </a:t>
                      </a:r>
                      <a:r>
                        <a:rPr lang="en-US" sz="1400"/>
                        <a:t>you would like your supervisor to know.</a:t>
                      </a:r>
                      <a:endParaRPr lang="en-GB" altLang="zh-TW" sz="1400"/>
                    </a:p>
                  </a:txBody>
                  <a:tcPr marL="56226" marR="56226" marT="28113" marB="28113"/>
                </a:tc>
                <a:tc>
                  <a:txBody>
                    <a:bodyPr/>
                    <a:lstStyle/>
                    <a:p>
                      <a:pPr lvl="0">
                        <a:buNone/>
                      </a:pPr>
                      <a:r>
                        <a:rPr lang="en-US" sz="1100" b="0" i="0" u="none" strike="noStrike" noProof="0"/>
                        <a:t>Bachelor of Economics. After graduation, 7 years in digital media operations, with day-to-day work centered on data analysis and operational decision-making.</a:t>
                      </a:r>
                      <a:endParaRPr lang="zh-TW"/>
                    </a:p>
                  </a:txBody>
                  <a:tcPr marL="56226" marR="56226" marT="28113" marB="28113"/>
                </a:tc>
              </a:tr>
              <a:tr h="1280077">
                <a:tc>
                  <a:txBody>
                    <a:bodyPr/>
                    <a:lstStyle/>
                    <a:p>
                      <a:r>
                        <a:rPr lang="en-US" sz="1400"/>
                        <a:t>Please state what </a:t>
                      </a:r>
                      <a:r>
                        <a:rPr lang="en-US" sz="1400" b="1"/>
                        <a:t>previous programming experience</a:t>
                      </a:r>
                      <a:r>
                        <a:rPr lang="en-US" sz="1400"/>
                        <a:t> (languages, frameworks </a:t>
                      </a:r>
                      <a:r>
                        <a:rPr lang="en-US" sz="1400" err="1"/>
                        <a:t>etc</a:t>
                      </a:r>
                      <a:r>
                        <a:rPr lang="en-US" sz="1400"/>
                        <a:t>) that you have beyond the current MSc IT+ degree, if any.</a:t>
                      </a:r>
                      <a:endParaRPr lang="en-GB" sz="1400"/>
                    </a:p>
                  </a:txBody>
                  <a:tcPr marL="56226" marR="56226" marT="28113" marB="28113"/>
                </a:tc>
                <a:tc>
                  <a:txBody>
                    <a:bodyPr/>
                    <a:lstStyle/>
                    <a:p>
                      <a:pPr lvl="0">
                        <a:buNone/>
                      </a:pPr>
                      <a:r>
                        <a:rPr lang="en-US" sz="1100" b="0" i="0" u="none" strike="noStrike" noProof="0">
                          <a:latin typeface="Avenir Next LT Pro"/>
                        </a:rPr>
                        <a:t>Python (Pandas, NumPy), SQL, Java, Django. Comfortable with Git and Linux basics. Plan to add Power BI (or Tableau) and LLM API integration through this project.</a:t>
                      </a:r>
                      <a:endParaRPr lang="zh-TW" altLang="en-US">
                        <a:latin typeface="Avenir Next LT Pro"/>
                      </a:endParaRPr>
                    </a:p>
                  </a:txBody>
                  <a:tcPr marL="56226" marR="56226" marT="28113" marB="28113"/>
                </a:tc>
              </a:tr>
              <a:tr h="1664099">
                <a:tc>
                  <a:txBody>
                    <a:bodyPr/>
                    <a:lstStyle/>
                    <a:p>
                      <a:r>
                        <a:rPr lang="en-US" sz="1400"/>
                        <a:t>Please briefly note what </a:t>
                      </a:r>
                      <a:r>
                        <a:rPr lang="en-US" sz="1400" b="1"/>
                        <a:t>future career aspirations </a:t>
                      </a:r>
                      <a:r>
                        <a:rPr lang="en-US" sz="1400"/>
                        <a:t>you have (e.g. programmer, business analyst, consultant, ...), and what job role you are targeting (e.g. finance, government, technology, academia, ...) after this degree.</a:t>
                      </a:r>
                      <a:endParaRPr lang="en-GB" sz="1400"/>
                    </a:p>
                  </a:txBody>
                  <a:tcPr marL="56226" marR="56226" marT="28113" marB="28113"/>
                </a:tc>
                <a:tc>
                  <a:txBody>
                    <a:bodyPr/>
                    <a:lstStyle/>
                    <a:p>
                      <a:pPr lvl="0" algn="l">
                        <a:lnSpc>
                          <a:spcPct val="100000"/>
                        </a:lnSpc>
                        <a:spcBef>
                          <a:spcPts val="0"/>
                        </a:spcBef>
                        <a:spcAft>
                          <a:spcPts val="0"/>
                        </a:spcAft>
                        <a:buNone/>
                      </a:pPr>
                      <a:r>
                        <a:rPr lang="en-US" sz="1100" b="0" i="0" u="none" strike="noStrike" noProof="0"/>
                        <a:t>Primary goal: Business Intelligence Analyst or Data Analyst </a:t>
                      </a:r>
                      <a:endParaRPr lang="zh-CN" altLang="en-US"/>
                    </a:p>
                    <a:p>
                      <a:pPr lvl="0" algn="l">
                        <a:lnSpc>
                          <a:spcPct val="100000"/>
                        </a:lnSpc>
                        <a:spcBef>
                          <a:spcPts val="0"/>
                        </a:spcBef>
                        <a:spcAft>
                          <a:spcPts val="0"/>
                        </a:spcAft>
                        <a:buNone/>
                      </a:pPr>
                      <a:r>
                        <a:rPr lang="en-US" sz="1100" b="0" i="0" u="none" strike="noStrike" noProof="0"/>
                        <a:t>roles, combining 7 years of business experience with the </a:t>
                      </a:r>
                      <a:endParaRPr lang="en-US"/>
                    </a:p>
                    <a:p>
                      <a:pPr lvl="0" algn="l">
                        <a:lnSpc>
                          <a:spcPct val="100000"/>
                        </a:lnSpc>
                        <a:spcBef>
                          <a:spcPts val="0"/>
                        </a:spcBef>
                        <a:spcAft>
                          <a:spcPts val="0"/>
                        </a:spcAft>
                        <a:buNone/>
                      </a:pPr>
                      <a:r>
                        <a:rPr lang="en-US" sz="1100" b="0" i="0" u="none" strike="noStrike" noProof="0"/>
                        <a:t>technical skills built during this degree. I prefer roles </a:t>
                      </a:r>
                      <a:endParaRPr lang="en-US"/>
                    </a:p>
                    <a:p>
                      <a:pPr lvl="0" algn="l">
                        <a:lnSpc>
                          <a:spcPct val="100000"/>
                        </a:lnSpc>
                        <a:spcBef>
                          <a:spcPts val="0"/>
                        </a:spcBef>
                        <a:spcAft>
                          <a:spcPts val="0"/>
                        </a:spcAft>
                        <a:buNone/>
                      </a:pPr>
                      <a:r>
                        <a:rPr lang="en-US" sz="1100" b="0" i="0" u="none" strike="noStrike" noProof="0"/>
                        <a:t>centered on data and analysis. </a:t>
                      </a:r>
                      <a:endParaRPr lang="en-US"/>
                    </a:p>
                    <a:p>
                      <a:pPr lvl="0" algn="l">
                        <a:lnSpc>
                          <a:spcPct val="100000"/>
                        </a:lnSpc>
                        <a:spcBef>
                          <a:spcPts val="0"/>
                        </a:spcBef>
                        <a:spcAft>
                          <a:spcPts val="0"/>
                        </a:spcAft>
                        <a:buNone/>
                      </a:pPr>
                      <a:r>
                        <a:rPr lang="en-US" sz="1100" b="0" i="0" u="none" strike="noStrike" noProof="0"/>
                        <a:t>Secondary directions: Business Analyst, Technical Product </a:t>
                      </a:r>
                      <a:endParaRPr lang="en-US"/>
                    </a:p>
                    <a:p>
                      <a:pPr lvl="0" algn="l">
                        <a:lnSpc>
                          <a:spcPct val="100000"/>
                        </a:lnSpc>
                        <a:spcBef>
                          <a:spcPts val="0"/>
                        </a:spcBef>
                        <a:spcAft>
                          <a:spcPts val="0"/>
                        </a:spcAft>
                        <a:buNone/>
                      </a:pPr>
                      <a:r>
                        <a:rPr lang="en-US" sz="1100" b="0" i="0" u="none" strike="noStrike" noProof="0"/>
                        <a:t>Manager, or Junior Software Engineer.</a:t>
                      </a:r>
                      <a:endParaRPr lang="en-US"/>
                    </a:p>
                    <a:p>
                      <a:pPr lvl="0">
                        <a:buNone/>
                      </a:pPr>
                      <a:endParaRPr lang="en-US" altLang="zh-TW" sz="1100" b="0" i="0" u="none" strike="noStrike" noProof="0">
                        <a:latin typeface="Avenir Next LT Pro"/>
                      </a:endParaRPr>
                    </a:p>
                  </a:txBody>
                  <a:tcPr marL="56226" marR="56226" marT="28113" marB="28113"/>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Project Topic Ideation</a:t>
            </a:r>
            <a:br>
              <a:rPr lang="en-US" sz="2700"/>
            </a:br>
            <a:br>
              <a:rPr lang="en-US" sz="1800"/>
            </a:br>
            <a:r>
              <a:rPr lang="en-US" sz="1800" b="0"/>
              <a:t>Based on the project Ideation video, try to see if you can define a project topic. </a:t>
            </a:r>
            <a:br>
              <a:rPr lang="en-US" sz="1800" b="0"/>
            </a:br>
            <a:br>
              <a:rPr lang="en-US" sz="1800" b="0"/>
            </a:br>
            <a:r>
              <a:rPr lang="en-US" sz="1800" b="0"/>
              <a:t>Your supervisor will then provide feedback on your topic ideas, and prescribe a topic if necessary, by Week 1 of the IT+ projects.</a:t>
            </a:r>
            <a:endParaRPr lang="en-GB" b="0"/>
          </a:p>
        </p:txBody>
      </p:sp>
      <p:sp>
        <p:nvSpPr>
          <p:cNvPr id="3" name="Footer Placeholder 2"/>
          <p:cNvSpPr>
            <a:spLocks noGrp="1"/>
          </p:cNvSpPr>
          <p:nvPr>
            <p:ph type="ftr" sz="quarter" idx="11"/>
          </p:nvPr>
        </p:nvSpPr>
        <p:spPr/>
        <p:txBody>
          <a:bodyPr/>
          <a:lstStyle/>
          <a:p>
            <a:pPr rtl="0"/>
            <a:r>
              <a:rPr lang="en-GB" noProof="0"/>
              <a:t>Presentation title</a:t>
            </a:r>
            <a:endParaRPr lang="en-GB" noProof="0"/>
          </a:p>
        </p:txBody>
      </p:sp>
      <p:sp>
        <p:nvSpPr>
          <p:cNvPr id="7" name="Date Placeholder 6"/>
          <p:cNvSpPr>
            <a:spLocks noGrp="1"/>
          </p:cNvSpPr>
          <p:nvPr>
            <p:ph type="dt" sz="half" idx="10"/>
          </p:nvPr>
        </p:nvSpPr>
        <p:spPr/>
        <p:txBody>
          <a:bodyPr/>
          <a:lstStyle/>
          <a:p>
            <a:pPr rtl="0">
              <a:defRPr/>
            </a:pPr>
            <a:r>
              <a:rPr lang="en-GB" noProof="0">
                <a:solidFill>
                  <a:prstClr val="black"/>
                </a:solidFill>
              </a:rPr>
              <a:t>2023</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graphicFrame>
        <p:nvGraphicFramePr>
          <p:cNvPr id="9" name="Table 4"/>
          <p:cNvGraphicFramePr>
            <a:graphicFrameLocks noGrp="1"/>
          </p:cNvGraphicFramePr>
          <p:nvPr/>
        </p:nvGraphicFramePr>
        <p:xfrm>
          <a:off x="4224895" y="3"/>
          <a:ext cx="7767828" cy="6705600"/>
        </p:xfrm>
        <a:graphic>
          <a:graphicData uri="http://schemas.openxmlformats.org/drawingml/2006/table">
            <a:tbl>
              <a:tblPr firstRow="1" bandRow="1">
                <a:tableStyleId>{5C22544A-7EE6-4342-B048-85BDC9FD1C3A}</a:tableStyleId>
              </a:tblPr>
              <a:tblGrid>
                <a:gridCol w="3227070"/>
                <a:gridCol w="4540758"/>
              </a:tblGrid>
              <a:tr h="249321">
                <a:tc>
                  <a:txBody>
                    <a:bodyPr/>
                    <a:lstStyle/>
                    <a:p>
                      <a:r>
                        <a:rPr lang="en-US" sz="1100"/>
                        <a:t>Question</a:t>
                      </a:r>
                      <a:endParaRPr lang="en-GB" sz="1100"/>
                    </a:p>
                  </a:txBody>
                  <a:tcPr/>
                </a:tc>
                <a:tc>
                  <a:txBody>
                    <a:bodyPr/>
                    <a:lstStyle/>
                    <a:p>
                      <a:r>
                        <a:rPr lang="en-US" sz="1100"/>
                        <a:t>Your Response</a:t>
                      </a:r>
                      <a:endParaRPr lang="en-GB" sz="1100"/>
                    </a:p>
                  </a:txBody>
                  <a:tcPr/>
                </a:tc>
              </a:tr>
              <a:tr h="1231944">
                <a:tc>
                  <a:txBody>
                    <a:bodyPr/>
                    <a:lstStyle/>
                    <a:p>
                      <a:r>
                        <a:rPr lang="en-US" sz="1300" b="0" i="0" kern="1200">
                          <a:solidFill>
                            <a:schemeClr val="dk1"/>
                          </a:solidFill>
                          <a:effectLst/>
                          <a:latin typeface="+mn-lt"/>
                          <a:ea typeface="+mn-ea"/>
                          <a:cs typeface="+mn-cs"/>
                        </a:rPr>
                        <a:t>For your individual development project, is there </a:t>
                      </a:r>
                      <a:r>
                        <a:rPr lang="en-US" sz="1300" b="1" i="0" kern="1200">
                          <a:solidFill>
                            <a:schemeClr val="dk1"/>
                          </a:solidFill>
                          <a:effectLst/>
                          <a:latin typeface="+mn-lt"/>
                          <a:ea typeface="+mn-ea"/>
                          <a:cs typeface="+mn-cs"/>
                        </a:rPr>
                        <a:t>any particular platform </a:t>
                      </a:r>
                      <a:r>
                        <a:rPr lang="en-US" sz="1300" b="0" i="0" kern="1200">
                          <a:solidFill>
                            <a:schemeClr val="dk1"/>
                          </a:solidFill>
                          <a:effectLst/>
                          <a:latin typeface="+mn-lt"/>
                          <a:ea typeface="+mn-ea"/>
                          <a:cs typeface="+mn-cs"/>
                        </a:rPr>
                        <a:t>you want to gain experience developing for (e.g. Web apps, Mobile apps, Desktops apps, Services and APIs, Cloud apps/infrastructure etc.)?</a:t>
                      </a:r>
                      <a:endParaRPr lang="en-GB" sz="1300"/>
                    </a:p>
                  </a:txBody>
                  <a:tcPr/>
                </a:tc>
                <a:tc>
                  <a:txBody>
                    <a:bodyPr/>
                    <a:lstStyle/>
                    <a:p>
                      <a:pPr lvl="0">
                        <a:buNone/>
                      </a:pPr>
                      <a:r>
                        <a:rPr lang="en-US" sz="1100" b="0" i="0" u="none" strike="noStrike" noProof="0"/>
                        <a:t>Web application — Python backend + browser-based dashboard, with part of the analytical logic exposed as an API.</a:t>
                      </a:r>
                      <a:endParaRPr lang="zh-TW" altLang="en-US"/>
                    </a:p>
                  </a:txBody>
                  <a:tcPr/>
                </a:tc>
              </a:tr>
              <a:tr h="1055952">
                <a:tc>
                  <a:txBody>
                    <a:bodyPr/>
                    <a:lstStyle/>
                    <a:p>
                      <a:r>
                        <a:rPr lang="en-US" sz="1300" b="0" i="0" kern="1200">
                          <a:solidFill>
                            <a:schemeClr val="dk1"/>
                          </a:solidFill>
                          <a:effectLst/>
                          <a:latin typeface="+mn-lt"/>
                          <a:ea typeface="+mn-ea"/>
                          <a:cs typeface="+mn-cs"/>
                        </a:rPr>
                        <a:t>Is there </a:t>
                      </a:r>
                      <a:r>
                        <a:rPr lang="en-US" sz="1300" b="1" i="0" kern="1200">
                          <a:solidFill>
                            <a:schemeClr val="dk1"/>
                          </a:solidFill>
                          <a:effectLst/>
                          <a:latin typeface="+mn-lt"/>
                          <a:ea typeface="+mn-ea"/>
                          <a:cs typeface="+mn-cs"/>
                        </a:rPr>
                        <a:t>any particular technology </a:t>
                      </a:r>
                      <a:r>
                        <a:rPr lang="en-US" sz="1300" b="0" i="0" kern="1200">
                          <a:solidFill>
                            <a:schemeClr val="dk1"/>
                          </a:solidFill>
                          <a:effectLst/>
                          <a:latin typeface="+mn-lt"/>
                          <a:ea typeface="+mn-ea"/>
                          <a:cs typeface="+mn-cs"/>
                        </a:rPr>
                        <a:t>or </a:t>
                      </a:r>
                      <a:r>
                        <a:rPr lang="en-US" sz="1300" b="1" i="0" kern="1200">
                          <a:solidFill>
                            <a:schemeClr val="dk1"/>
                          </a:solidFill>
                          <a:effectLst/>
                          <a:latin typeface="+mn-lt"/>
                          <a:ea typeface="+mn-ea"/>
                          <a:cs typeface="+mn-cs"/>
                        </a:rPr>
                        <a:t>application type </a:t>
                      </a:r>
                      <a:r>
                        <a:rPr lang="en-US" sz="1300" b="0" i="0" kern="1200">
                          <a:solidFill>
                            <a:schemeClr val="dk1"/>
                          </a:solidFill>
                          <a:effectLst/>
                          <a:latin typeface="+mn-lt"/>
                          <a:ea typeface="+mn-ea"/>
                          <a:cs typeface="+mn-cs"/>
                        </a:rPr>
                        <a:t>you want to focus on (e.g. games, responsive web apps, machine learning etc.)</a:t>
                      </a:r>
                      <a:endParaRPr lang="en-GB" sz="1300"/>
                    </a:p>
                  </a:txBody>
                  <a:tcPr/>
                </a:tc>
                <a:tc>
                  <a:txBody>
                    <a:bodyPr/>
                    <a:lstStyle/>
                    <a:p>
                      <a:pPr lvl="0">
                        <a:buNone/>
                      </a:pPr>
                      <a:r>
                        <a:rPr lang="en-US" sz="1100" b="0" i="0" u="none" strike="noStrike" noProof="0">
                          <a:latin typeface="Avenir Next LT Pro"/>
                        </a:rPr>
                        <a:t>Data analytics + AI integration. Stack: SQL on a cloud data warehouse (</a:t>
                      </a:r>
                      <a:r>
                        <a:rPr lang="en-US" sz="1100" b="0" i="0" u="none" strike="noStrike" noProof="0" err="1">
                          <a:latin typeface="Avenir Next LT Pro"/>
                        </a:rPr>
                        <a:t>BigQuery</a:t>
                      </a:r>
                      <a:r>
                        <a:rPr lang="en-US" sz="1100" b="0" i="0" u="none" strike="noStrike" noProof="0">
                          <a:latin typeface="Avenir Next LT Pro"/>
                        </a:rPr>
                        <a:t> or Snowflake free tier), Python (Pandas), Power BI (or Tableau), and LLM API integration. Includes statistical analysis (e.g. A/B testing). Some tools (cloud warehouse, Power BI, LLM integration) are new to me — learning them is part of the project goal.</a:t>
                      </a:r>
                      <a:endParaRPr lang="en-US" sz="1100" b="0" i="0" u="none" strike="noStrike" noProof="0">
                        <a:latin typeface="Avenir Next LT Pro"/>
                      </a:endParaRPr>
                    </a:p>
                  </a:txBody>
                  <a:tcPr/>
                </a:tc>
              </a:tr>
              <a:tr h="850628">
                <a:tc>
                  <a:txBody>
                    <a:bodyPr/>
                    <a:lstStyle/>
                    <a:p>
                      <a:r>
                        <a:rPr lang="en-US" sz="1300" b="0" i="0" kern="1200">
                          <a:solidFill>
                            <a:schemeClr val="dk1"/>
                          </a:solidFill>
                          <a:effectLst/>
                          <a:latin typeface="+mn-lt"/>
                          <a:ea typeface="+mn-ea"/>
                          <a:cs typeface="+mn-cs"/>
                        </a:rPr>
                        <a:t>Is there a </a:t>
                      </a:r>
                      <a:r>
                        <a:rPr lang="en-US" sz="1300" b="1" i="0" kern="1200">
                          <a:solidFill>
                            <a:schemeClr val="dk1"/>
                          </a:solidFill>
                          <a:effectLst/>
                          <a:latin typeface="+mn-lt"/>
                          <a:ea typeface="+mn-ea"/>
                          <a:cs typeface="+mn-cs"/>
                        </a:rPr>
                        <a:t>particular subject area </a:t>
                      </a:r>
                      <a:r>
                        <a:rPr lang="en-US" sz="1300" b="0" i="0" kern="1200">
                          <a:solidFill>
                            <a:schemeClr val="dk1"/>
                          </a:solidFill>
                          <a:effectLst/>
                          <a:latin typeface="+mn-lt"/>
                          <a:ea typeface="+mn-ea"/>
                          <a:cs typeface="+mn-cs"/>
                        </a:rPr>
                        <a:t>that you want your project to work within e.g. business, ecology, sports, travel, entertainment etc. </a:t>
                      </a:r>
                      <a:endParaRPr lang="en-GB" sz="1300"/>
                    </a:p>
                  </a:txBody>
                  <a:tcPr/>
                </a:tc>
                <a:tc>
                  <a:txBody>
                    <a:bodyPr/>
                    <a:lstStyle/>
                    <a:p>
                      <a:pPr lvl="0">
                        <a:buNone/>
                      </a:pPr>
                      <a:r>
                        <a:rPr lang="en-US" sz="1100" b="0" i="0" u="none" strike="noStrike" noProof="0"/>
                        <a:t>Open. Prefer a public dataset (e.g. Kaggle, UK open data) with enough complexity for meaningful analysis — e.g. e-commerce, retail, or public services.</a:t>
                      </a:r>
                      <a:endParaRPr lang="en-US" sz="1100" b="0" i="0" u="none" strike="noStrike" noProof="0"/>
                    </a:p>
                  </a:txBody>
                  <a:tcPr/>
                </a:tc>
              </a:tr>
              <a:tr h="1935913">
                <a:tc>
                  <a:txBody>
                    <a:bodyPr/>
                    <a:lstStyle/>
                    <a:p>
                      <a:pPr rtl="0"/>
                      <a:r>
                        <a:rPr lang="en-US" sz="1300" b="0" i="0" kern="1200">
                          <a:solidFill>
                            <a:schemeClr val="dk1"/>
                          </a:solidFill>
                          <a:effectLst/>
                          <a:latin typeface="+mn-lt"/>
                          <a:ea typeface="+mn-ea"/>
                          <a:cs typeface="+mn-cs"/>
                        </a:rPr>
                        <a:t>Do you have a </a:t>
                      </a:r>
                      <a:r>
                        <a:rPr lang="en-US" sz="1300" b="1" i="0" kern="1200">
                          <a:solidFill>
                            <a:schemeClr val="dk1"/>
                          </a:solidFill>
                          <a:effectLst/>
                          <a:latin typeface="+mn-lt"/>
                          <a:ea typeface="+mn-ea"/>
                          <a:cs typeface="+mn-cs"/>
                        </a:rPr>
                        <a:t>project idea </a:t>
                      </a:r>
                      <a:r>
                        <a:rPr lang="en-US" sz="1300" b="0" i="0" kern="1200">
                          <a:solidFill>
                            <a:schemeClr val="dk1"/>
                          </a:solidFill>
                          <a:effectLst/>
                          <a:latin typeface="+mn-lt"/>
                          <a:ea typeface="+mn-ea"/>
                          <a:cs typeface="+mn-cs"/>
                        </a:rPr>
                        <a:t>in mind that you'd want to pursue? If so, in a few sentences describe:</a:t>
                      </a:r>
                      <a:endParaRPr lang="en-US" sz="1300" b="0" i="0" kern="1200">
                        <a:solidFill>
                          <a:schemeClr val="dk1"/>
                        </a:solidFill>
                        <a:effectLst/>
                        <a:latin typeface="+mn-lt"/>
                        <a:ea typeface="+mn-ea"/>
                        <a:cs typeface="+mn-cs"/>
                      </a:endParaRPr>
                    </a:p>
                    <a:p>
                      <a:pPr marL="342900" indent="-342900">
                        <a:buFont typeface="Arial" panose="020B0604020202090204" pitchFamily="34" charset="0"/>
                        <a:buChar char="•"/>
                      </a:pPr>
                      <a:r>
                        <a:rPr lang="en-US" sz="1300" b="1" i="0" kern="1200">
                          <a:solidFill>
                            <a:schemeClr val="dk1"/>
                          </a:solidFill>
                          <a:effectLst/>
                          <a:latin typeface="+mn-lt"/>
                          <a:ea typeface="+mn-ea"/>
                          <a:cs typeface="+mn-cs"/>
                        </a:rPr>
                        <a:t>what</a:t>
                      </a:r>
                      <a:r>
                        <a:rPr lang="en-US" sz="1300" b="0" i="0" kern="1200">
                          <a:solidFill>
                            <a:schemeClr val="dk1"/>
                          </a:solidFill>
                          <a:effectLst/>
                          <a:latin typeface="+mn-lt"/>
                          <a:ea typeface="+mn-ea"/>
                          <a:cs typeface="+mn-cs"/>
                        </a:rPr>
                        <a:t> the development project would aim to produce</a:t>
                      </a:r>
                      <a:endParaRPr lang="en-US" sz="1300" b="0" i="0" kern="1200">
                        <a:solidFill>
                          <a:schemeClr val="dk1"/>
                        </a:solidFill>
                        <a:effectLst/>
                        <a:latin typeface="+mn-lt"/>
                        <a:ea typeface="+mn-ea"/>
                        <a:cs typeface="+mn-cs"/>
                      </a:endParaRPr>
                    </a:p>
                    <a:p>
                      <a:pPr marL="342900" indent="-342900">
                        <a:buFont typeface="Arial" panose="020B0604020202090204" pitchFamily="34" charset="0"/>
                        <a:buChar char="•"/>
                      </a:pPr>
                      <a:r>
                        <a:rPr lang="en-US" sz="1300" b="1" i="0" kern="1200">
                          <a:solidFill>
                            <a:schemeClr val="dk1"/>
                          </a:solidFill>
                          <a:effectLst/>
                          <a:latin typeface="+mn-lt"/>
                          <a:ea typeface="+mn-ea"/>
                          <a:cs typeface="+mn-cs"/>
                        </a:rPr>
                        <a:t>why</a:t>
                      </a:r>
                      <a:r>
                        <a:rPr lang="en-US" sz="1300" b="0" i="0" kern="1200">
                          <a:solidFill>
                            <a:schemeClr val="dk1"/>
                          </a:solidFill>
                          <a:effectLst/>
                          <a:latin typeface="+mn-lt"/>
                          <a:ea typeface="+mn-ea"/>
                          <a:cs typeface="+mn-cs"/>
                        </a:rPr>
                        <a:t> you want to pursue this</a:t>
                      </a:r>
                      <a:endParaRPr lang="en-US" sz="1300" b="0" i="0" kern="1200">
                        <a:solidFill>
                          <a:schemeClr val="dk1"/>
                        </a:solidFill>
                        <a:effectLst/>
                        <a:latin typeface="+mn-lt"/>
                        <a:ea typeface="+mn-ea"/>
                        <a:cs typeface="+mn-cs"/>
                      </a:endParaRPr>
                    </a:p>
                    <a:p>
                      <a:pPr marL="342900" indent="-342900">
                        <a:buFont typeface="Arial" panose="020B0604020202090204" pitchFamily="34" charset="0"/>
                        <a:buChar char="•"/>
                      </a:pPr>
                      <a:r>
                        <a:rPr lang="en-US" sz="1300" b="0" i="0" kern="1200">
                          <a:solidFill>
                            <a:schemeClr val="dk1"/>
                          </a:solidFill>
                          <a:effectLst/>
                          <a:latin typeface="+mn-lt"/>
                          <a:ea typeface="+mn-ea"/>
                          <a:cs typeface="+mn-cs"/>
                        </a:rPr>
                        <a:t>your initial thoughts on the </a:t>
                      </a:r>
                      <a:r>
                        <a:rPr lang="en-US" sz="1300" b="1" i="0" kern="1200">
                          <a:solidFill>
                            <a:schemeClr val="dk1"/>
                          </a:solidFill>
                          <a:effectLst/>
                          <a:latin typeface="+mn-lt"/>
                          <a:ea typeface="+mn-ea"/>
                          <a:cs typeface="+mn-cs"/>
                        </a:rPr>
                        <a:t>high level requirements </a:t>
                      </a:r>
                      <a:r>
                        <a:rPr lang="en-US" sz="1300" b="0" i="0" kern="1200">
                          <a:solidFill>
                            <a:schemeClr val="dk1"/>
                          </a:solidFill>
                          <a:effectLst/>
                          <a:latin typeface="+mn-lt"/>
                          <a:ea typeface="+mn-ea"/>
                          <a:cs typeface="+mn-cs"/>
                        </a:rPr>
                        <a:t>that your project could potentially address </a:t>
                      </a:r>
                      <a:endParaRPr lang="en-US" sz="1300" b="0" i="0" kern="1200">
                        <a:solidFill>
                          <a:schemeClr val="dk1"/>
                        </a:solidFill>
                        <a:effectLst/>
                        <a:latin typeface="+mn-lt"/>
                        <a:ea typeface="+mn-ea"/>
                        <a:cs typeface="+mn-cs"/>
                      </a:endParaRPr>
                    </a:p>
                  </a:txBody>
                  <a:tcPr/>
                </a:tc>
                <a:tc>
                  <a:txBody>
                    <a:bodyPr/>
                    <a:lstStyle/>
                    <a:p>
                      <a:pPr lvl="0" algn="l">
                        <a:lnSpc>
                          <a:spcPct val="100000"/>
                        </a:lnSpc>
                        <a:spcBef>
                          <a:spcPts val="0"/>
                        </a:spcBef>
                        <a:spcAft>
                          <a:spcPts val="0"/>
                        </a:spcAft>
                        <a:buNone/>
                      </a:pPr>
                      <a:r>
                        <a:rPr lang="en-US" sz="1100" b="1" i="0" u="none" strike="noStrike" noProof="0"/>
                        <a:t>What</a:t>
                      </a:r>
                      <a:r>
                        <a:rPr lang="en-US" sz="1100" b="0" i="0" u="none" strike="noStrike" noProof="0"/>
                        <a:t>: An end-to-end data analytics web application. It ingests a</a:t>
                      </a:r>
                      <a:r>
                        <a:rPr lang="en-US" altLang="zh-CN" sz="1100" b="0" i="0" u="none" strike="noStrike" noProof="0"/>
                        <a:t> </a:t>
                      </a:r>
                      <a:endParaRPr lang="zh-CN" altLang="en-US"/>
                    </a:p>
                    <a:p>
                      <a:pPr lvl="0" algn="l">
                        <a:lnSpc>
                          <a:spcPct val="100000"/>
                        </a:lnSpc>
                        <a:spcBef>
                          <a:spcPts val="0"/>
                        </a:spcBef>
                        <a:spcAft>
                          <a:spcPts val="0"/>
                        </a:spcAft>
                        <a:buNone/>
                      </a:pPr>
                      <a:r>
                        <a:rPr lang="en-US" sz="1100" b="0" i="0" u="none" strike="noStrike" noProof="0"/>
                        <a:t>public dataset, models it in SQL, runs analytical workflows in Python, </a:t>
                      </a:r>
                      <a:endParaRPr lang="en-US"/>
                    </a:p>
                    <a:p>
                      <a:pPr lvl="0" algn="l">
                        <a:lnSpc>
                          <a:spcPct val="100000"/>
                        </a:lnSpc>
                        <a:spcBef>
                          <a:spcPts val="0"/>
                        </a:spcBef>
                        <a:spcAft>
                          <a:spcPts val="0"/>
                        </a:spcAft>
                        <a:buNone/>
                      </a:pPr>
                      <a:r>
                        <a:rPr lang="en-US" sz="1100" b="0" i="0" u="none" strike="noStrike" noProof="0"/>
                        <a:t>presents results through an interactive dashboard, and exposes a </a:t>
                      </a:r>
                      <a:endParaRPr lang="en-US"/>
                    </a:p>
                    <a:p>
                      <a:pPr lvl="0" algn="l">
                        <a:lnSpc>
                          <a:spcPct val="100000"/>
                        </a:lnSpc>
                        <a:spcBef>
                          <a:spcPts val="0"/>
                        </a:spcBef>
                        <a:spcAft>
                          <a:spcPts val="0"/>
                        </a:spcAft>
                        <a:buNone/>
                      </a:pPr>
                      <a:r>
                        <a:rPr lang="en-US" sz="1100" b="0" i="0" u="none" strike="noStrike" noProof="0"/>
                        <a:t>natural-language query interface powered by an LLM API.</a:t>
                      </a:r>
                      <a:endParaRPr lang="en-US"/>
                    </a:p>
                    <a:p>
                      <a:pPr lvl="0" algn="l">
                        <a:lnSpc>
                          <a:spcPct val="100000"/>
                        </a:lnSpc>
                        <a:spcBef>
                          <a:spcPts val="0"/>
                        </a:spcBef>
                        <a:spcAft>
                          <a:spcPts val="0"/>
                        </a:spcAft>
                        <a:buNone/>
                      </a:pPr>
                      <a:r>
                        <a:rPr lang="en-US" sz="1100" b="1" i="0" u="none" strike="noStrike" noProof="0"/>
                        <a:t>Why</a:t>
                      </a:r>
                      <a:r>
                        <a:rPr lang="en-US" sz="1100" b="0" i="0" u="none" strike="noStrike" noProof="0"/>
                        <a:t>: To build a complete project covering data, analytics, </a:t>
                      </a:r>
                      <a:endParaRPr lang="en-US"/>
                    </a:p>
                    <a:p>
                      <a:pPr lvl="0" algn="l">
                        <a:lnSpc>
                          <a:spcPct val="100000"/>
                        </a:lnSpc>
                        <a:spcBef>
                          <a:spcPts val="0"/>
                        </a:spcBef>
                        <a:spcAft>
                          <a:spcPts val="0"/>
                        </a:spcAft>
                        <a:buNone/>
                      </a:pPr>
                      <a:r>
                        <a:rPr lang="en-US" sz="1100" b="0" i="0" u="none" strike="noStrike" noProof="0"/>
                        <a:t>visualization, and AI integration in one system. Some components </a:t>
                      </a:r>
                      <a:endParaRPr lang="en-US"/>
                    </a:p>
                    <a:p>
                      <a:pPr lvl="0" algn="l">
                        <a:lnSpc>
                          <a:spcPct val="100000"/>
                        </a:lnSpc>
                        <a:spcBef>
                          <a:spcPts val="0"/>
                        </a:spcBef>
                        <a:spcAft>
                          <a:spcPts val="0"/>
                        </a:spcAft>
                        <a:buNone/>
                      </a:pPr>
                      <a:r>
                        <a:rPr lang="en-US" sz="1100" b="0" i="0" u="none" strike="noStrike" noProof="0"/>
                        <a:t>are new skills I want to develop through this project.</a:t>
                      </a:r>
                      <a:endParaRPr lang="en-US"/>
                    </a:p>
                    <a:p>
                      <a:pPr lvl="0" algn="l">
                        <a:lnSpc>
                          <a:spcPct val="100000"/>
                        </a:lnSpc>
                        <a:spcBef>
                          <a:spcPts val="0"/>
                        </a:spcBef>
                        <a:spcAft>
                          <a:spcPts val="0"/>
                        </a:spcAft>
                        <a:buNone/>
                      </a:pPr>
                      <a:r>
                        <a:rPr lang="en-US" sz="1100" b="1" i="0" u="none" strike="noStrike" noProof="0"/>
                        <a:t>Requirements</a:t>
                      </a:r>
                      <a:r>
                        <a:rPr lang="en-US" sz="1100" b="0" i="0" u="none" strike="noStrike" noProof="0"/>
                        <a:t>: SQL data modeling; Python analysis (including A/B </a:t>
                      </a:r>
                      <a:endParaRPr lang="en-US"/>
                    </a:p>
                    <a:p>
                      <a:pPr lvl="0" algn="l">
                        <a:lnSpc>
                          <a:spcPct val="100000"/>
                        </a:lnSpc>
                        <a:spcBef>
                          <a:spcPts val="0"/>
                        </a:spcBef>
                        <a:spcAft>
                          <a:spcPts val="0"/>
                        </a:spcAft>
                        <a:buNone/>
                      </a:pPr>
                      <a:r>
                        <a:rPr lang="en-US" sz="1100" b="0" i="0" u="none" strike="noStrike" noProof="0"/>
                        <a:t>testing and simple forecasting); interactive dashboard; LLM-based </a:t>
                      </a:r>
                      <a:endParaRPr lang="en-US"/>
                    </a:p>
                    <a:p>
                      <a:pPr lvl="0" algn="l">
                        <a:lnSpc>
                          <a:spcPct val="100000"/>
                        </a:lnSpc>
                        <a:spcBef>
                          <a:spcPts val="0"/>
                        </a:spcBef>
                        <a:spcAft>
                          <a:spcPts val="0"/>
                        </a:spcAft>
                        <a:buNone/>
                      </a:pPr>
                      <a:r>
                        <a:rPr lang="en-US" sz="1100" b="0" i="0" u="none" strike="noStrike" noProof="0"/>
                        <a:t>natural-language query layer; evaluation of analytical accuracy and </a:t>
                      </a:r>
                      <a:endParaRPr lang="en-US"/>
                    </a:p>
                    <a:p>
                      <a:pPr lvl="0" algn="l">
                        <a:lnSpc>
                          <a:spcPct val="100000"/>
                        </a:lnSpc>
                        <a:spcBef>
                          <a:spcPts val="0"/>
                        </a:spcBef>
                        <a:spcAft>
                          <a:spcPts val="0"/>
                        </a:spcAft>
                        <a:buNone/>
                      </a:pPr>
                      <a:r>
                        <a:rPr lang="en-US" sz="1100" b="0" i="0" u="none" strike="noStrike" noProof="0"/>
                        <a:t>LLM query reliability</a:t>
                      </a:r>
                      <a:endParaRPr lang="en-US"/>
                    </a:p>
                  </a:txBody>
                  <a:tcPr/>
                </a:tc>
              </a:tr>
              <a:tr h="1041286">
                <a:tc>
                  <a:txBody>
                    <a:bodyPr/>
                    <a:lstStyle/>
                    <a:p>
                      <a:pPr marL="0" indent="0">
                        <a:buFont typeface="Arial" panose="020B0604020202090204" pitchFamily="34" charset="0"/>
                        <a:buNone/>
                      </a:pPr>
                      <a:r>
                        <a:rPr lang="en-US" sz="1300" b="0" i="0" kern="1200">
                          <a:solidFill>
                            <a:schemeClr val="dk1"/>
                          </a:solidFill>
                          <a:effectLst/>
                          <a:latin typeface="+mn-lt"/>
                          <a:ea typeface="+mn-ea"/>
                          <a:cs typeface="+mn-cs"/>
                        </a:rPr>
                        <a:t>Would you be interested in working on a </a:t>
                      </a:r>
                      <a:r>
                        <a:rPr lang="en-US" sz="1300" b="1" i="0" kern="1200">
                          <a:solidFill>
                            <a:schemeClr val="dk1"/>
                          </a:solidFill>
                          <a:effectLst/>
                          <a:latin typeface="+mn-lt"/>
                          <a:ea typeface="+mn-ea"/>
                          <a:cs typeface="+mn-cs"/>
                        </a:rPr>
                        <a:t>development project with a pre-existing customer within the University </a:t>
                      </a:r>
                      <a:r>
                        <a:rPr lang="en-US" sz="1300" b="0" i="0" kern="1200">
                          <a:solidFill>
                            <a:schemeClr val="dk1"/>
                          </a:solidFill>
                          <a:effectLst/>
                          <a:latin typeface="+mn-lt"/>
                          <a:ea typeface="+mn-ea"/>
                          <a:cs typeface="+mn-cs"/>
                        </a:rPr>
                        <a:t>(e.g. a School needing a specific web app to be built)</a:t>
                      </a:r>
                      <a:endParaRPr lang="en-US" sz="1300" b="0" i="0" kern="1200">
                        <a:solidFill>
                          <a:schemeClr val="dk1"/>
                        </a:solidFill>
                        <a:effectLst/>
                        <a:latin typeface="+mn-lt"/>
                        <a:ea typeface="+mn-ea"/>
                        <a:cs typeface="+mn-cs"/>
                      </a:endParaRPr>
                    </a:p>
                  </a:txBody>
                  <a:tcPr/>
                </a:tc>
                <a:tc>
                  <a:txBody>
                    <a:bodyPr/>
                    <a:lstStyle/>
                    <a:p>
                      <a:r>
                        <a:rPr lang="en-US" sz="1100"/>
                        <a:t>Yes</a:t>
                      </a:r>
                      <a:endParaRPr lang="en-GB" sz="1100"/>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Project Topic Ideation</a:t>
            </a:r>
            <a:br>
              <a:rPr lang="en-US"/>
            </a:br>
            <a:br>
              <a:rPr lang="en-US"/>
            </a:br>
            <a:r>
              <a:rPr lang="en-US" sz="3200" b="0"/>
              <a:t>Feedback from Supervisor</a:t>
            </a:r>
            <a:br>
              <a:rPr lang="en-US" sz="2700"/>
            </a:br>
            <a:br>
              <a:rPr lang="en-US" sz="1800"/>
            </a:br>
            <a:endParaRPr lang="en-GB"/>
          </a:p>
        </p:txBody>
      </p:sp>
      <p:sp>
        <p:nvSpPr>
          <p:cNvPr id="3" name="Footer Placeholder 2"/>
          <p:cNvSpPr>
            <a:spLocks noGrp="1"/>
          </p:cNvSpPr>
          <p:nvPr>
            <p:ph type="ftr" sz="quarter" idx="11"/>
          </p:nvPr>
        </p:nvSpPr>
        <p:spPr/>
        <p:txBody>
          <a:bodyPr/>
          <a:lstStyle/>
          <a:p>
            <a:pPr rtl="0"/>
            <a:r>
              <a:rPr lang="en-GB" noProof="0"/>
              <a:t>Presentation title</a:t>
            </a:r>
            <a:endParaRPr lang="en-GB" noProof="0"/>
          </a:p>
        </p:txBody>
      </p:sp>
      <p:sp>
        <p:nvSpPr>
          <p:cNvPr id="7" name="Date Placeholder 6"/>
          <p:cNvSpPr>
            <a:spLocks noGrp="1"/>
          </p:cNvSpPr>
          <p:nvPr>
            <p:ph type="dt" sz="half" idx="10"/>
          </p:nvPr>
        </p:nvSpPr>
        <p:spPr/>
        <p:txBody>
          <a:bodyPr/>
          <a:lstStyle/>
          <a:p>
            <a:pPr rtl="0">
              <a:defRPr/>
            </a:pPr>
            <a:r>
              <a:rPr lang="en-GB" noProof="0">
                <a:solidFill>
                  <a:prstClr val="black"/>
                </a:solidFill>
              </a:rPr>
              <a:t>2023</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4" name="Text Placeholder 5"/>
          <p:cNvSpPr>
            <a:spLocks noGrp="1"/>
          </p:cNvSpPr>
          <p:nvPr>
            <p:ph type="body" sz="quarter" idx="15"/>
          </p:nvPr>
        </p:nvSpPr>
        <p:spPr>
          <a:xfrm>
            <a:off x="4911725" y="479425"/>
            <a:ext cx="6599238" cy="5874385"/>
          </a:xfrm>
        </p:spPr>
        <p:txBody>
          <a:bodyPr vert="horz" lIns="91440" tIns="45720" rIns="91440" bIns="45720" rtlCol="0" anchor="t">
            <a:normAutofit/>
          </a:bodyPr>
          <a:lstStyle/>
          <a:p>
            <a:r>
              <a:rPr lang="en-GB" b="1">
                <a:ea typeface="+mn-lt"/>
                <a:cs typeface="+mn-lt"/>
              </a:rPr>
              <a:t>Overall Evaluation:</a:t>
            </a:r>
            <a:r>
              <a:rPr lang="en-GB">
                <a:ea typeface="+mn-lt"/>
                <a:cs typeface="+mn-lt"/>
              </a:rPr>
              <a:t> The supervisor confirmed that the general direction of the project topic is good and represents a highly promising start.</a:t>
            </a:r>
            <a:endParaRPr lang="en-US"/>
          </a:p>
          <a:p>
            <a:r>
              <a:rPr lang="en-GB" b="1">
                <a:ea typeface="+mn-lt"/>
                <a:cs typeface="+mn-lt"/>
              </a:rPr>
              <a:t>Scope Refinement (Key Action Item):</a:t>
            </a:r>
            <a:r>
              <a:rPr lang="en-GB">
                <a:ea typeface="+mn-lt"/>
                <a:cs typeface="+mn-lt"/>
              </a:rPr>
              <a:t> Need to drill down into the specific details before the next meeting to clearly define the exact project scope (determining what will be included and what will be excluded).</a:t>
            </a:r>
            <a:endParaRPr lang="en-GB"/>
          </a:p>
          <a:p>
            <a:r>
              <a:rPr lang="en-GB" b="1">
                <a:ea typeface="+mn-lt"/>
                <a:cs typeface="+mn-lt"/>
              </a:rPr>
              <a:t>Next Steps:</a:t>
            </a:r>
            <a:r>
              <a:rPr lang="en-GB">
                <a:ea typeface="+mn-lt"/>
                <a:cs typeface="+mn-lt"/>
              </a:rPr>
              <a:t> Focus on defining the detailed project requirements once the scope is finalized.</a:t>
            </a:r>
            <a:endParaRPr lang="en-GB"/>
          </a:p>
          <a:p>
            <a:r>
              <a:rPr lang="en-GB" b="1">
                <a:ea typeface="+mn-lt"/>
                <a:cs typeface="+mn-lt"/>
              </a:rPr>
              <a:t>Communication &amp; Follow-up:</a:t>
            </a:r>
            <a:r>
              <a:rPr lang="en-GB">
                <a:ea typeface="+mn-lt"/>
                <a:cs typeface="+mn-lt"/>
              </a:rPr>
              <a:t> Utilize the dedicated MS Teams channel to raise any interim questions or share ideas prior to the next 1-to-1 meeting at the end of June.</a:t>
            </a:r>
            <a:r>
              <a:rPr lang="en-GB" b="1" dirty="0"/>
              <a:t>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ctrTitle"/>
          </p:nvPr>
        </p:nvSpPr>
        <p:spPr/>
        <p:txBody>
          <a:bodyPr/>
          <a:lstStyle/>
          <a:p>
            <a:r>
              <a:rPr lang="en-US"/>
              <a:t>Project Proposal</a:t>
            </a:r>
            <a:endParaRPr lang="en-GB"/>
          </a:p>
        </p:txBody>
      </p:sp>
      <p:sp>
        <p:nvSpPr>
          <p:cNvPr id="10" name="Subtitle 9"/>
          <p:cNvSpPr>
            <a:spLocks noGrp="1"/>
          </p:cNvSpPr>
          <p:nvPr>
            <p:ph type="subTitle" idx="1"/>
          </p:nvPr>
        </p:nvSpPr>
        <p:spPr/>
        <p:txBody>
          <a:bodyPr/>
          <a:lstStyle/>
          <a:p>
            <a:r>
              <a:rPr lang="en-GB"/>
              <a:t>To be updated as the topic and scope become clearer from Week 1 onwards</a:t>
            </a:r>
            <a:endParaRPr lang="en-GB"/>
          </a:p>
        </p:txBody>
      </p:sp>
      <p:sp>
        <p:nvSpPr>
          <p:cNvPr id="3" name="Footer Placeholder 2"/>
          <p:cNvSpPr>
            <a:spLocks noGrp="1"/>
          </p:cNvSpPr>
          <p:nvPr>
            <p:ph type="ftr" sz="quarter" idx="11"/>
          </p:nvPr>
        </p:nvSpPr>
        <p:spPr/>
        <p:txBody>
          <a:bodyPr/>
          <a:lstStyle/>
          <a:p>
            <a:pPr rtl="0"/>
            <a:r>
              <a:rPr lang="en-GB" noProof="0"/>
              <a:t>Presentation title</a:t>
            </a:r>
            <a:endParaRPr lang="en-GB" noProof="0"/>
          </a:p>
        </p:txBody>
      </p:sp>
      <p:sp>
        <p:nvSpPr>
          <p:cNvPr id="7" name="Date Placeholder 6"/>
          <p:cNvSpPr>
            <a:spLocks noGrp="1"/>
          </p:cNvSpPr>
          <p:nvPr>
            <p:ph type="dt" sz="half" idx="10"/>
          </p:nvPr>
        </p:nvSpPr>
        <p:spPr/>
        <p:txBody>
          <a:bodyPr/>
          <a:lstStyle/>
          <a:p>
            <a:pPr rtl="0">
              <a:defRPr/>
            </a:pPr>
            <a:r>
              <a:rPr lang="en-GB" noProof="0">
                <a:solidFill>
                  <a:prstClr val="black"/>
                </a:solidFill>
              </a:rPr>
              <a:t>20XX</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Proposed Project</a:t>
            </a:r>
            <a:br>
              <a:rPr lang="en-US"/>
            </a:br>
            <a:br>
              <a:rPr lang="en-US"/>
            </a:br>
            <a:r>
              <a:rPr lang="en-US" sz="2200" b="0"/>
              <a:t>Based on the feedback and discussion with your supervisor, now refine your understanding of your project topic and aims.</a:t>
            </a:r>
            <a:br>
              <a:rPr lang="en-US" sz="2200" b="0"/>
            </a:br>
            <a:br>
              <a:rPr lang="en-US" sz="2200" b="0"/>
            </a:br>
            <a:r>
              <a:rPr lang="en-US" sz="2200" b="0"/>
              <a:t>This should be agreed with your supervisor by </a:t>
            </a:r>
            <a:r>
              <a:rPr lang="en-US" sz="2200">
                <a:solidFill>
                  <a:srgbClr val="FF0000"/>
                </a:solidFill>
              </a:rPr>
              <a:t>the start of Week 2 </a:t>
            </a:r>
            <a:r>
              <a:rPr lang="en-US" sz="2200" b="0"/>
              <a:t>at the latest.</a:t>
            </a:r>
            <a:endParaRPr lang="en-GB" b="0"/>
          </a:p>
        </p:txBody>
      </p:sp>
      <p:sp>
        <p:nvSpPr>
          <p:cNvPr id="7" name="Date Placeholder 6"/>
          <p:cNvSpPr>
            <a:spLocks noGrp="1"/>
          </p:cNvSpPr>
          <p:nvPr>
            <p:ph type="dt" sz="half" idx="10"/>
          </p:nvPr>
        </p:nvSpPr>
        <p:spPr/>
        <p:txBody>
          <a:bodyPr/>
          <a:lstStyle/>
          <a:p>
            <a:pPr rtl="0">
              <a:defRPr/>
            </a:pPr>
            <a:r>
              <a:rPr lang="en-GB" noProof="0">
                <a:solidFill>
                  <a:prstClr val="black"/>
                </a:solidFill>
              </a:rPr>
              <a:t>2023</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graphicFrame>
        <p:nvGraphicFramePr>
          <p:cNvPr id="9" name="Table 4"/>
          <p:cNvGraphicFramePr>
            <a:graphicFrameLocks noGrp="1"/>
          </p:cNvGraphicFramePr>
          <p:nvPr>
            <p:custDataLst>
              <p:tags r:id="rId1"/>
            </p:custDataLst>
          </p:nvPr>
        </p:nvGraphicFramePr>
        <p:xfrm>
          <a:off x="4072890" y="-635"/>
          <a:ext cx="8119110" cy="6858635"/>
        </p:xfrm>
        <a:graphic>
          <a:graphicData uri="http://schemas.openxmlformats.org/drawingml/2006/table">
            <a:tbl>
              <a:tblPr firstRow="1" bandRow="1">
                <a:tableStyleId>{5C22544A-7EE6-4342-B048-85BDC9FD1C3A}</a:tableStyleId>
              </a:tblPr>
              <a:tblGrid>
                <a:gridCol w="3900170"/>
                <a:gridCol w="4218940"/>
              </a:tblGrid>
              <a:tr h="304800">
                <a:tc>
                  <a:txBody>
                    <a:bodyPr/>
                    <a:lstStyle/>
                    <a:p>
                      <a:r>
                        <a:rPr lang="en-US" sz="1100"/>
                        <a:t>Question</a:t>
                      </a:r>
                      <a:endParaRPr lang="en-GB" sz="1100"/>
                    </a:p>
                  </a:txBody>
                  <a:tcPr/>
                </a:tc>
                <a:tc>
                  <a:txBody>
                    <a:bodyPr/>
                    <a:lstStyle/>
                    <a:p>
                      <a:r>
                        <a:rPr lang="en-US" sz="1100"/>
                        <a:t>Your Response</a:t>
                      </a:r>
                      <a:endParaRPr lang="en-GB" sz="1100"/>
                    </a:p>
                  </a:txBody>
                  <a:tcPr/>
                </a:tc>
              </a:tr>
              <a:tr h="1511935">
                <a:tc>
                  <a:txBody>
                    <a:bodyPr/>
                    <a:lstStyle/>
                    <a:p>
                      <a:r>
                        <a:rPr lang="en-US" sz="1600" b="0" i="0" kern="1200">
                          <a:solidFill>
                            <a:schemeClr val="dk1"/>
                          </a:solidFill>
                          <a:effectLst/>
                          <a:latin typeface="+mn-lt"/>
                          <a:ea typeface="+mn-ea"/>
                          <a:cs typeface="+mn-cs"/>
                        </a:rPr>
                        <a:t>What </a:t>
                      </a:r>
                      <a:r>
                        <a:rPr lang="en-US" sz="1600" b="1" i="0" kern="1200">
                          <a:solidFill>
                            <a:schemeClr val="dk1"/>
                          </a:solidFill>
                          <a:effectLst/>
                          <a:latin typeface="+mn-lt"/>
                          <a:ea typeface="+mn-ea"/>
                          <a:cs typeface="+mn-cs"/>
                        </a:rPr>
                        <a:t>type of application </a:t>
                      </a:r>
                      <a:r>
                        <a:rPr lang="en-US" sz="1600" b="0" i="0" kern="1200">
                          <a:solidFill>
                            <a:schemeClr val="dk1"/>
                          </a:solidFill>
                          <a:effectLst/>
                          <a:latin typeface="+mn-lt"/>
                          <a:ea typeface="+mn-ea"/>
                          <a:cs typeface="+mn-cs"/>
                        </a:rPr>
                        <a:t>(e.g. Web app, Mobile app, Desktops app, Service/API, Cloud app etc.) are you going to develop?</a:t>
                      </a:r>
                      <a:endParaRPr lang="en-GB" sz="1600"/>
                    </a:p>
                  </a:txBody>
                  <a:tcPr/>
                </a:tc>
                <a:tc>
                  <a:txBody>
                    <a:bodyPr wrap="square"/>
                    <a:lstStyle/>
                    <a:p>
                      <a:pPr>
                        <a:spcBef>
                          <a:spcPts val="0"/>
                        </a:spcBef>
                        <a:spcAft>
                          <a:spcPts val="0"/>
                        </a:spcAft>
                      </a:pPr>
                      <a:r>
                        <a:rPr sz="1000">
                          <a:solidFill>
                            <a:srgbClr val="1A1A1A"/>
                          </a:solidFill>
                        </a:rPr>
                        <a:t>A web application — a configurable self-serve data-analysis product. You upload data tables and declare what each column means (role + join key) with no code; the system progressively unlocks the matching analyses (KPIs, cohort, RFM…). Being config-driven (not hard-coded to one domain) it works across domains, with built-in models per domain (deeply demonstrated on e-commerce + a 2nd domain). A natural-language (NL→SQL) layer lets non-technical users query directly; it also supports multiple parallel projects.</a:t>
                      </a:r>
                      <a:endParaRPr lang="en-GB" sz="1100"/>
                    </a:p>
                  </a:txBody>
                  <a:tcPr/>
                </a:tc>
              </a:tr>
              <a:tr h="2111375">
                <a:tc>
                  <a:txBody>
                    <a:bodyPr/>
                    <a:lstStyle/>
                    <a:p>
                      <a:r>
                        <a:rPr lang="en-US" sz="1600" b="0" i="0" kern="1200">
                          <a:solidFill>
                            <a:schemeClr val="dk1"/>
                          </a:solidFill>
                          <a:effectLst/>
                          <a:latin typeface="+mn-lt"/>
                          <a:ea typeface="+mn-ea"/>
                          <a:cs typeface="+mn-cs"/>
                        </a:rPr>
                        <a:t>What </a:t>
                      </a:r>
                      <a:r>
                        <a:rPr lang="en-US" sz="1600" b="1" i="0" kern="1200">
                          <a:solidFill>
                            <a:schemeClr val="dk1"/>
                          </a:solidFill>
                          <a:effectLst/>
                          <a:latin typeface="+mn-lt"/>
                          <a:ea typeface="+mn-ea"/>
                          <a:cs typeface="+mn-cs"/>
                        </a:rPr>
                        <a:t>technologies</a:t>
                      </a:r>
                      <a:r>
                        <a:rPr lang="en-US" sz="1600" b="0" i="0" kern="1200">
                          <a:solidFill>
                            <a:schemeClr val="dk1"/>
                          </a:solidFill>
                          <a:effectLst/>
                          <a:latin typeface="+mn-lt"/>
                          <a:ea typeface="+mn-ea"/>
                          <a:cs typeface="+mn-cs"/>
                        </a:rPr>
                        <a:t> are you going to develop using? (e.g. what framework, stack, programming languages </a:t>
                      </a:r>
                      <a:r>
                        <a:rPr lang="en-US" sz="1600" b="0" i="0" kern="1200" err="1">
                          <a:solidFill>
                            <a:schemeClr val="dk1"/>
                          </a:solidFill>
                          <a:effectLst/>
                          <a:latin typeface="+mn-lt"/>
                          <a:ea typeface="+mn-ea"/>
                          <a:cs typeface="+mn-cs"/>
                        </a:rPr>
                        <a:t>etc</a:t>
                      </a:r>
                      <a:r>
                        <a:rPr lang="en-US" sz="1600" b="0" i="0" kern="1200">
                          <a:solidFill>
                            <a:schemeClr val="dk1"/>
                          </a:solidFill>
                          <a:effectLst/>
                          <a:latin typeface="+mn-lt"/>
                          <a:ea typeface="+mn-ea"/>
                          <a:cs typeface="+mn-cs"/>
                        </a:rPr>
                        <a:t>). </a:t>
                      </a:r>
                      <a:endParaRPr lang="en-US" sz="1600" b="0" i="0" kern="1200">
                        <a:solidFill>
                          <a:schemeClr val="dk1"/>
                        </a:solidFill>
                        <a:effectLst/>
                        <a:latin typeface="+mn-lt"/>
                        <a:ea typeface="+mn-ea"/>
                        <a:cs typeface="+mn-cs"/>
                      </a:endParaRPr>
                    </a:p>
                    <a:p>
                      <a:r>
                        <a:rPr lang="en-US" sz="1600" b="0" i="0" kern="1200">
                          <a:solidFill>
                            <a:schemeClr val="dk1"/>
                          </a:solidFill>
                          <a:effectLst/>
                          <a:latin typeface="+mn-lt"/>
                          <a:ea typeface="+mn-ea"/>
                          <a:cs typeface="+mn-cs"/>
                        </a:rPr>
                        <a:t>If these are technologies other than what you have gained experience with through the MSc IT+ course, justify this.</a:t>
                      </a:r>
                      <a:endParaRPr lang="en-US" sz="1600" b="0" i="0" kern="1200">
                        <a:solidFill>
                          <a:schemeClr val="dk1"/>
                        </a:solidFill>
                        <a:effectLst/>
                        <a:latin typeface="+mn-lt"/>
                        <a:ea typeface="+mn-ea"/>
                        <a:cs typeface="+mn-cs"/>
                      </a:endParaRPr>
                    </a:p>
                  </a:txBody>
                  <a:tcPr/>
                </a:tc>
                <a:tc>
                  <a:txBody>
                    <a:bodyPr wrap="square"/>
                    <a:lstStyle/>
                    <a:p>
                      <a:pPr>
                        <a:spcBef>
                          <a:spcPts val="0"/>
                        </a:spcBef>
                        <a:spcAft>
                          <a:spcPts val="100"/>
                        </a:spcAft>
                      </a:pPr>
                      <a:r>
                        <a:rPr sz="950">
                          <a:solidFill>
                            <a:srgbClr val="1A1A1A"/>
                          </a:solidFill>
                        </a:rPr>
                        <a:t>Stack: Python (Pandas), PostgreSQL, Streamlit, an LLM API, Power BI, Git/GitLab.</a:t>
                      </a:r>
                      <a:endParaRPr lang="en-GB" sz="1100"/>
                    </a:p>
                    <a:p>
                      <a:pPr>
                        <a:spcBef>
                          <a:spcPts val="0"/>
                        </a:spcBef>
                        <a:spcAft>
                          <a:spcPts val="100"/>
                        </a:spcAft>
                      </a:pPr>
                      <a:r>
                        <a:rPr sz="950">
                          <a:solidFill>
                            <a:srgbClr val="1A1A1A"/>
                          </a:solidFill>
                        </a:rPr>
                        <a:t>New beyond the course — PostgreSQL, Streamlit, Power BI — chosen as the stack for my target BI / Data Analyst roles (Power BI is a top-requested DA skill; PostgreSQL is an industry-standard free DB). I use Streamlit, not Django (which I know), because Django suits full websites while Streamlit is lightweight and builds the data app + LLM query UI directly in Python.</a:t>
                      </a:r>
                      <a:endParaRPr sz="950">
                        <a:solidFill>
                          <a:srgbClr val="1A1A1A"/>
                        </a:solidFill>
                      </a:endParaRPr>
                    </a:p>
                  </a:txBody>
                  <a:tcPr/>
                </a:tc>
              </a:tr>
              <a:tr h="2930525">
                <a:tc>
                  <a:txBody>
                    <a:bodyPr/>
                    <a:lstStyle/>
                    <a:p>
                      <a:r>
                        <a:rPr lang="en-US" sz="1600" b="0" i="0" kern="1200">
                          <a:solidFill>
                            <a:schemeClr val="dk1"/>
                          </a:solidFill>
                          <a:effectLst/>
                          <a:latin typeface="+mn-lt"/>
                          <a:ea typeface="+mn-ea"/>
                          <a:cs typeface="+mn-cs"/>
                        </a:rPr>
                        <a:t>Describe your </a:t>
                      </a:r>
                      <a:r>
                        <a:rPr lang="en-US" sz="1600" b="1" i="0" kern="1200">
                          <a:solidFill>
                            <a:schemeClr val="dk1"/>
                          </a:solidFill>
                          <a:effectLst/>
                          <a:latin typeface="+mn-lt"/>
                          <a:ea typeface="+mn-ea"/>
                          <a:cs typeface="+mn-cs"/>
                        </a:rPr>
                        <a:t>project topic</a:t>
                      </a:r>
                      <a:r>
                        <a:rPr lang="en-US" sz="1600" b="0" i="0" kern="1200">
                          <a:solidFill>
                            <a:schemeClr val="dk1"/>
                          </a:solidFill>
                          <a:effectLst/>
                          <a:latin typeface="+mn-lt"/>
                          <a:ea typeface="+mn-ea"/>
                          <a:cs typeface="+mn-cs"/>
                        </a:rPr>
                        <a:t> and </a:t>
                      </a:r>
                      <a:r>
                        <a:rPr lang="en-US" sz="1600" b="1" i="0" kern="1200">
                          <a:solidFill>
                            <a:schemeClr val="dk1"/>
                          </a:solidFill>
                          <a:effectLst/>
                          <a:latin typeface="+mn-lt"/>
                          <a:ea typeface="+mn-ea"/>
                          <a:cs typeface="+mn-cs"/>
                        </a:rPr>
                        <a:t>aims</a:t>
                      </a:r>
                      <a:r>
                        <a:rPr lang="en-US" sz="1600" b="0" i="0" kern="1200">
                          <a:solidFill>
                            <a:schemeClr val="dk1"/>
                          </a:solidFill>
                          <a:effectLst/>
                          <a:latin typeface="+mn-lt"/>
                          <a:ea typeface="+mn-ea"/>
                          <a:cs typeface="+mn-cs"/>
                        </a:rPr>
                        <a:t>, considering:</a:t>
                      </a:r>
                      <a:endParaRPr lang="en-US" sz="1600" b="0" i="0" kern="1200">
                        <a:solidFill>
                          <a:schemeClr val="dk1"/>
                        </a:solidFill>
                        <a:effectLst/>
                        <a:latin typeface="+mn-lt"/>
                        <a:ea typeface="+mn-ea"/>
                        <a:cs typeface="+mn-cs"/>
                      </a:endParaRPr>
                    </a:p>
                    <a:p>
                      <a:endParaRPr lang="en-US" sz="1600" b="0" i="0" kern="1200">
                        <a:solidFill>
                          <a:schemeClr val="dk1"/>
                        </a:solidFill>
                        <a:effectLst/>
                        <a:latin typeface="+mn-lt"/>
                        <a:ea typeface="+mn-ea"/>
                        <a:cs typeface="+mn-cs"/>
                      </a:endParaRPr>
                    </a:p>
                    <a:p>
                      <a:pPr marL="342900" indent="-342900">
                        <a:buFont typeface="Arial" panose="020B0604020202090204" pitchFamily="34" charset="0"/>
                        <a:buChar char="•"/>
                      </a:pPr>
                      <a:r>
                        <a:rPr lang="en-US" sz="1600" b="1" i="0" kern="1200">
                          <a:solidFill>
                            <a:schemeClr val="dk1"/>
                          </a:solidFill>
                          <a:effectLst/>
                          <a:latin typeface="+mn-lt"/>
                          <a:ea typeface="+mn-ea"/>
                          <a:cs typeface="+mn-cs"/>
                        </a:rPr>
                        <a:t>what</a:t>
                      </a:r>
                      <a:r>
                        <a:rPr lang="en-US" sz="1600" b="0" i="0" kern="1200">
                          <a:solidFill>
                            <a:schemeClr val="dk1"/>
                          </a:solidFill>
                          <a:effectLst/>
                          <a:latin typeface="+mn-lt"/>
                          <a:ea typeface="+mn-ea"/>
                          <a:cs typeface="+mn-cs"/>
                        </a:rPr>
                        <a:t> the development project would aim to produce</a:t>
                      </a:r>
                      <a:endParaRPr lang="en-US" sz="1600" b="0" i="0" kern="1200">
                        <a:solidFill>
                          <a:schemeClr val="dk1"/>
                        </a:solidFill>
                        <a:effectLst/>
                        <a:latin typeface="+mn-lt"/>
                        <a:ea typeface="+mn-ea"/>
                        <a:cs typeface="+mn-cs"/>
                      </a:endParaRPr>
                    </a:p>
                    <a:p>
                      <a:pPr marL="342900" indent="-342900">
                        <a:buFont typeface="Arial" panose="020B0604020202090204" pitchFamily="34" charset="0"/>
                        <a:buChar char="•"/>
                      </a:pPr>
                      <a:r>
                        <a:rPr lang="en-US" sz="1600" b="1" i="0" kern="1200">
                          <a:solidFill>
                            <a:schemeClr val="dk1"/>
                          </a:solidFill>
                          <a:effectLst/>
                          <a:latin typeface="+mn-lt"/>
                          <a:ea typeface="+mn-ea"/>
                          <a:cs typeface="+mn-cs"/>
                        </a:rPr>
                        <a:t>why</a:t>
                      </a:r>
                      <a:r>
                        <a:rPr lang="en-US" sz="1600" b="0" i="0" kern="1200">
                          <a:solidFill>
                            <a:schemeClr val="dk1"/>
                          </a:solidFill>
                          <a:effectLst/>
                          <a:latin typeface="+mn-lt"/>
                          <a:ea typeface="+mn-ea"/>
                          <a:cs typeface="+mn-cs"/>
                        </a:rPr>
                        <a:t> you want to pursue this</a:t>
                      </a:r>
                      <a:endParaRPr lang="en-US" sz="1600" b="0" i="0" kern="1200">
                        <a:solidFill>
                          <a:schemeClr val="dk1"/>
                        </a:solidFill>
                        <a:effectLst/>
                        <a:latin typeface="+mn-lt"/>
                        <a:ea typeface="+mn-ea"/>
                        <a:cs typeface="+mn-cs"/>
                      </a:endParaRPr>
                    </a:p>
                    <a:p>
                      <a:pPr marL="342900" indent="-342900">
                        <a:buFont typeface="Arial" panose="020B0604020202090204" pitchFamily="34" charset="0"/>
                        <a:buChar char="•"/>
                      </a:pPr>
                      <a:r>
                        <a:rPr lang="en-US" sz="1600" b="0" i="0" kern="1200">
                          <a:solidFill>
                            <a:schemeClr val="dk1"/>
                          </a:solidFill>
                          <a:effectLst/>
                          <a:latin typeface="+mn-lt"/>
                          <a:ea typeface="+mn-ea"/>
                          <a:cs typeface="+mn-cs"/>
                        </a:rPr>
                        <a:t>your initial thoughts on the </a:t>
                      </a:r>
                      <a:r>
                        <a:rPr lang="en-US" sz="1600" b="1" i="0" kern="1200">
                          <a:solidFill>
                            <a:schemeClr val="dk1"/>
                          </a:solidFill>
                          <a:effectLst/>
                          <a:latin typeface="+mn-lt"/>
                          <a:ea typeface="+mn-ea"/>
                          <a:cs typeface="+mn-cs"/>
                        </a:rPr>
                        <a:t>high level requirements </a:t>
                      </a:r>
                      <a:r>
                        <a:rPr lang="en-US" sz="1600" b="0" i="0" kern="1200">
                          <a:solidFill>
                            <a:schemeClr val="dk1"/>
                          </a:solidFill>
                          <a:effectLst/>
                          <a:latin typeface="+mn-lt"/>
                          <a:ea typeface="+mn-ea"/>
                          <a:cs typeface="+mn-cs"/>
                        </a:rPr>
                        <a:t>that your project could potentially address </a:t>
                      </a:r>
                      <a:endParaRPr lang="en-US" sz="1600" b="0" i="0" kern="1200">
                        <a:solidFill>
                          <a:schemeClr val="dk1"/>
                        </a:solidFill>
                        <a:effectLst/>
                        <a:latin typeface="+mn-lt"/>
                        <a:ea typeface="+mn-ea"/>
                        <a:cs typeface="+mn-cs"/>
                      </a:endParaRPr>
                    </a:p>
                    <a:p>
                      <a:endParaRPr lang="en-GB" sz="1600"/>
                    </a:p>
                  </a:txBody>
                  <a:tcPr/>
                </a:tc>
                <a:tc>
                  <a:txBody>
                    <a:bodyPr wrap="square"/>
                    <a:lstStyle/>
                    <a:p>
                      <a:pPr>
                        <a:spcBef>
                          <a:spcPts val="0"/>
                        </a:spcBef>
                        <a:spcAft>
                          <a:spcPts val="300"/>
                        </a:spcAft>
                      </a:pPr>
                      <a:r>
                        <a:rPr sz="850">
                          <a:solidFill>
                            <a:srgbClr val="1A1A1A"/>
                          </a:solidFill>
                        </a:rPr>
                        <a:t>What it produces: a configurable self-serve data-analysis product. You upload tables; the tool auto-profiles &amp; cleans them (AI-assisted suggestions, flag to confirm), then you declare each column's role + join key (no code); the system progressively unlocks the matching analyses (KPIs, cohort, RFM…) as joinable data arrives. Being config-driven, it works across domains, demonstrated deeply on e-commerce + a 2nd domain. A natural-language layer (NL→SQL, shows the SQL) lets non-technical users ask directly.</a:t>
                      </a:r>
                      <a:endParaRPr lang="en-GB" sz="1100"/>
                    </a:p>
                    <a:p>
                      <a:pPr>
                        <a:spcBef>
                          <a:spcPts val="0"/>
                        </a:spcBef>
                        <a:spcAft>
                          <a:spcPts val="300"/>
                        </a:spcAft>
                      </a:pPr>
                      <a:r>
                        <a:rPr sz="850">
                          <a:solidFill>
                            <a:srgbClr val="1A1A1A"/>
                          </a:solidFill>
                        </a:rPr>
                        <a:t>Why: builds the exact stack for my target BI / Data Analyst roles; and offers accessible AND trustworthy self-serve analytics (transparent, self-hostable, no-code) vs closed enterprise tools and risky “paste-into-a-chatbot” analytics.</a:t>
                      </a:r>
                      <a:endParaRPr sz="850">
                        <a:solidFill>
                          <a:srgbClr val="1A1A1A"/>
                        </a:solidFill>
                      </a:endParaRPr>
                    </a:p>
                    <a:p>
                      <a:pPr>
                        <a:spcBef>
                          <a:spcPts val="0"/>
                        </a:spcBef>
                        <a:spcAft>
                          <a:spcPts val="100"/>
                        </a:spcAft>
                      </a:pPr>
                      <a:r>
                        <a:rPr sz="850">
                          <a:solidFill>
                            <a:srgbClr val="1A1A1A"/>
                          </a:solidFill>
                        </a:rPr>
                        <a:t>Key requirements:</a:t>
                      </a:r>
                      <a:endParaRPr sz="850">
                        <a:solidFill>
                          <a:srgbClr val="1A1A1A"/>
                        </a:solidFill>
                      </a:endParaRPr>
                    </a:p>
                    <a:p>
                      <a:pPr>
                        <a:spcBef>
                          <a:spcPts val="0"/>
                        </a:spcBef>
                        <a:spcAft>
                          <a:spcPts val="100"/>
                        </a:spcAft>
                      </a:pPr>
                      <a:r>
                        <a:rPr sz="850">
                          <a:solidFill>
                            <a:srgbClr val="1A1A1A"/>
                          </a:solidFill>
                        </a:rPr>
                        <a:t>•  Upload: profile + auto-clean (flag issues to confirm) + no-code semantic config (roles + join keys)</a:t>
                      </a:r>
                      <a:endParaRPr sz="850">
                        <a:solidFill>
                          <a:srgbClr val="1A1A1A"/>
                        </a:solidFill>
                      </a:endParaRPr>
                    </a:p>
                    <a:p>
                      <a:pPr>
                        <a:spcBef>
                          <a:spcPts val="0"/>
                        </a:spcBef>
                        <a:spcAft>
                          <a:spcPts val="100"/>
                        </a:spcAft>
                      </a:pPr>
                      <a:r>
                        <a:rPr sz="850">
                          <a:solidFill>
                            <a:srgbClr val="1A1A1A"/>
                          </a:solidFill>
                        </a:rPr>
                        <a:t>•  Data registry + progressive-unlock engine</a:t>
                      </a:r>
                      <a:endParaRPr sz="850">
                        <a:solidFill>
                          <a:srgbClr val="1A1A1A"/>
                        </a:solidFill>
                      </a:endParaRPr>
                    </a:p>
                    <a:p>
                      <a:pPr>
                        <a:spcBef>
                          <a:spcPts val="0"/>
                        </a:spcBef>
                        <a:spcAft>
                          <a:spcPts val="100"/>
                        </a:spcAft>
                      </a:pPr>
                      <a:r>
                        <a:rPr sz="850">
                          <a:solidFill>
                            <a:srgbClr val="1A1A1A"/>
                          </a:solidFill>
                        </a:rPr>
                        <a:t>•  Multi-domain analysis templates (e-commerce + a 2nd domain)</a:t>
                      </a:r>
                      <a:endParaRPr sz="850">
                        <a:solidFill>
                          <a:srgbClr val="1A1A1A"/>
                        </a:solidFill>
                      </a:endParaRPr>
                    </a:p>
                    <a:p>
                      <a:pPr>
                        <a:spcBef>
                          <a:spcPts val="0"/>
                        </a:spcBef>
                        <a:spcAft>
                          <a:spcPts val="100"/>
                        </a:spcAft>
                      </a:pPr>
                      <a:r>
                        <a:rPr sz="850">
                          <a:solidFill>
                            <a:srgbClr val="1A1A1A"/>
                          </a:solidFill>
                        </a:rPr>
                        <a:t>•  Natural-language query (NL→SQL, safe, shows SQL) + dashboard</a:t>
                      </a:r>
                      <a:endParaRPr sz="850">
                        <a:solidFill>
                          <a:srgbClr val="1A1A1A"/>
                        </a:solidFill>
                      </a:endParaRPr>
                    </a:p>
                    <a:p>
                      <a:pPr>
                        <a:spcBef>
                          <a:spcPts val="0"/>
                        </a:spcBef>
                        <a:spcAft>
                          <a:spcPts val="100"/>
                        </a:spcAft>
                      </a:pPr>
                      <a:r>
                        <a:rPr sz="850">
                          <a:solidFill>
                            <a:srgbClr val="1A1A1A"/>
                          </a:solidFill>
                        </a:rPr>
                        <a:t>•  Multi-project support (parallel projects)</a:t>
                      </a:r>
                      <a:endParaRPr sz="850">
                        <a:solidFill>
                          <a:srgbClr val="1A1A1A"/>
                        </a:solidFill>
                      </a:endParaRPr>
                    </a:p>
                    <a:p>
                      <a:pPr>
                        <a:spcBef>
                          <a:spcPts val="0"/>
                        </a:spcBef>
                        <a:spcAft>
                          <a:spcPts val="100"/>
                        </a:spcAft>
                      </a:pPr>
                      <a:r>
                        <a:rPr sz="850">
                          <a:solidFill>
                            <a:srgbClr val="1A1A1A"/>
                          </a:solidFill>
                        </a:rPr>
                        <a:t>•  Evaluation: benchmark + a small user study</a:t>
                      </a:r>
                      <a:endParaRPr sz="850">
                        <a:solidFill>
                          <a:srgbClr val="1A1A1A"/>
                        </a:solidFill>
                      </a:endParaRPr>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264" y="776941"/>
            <a:ext cx="3209008" cy="5783516"/>
          </a:xfrm>
        </p:spPr>
        <p:txBody>
          <a:bodyPr>
            <a:normAutofit fontScale="90000"/>
          </a:bodyPr>
          <a:lstStyle/>
          <a:p>
            <a:r>
              <a:rPr lang="en-US"/>
              <a:t>Changes to Proposed Project</a:t>
            </a:r>
            <a:br>
              <a:rPr lang="en-US"/>
            </a:br>
            <a:br>
              <a:rPr lang="en-US"/>
            </a:br>
            <a:r>
              <a:rPr lang="en-US" sz="2200" b="0"/>
              <a:t>As you progress through the 12 week project, keep a note of any changes to the proposed project topic, aims, technologies used etc. here. </a:t>
            </a:r>
            <a:br>
              <a:rPr lang="en-US" sz="2200" b="0"/>
            </a:br>
            <a:br>
              <a:rPr lang="en-US" sz="2200" b="0"/>
            </a:br>
            <a:r>
              <a:rPr lang="en-US" sz="2200" b="0"/>
              <a:t>This will help your supervisor to understand how the project has evolved and why.</a:t>
            </a:r>
            <a:endParaRPr lang="en-GB" b="0"/>
          </a:p>
        </p:txBody>
      </p:sp>
      <p:sp>
        <p:nvSpPr>
          <p:cNvPr id="7" name="Date Placeholder 6"/>
          <p:cNvSpPr>
            <a:spLocks noGrp="1"/>
          </p:cNvSpPr>
          <p:nvPr>
            <p:ph type="dt" sz="half" idx="10"/>
          </p:nvPr>
        </p:nvSpPr>
        <p:spPr/>
        <p:txBody>
          <a:bodyPr/>
          <a:lstStyle/>
          <a:p>
            <a:pPr rtl="0">
              <a:defRPr/>
            </a:pPr>
            <a:r>
              <a:rPr lang="en-GB" noProof="0">
                <a:solidFill>
                  <a:prstClr val="black"/>
                </a:solidFill>
              </a:rPr>
              <a:t>2023</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graphicFrame>
        <p:nvGraphicFramePr>
          <p:cNvPr id="9" name="Table 4"/>
          <p:cNvGraphicFramePr>
            <a:graphicFrameLocks noGrp="1"/>
          </p:cNvGraphicFramePr>
          <p:nvPr/>
        </p:nvGraphicFramePr>
        <p:xfrm>
          <a:off x="4229100" y="1586838"/>
          <a:ext cx="7767826" cy="3329667"/>
        </p:xfrm>
        <a:graphic>
          <a:graphicData uri="http://schemas.openxmlformats.org/drawingml/2006/table">
            <a:tbl>
              <a:tblPr firstRow="1" bandRow="1">
                <a:tableStyleId>{5C22544A-7EE6-4342-B048-85BDC9FD1C3A}</a:tableStyleId>
              </a:tblPr>
              <a:tblGrid>
                <a:gridCol w="1865850"/>
                <a:gridCol w="1865850"/>
                <a:gridCol w="2018063"/>
                <a:gridCol w="2018063"/>
              </a:tblGrid>
              <a:tr h="176546">
                <a:tc>
                  <a:txBody>
                    <a:bodyPr/>
                    <a:lstStyle/>
                    <a:p>
                      <a:r>
                        <a:rPr lang="en-US" sz="1200"/>
                        <a:t>How did the project topic / aims / objectives change?</a:t>
                      </a:r>
                      <a:endParaRPr lang="en-GB" sz="1200"/>
                    </a:p>
                  </a:txBody>
                  <a:tcPr/>
                </a:tc>
                <a:tc>
                  <a:txBody>
                    <a:bodyPr/>
                    <a:lstStyle/>
                    <a:p>
                      <a:r>
                        <a:rPr lang="en-US" sz="1200"/>
                        <a:t>When did this change occur? (week / date)</a:t>
                      </a:r>
                      <a:endParaRPr lang="en-GB" sz="1200"/>
                    </a:p>
                  </a:txBody>
                  <a:tcPr/>
                </a:tc>
                <a:tc>
                  <a:txBody>
                    <a:bodyPr/>
                    <a:lstStyle/>
                    <a:p>
                      <a:r>
                        <a:rPr lang="en-US" sz="1200"/>
                        <a:t>Why did you make this change?</a:t>
                      </a:r>
                      <a:endParaRPr lang="en-GB" sz="1200"/>
                    </a:p>
                  </a:txBody>
                  <a:tcPr/>
                </a:tc>
                <a:tc>
                  <a:txBody>
                    <a:bodyPr/>
                    <a:lstStyle/>
                    <a:p>
                      <a:r>
                        <a:rPr lang="en-US" sz="1200"/>
                        <a:t>Has this been discussed with Supervisor?</a:t>
                      </a:r>
                      <a:endParaRPr lang="en-GB" sz="1200"/>
                    </a:p>
                  </a:txBody>
                  <a:tcPr/>
                </a:tc>
              </a:tr>
              <a:tr h="463447">
                <a:tc>
                  <a:txBody>
                    <a:bodyPr/>
                    <a:lstStyle/>
                    <a:p>
                      <a:endParaRPr lang="en-GB" sz="1600"/>
                    </a:p>
                  </a:txBody>
                  <a:tcPr/>
                </a:tc>
                <a:tc>
                  <a:txBody>
                    <a:bodyPr/>
                    <a:lstStyle/>
                    <a:p>
                      <a:endParaRPr lang="en-GB" sz="1600"/>
                    </a:p>
                  </a:txBody>
                  <a:tcPr/>
                </a:tc>
                <a:tc>
                  <a:txBody>
                    <a:bodyPr/>
                    <a:lstStyle/>
                    <a:p>
                      <a:endParaRPr lang="en-GB" sz="1100"/>
                    </a:p>
                  </a:txBody>
                  <a:tcPr/>
                </a:tc>
                <a:tc>
                  <a:txBody>
                    <a:bodyPr/>
                    <a:lstStyle/>
                    <a:p>
                      <a:endParaRPr lang="en-GB" sz="1100"/>
                    </a:p>
                  </a:txBody>
                  <a:tcPr/>
                </a:tc>
              </a:tr>
              <a:tr h="445228">
                <a:tc>
                  <a:txBody>
                    <a:bodyPr/>
                    <a:lstStyle/>
                    <a:p>
                      <a:endParaRPr lang="en-US" sz="1600" b="0" i="0" kern="1200">
                        <a:solidFill>
                          <a:schemeClr val="dk1"/>
                        </a:solidFill>
                        <a:effectLst/>
                        <a:latin typeface="+mn-lt"/>
                        <a:ea typeface="+mn-ea"/>
                        <a:cs typeface="+mn-cs"/>
                      </a:endParaRPr>
                    </a:p>
                  </a:txBody>
                  <a:tcPr/>
                </a:tc>
                <a:tc>
                  <a:txBody>
                    <a:bodyPr/>
                    <a:lstStyle/>
                    <a:p>
                      <a:endParaRPr lang="en-US" sz="1600" b="0" i="0" kern="1200">
                        <a:solidFill>
                          <a:schemeClr val="dk1"/>
                        </a:solidFill>
                        <a:effectLst/>
                        <a:latin typeface="+mn-lt"/>
                        <a:ea typeface="+mn-ea"/>
                        <a:cs typeface="+mn-cs"/>
                      </a:endParaRPr>
                    </a:p>
                  </a:txBody>
                  <a:tcPr/>
                </a:tc>
                <a:tc>
                  <a:txBody>
                    <a:bodyPr/>
                    <a:lstStyle/>
                    <a:p>
                      <a:endParaRPr lang="en-GB" sz="1100"/>
                    </a:p>
                  </a:txBody>
                  <a:tcPr/>
                </a:tc>
                <a:tc>
                  <a:txBody>
                    <a:bodyPr/>
                    <a:lstStyle/>
                    <a:p>
                      <a:endParaRPr lang="en-GB" sz="1100"/>
                    </a:p>
                  </a:txBody>
                  <a:tcPr/>
                </a:tc>
              </a:tr>
              <a:tr h="445228">
                <a:tc>
                  <a:txBody>
                    <a:bodyPr/>
                    <a:lstStyle/>
                    <a:p>
                      <a:endParaRPr lang="en-US" sz="1600" b="0" i="0" kern="1200">
                        <a:solidFill>
                          <a:schemeClr val="dk1"/>
                        </a:solidFill>
                        <a:effectLst/>
                        <a:latin typeface="+mn-lt"/>
                        <a:ea typeface="+mn-ea"/>
                        <a:cs typeface="+mn-cs"/>
                      </a:endParaRPr>
                    </a:p>
                  </a:txBody>
                  <a:tcPr/>
                </a:tc>
                <a:tc>
                  <a:txBody>
                    <a:bodyPr/>
                    <a:lstStyle/>
                    <a:p>
                      <a:endParaRPr lang="en-US" sz="1600" b="0" i="0" kern="1200">
                        <a:solidFill>
                          <a:schemeClr val="dk1"/>
                        </a:solidFill>
                        <a:effectLst/>
                        <a:latin typeface="+mn-lt"/>
                        <a:ea typeface="+mn-ea"/>
                        <a:cs typeface="+mn-cs"/>
                      </a:endParaRPr>
                    </a:p>
                  </a:txBody>
                  <a:tcPr/>
                </a:tc>
                <a:tc>
                  <a:txBody>
                    <a:bodyPr/>
                    <a:lstStyle/>
                    <a:p>
                      <a:endParaRPr lang="en-GB" sz="1100"/>
                    </a:p>
                  </a:txBody>
                  <a:tcPr/>
                </a:tc>
                <a:tc>
                  <a:txBody>
                    <a:bodyPr/>
                    <a:lstStyle/>
                    <a:p>
                      <a:endParaRPr lang="en-GB" sz="1100"/>
                    </a:p>
                  </a:txBody>
                  <a:tcPr/>
                </a:tc>
              </a:tr>
              <a:tr h="445228">
                <a:tc>
                  <a:txBody>
                    <a:bodyPr/>
                    <a:lstStyle/>
                    <a:p>
                      <a:endParaRPr lang="en-US" sz="1600" b="0" i="0" kern="1200">
                        <a:solidFill>
                          <a:schemeClr val="dk1"/>
                        </a:solidFill>
                        <a:effectLst/>
                        <a:latin typeface="+mn-lt"/>
                        <a:ea typeface="+mn-ea"/>
                        <a:cs typeface="+mn-cs"/>
                      </a:endParaRPr>
                    </a:p>
                  </a:txBody>
                  <a:tcPr/>
                </a:tc>
                <a:tc>
                  <a:txBody>
                    <a:bodyPr/>
                    <a:lstStyle/>
                    <a:p>
                      <a:endParaRPr lang="en-US" sz="1600" b="0" i="0" kern="1200">
                        <a:solidFill>
                          <a:schemeClr val="dk1"/>
                        </a:solidFill>
                        <a:effectLst/>
                        <a:latin typeface="+mn-lt"/>
                        <a:ea typeface="+mn-ea"/>
                        <a:cs typeface="+mn-cs"/>
                      </a:endParaRPr>
                    </a:p>
                  </a:txBody>
                  <a:tcPr/>
                </a:tc>
                <a:tc>
                  <a:txBody>
                    <a:bodyPr/>
                    <a:lstStyle/>
                    <a:p>
                      <a:endParaRPr lang="en-GB" sz="1100"/>
                    </a:p>
                  </a:txBody>
                  <a:tcPr/>
                </a:tc>
                <a:tc>
                  <a:txBody>
                    <a:bodyPr/>
                    <a:lstStyle/>
                    <a:p>
                      <a:endParaRPr lang="en-GB" sz="1100"/>
                    </a:p>
                  </a:txBody>
                  <a:tcPr/>
                </a:tc>
              </a:tr>
              <a:tr h="445228">
                <a:tc>
                  <a:txBody>
                    <a:bodyPr/>
                    <a:lstStyle/>
                    <a:p>
                      <a:endParaRPr lang="en-US" sz="1600" b="0" i="0" kern="1200">
                        <a:solidFill>
                          <a:schemeClr val="dk1"/>
                        </a:solidFill>
                        <a:effectLst/>
                        <a:latin typeface="+mn-lt"/>
                        <a:ea typeface="+mn-ea"/>
                        <a:cs typeface="+mn-cs"/>
                      </a:endParaRPr>
                    </a:p>
                  </a:txBody>
                  <a:tcPr/>
                </a:tc>
                <a:tc>
                  <a:txBody>
                    <a:bodyPr/>
                    <a:lstStyle/>
                    <a:p>
                      <a:endParaRPr lang="en-US" sz="1600" b="0" i="0" kern="1200">
                        <a:solidFill>
                          <a:schemeClr val="dk1"/>
                        </a:solidFill>
                        <a:effectLst/>
                        <a:latin typeface="+mn-lt"/>
                        <a:ea typeface="+mn-ea"/>
                        <a:cs typeface="+mn-cs"/>
                      </a:endParaRPr>
                    </a:p>
                  </a:txBody>
                  <a:tcPr/>
                </a:tc>
                <a:tc>
                  <a:txBody>
                    <a:bodyPr/>
                    <a:lstStyle/>
                    <a:p>
                      <a:endParaRPr lang="en-GB" sz="1100"/>
                    </a:p>
                  </a:txBody>
                  <a:tcPr/>
                </a:tc>
                <a:tc>
                  <a:txBody>
                    <a:bodyPr/>
                    <a:lstStyle/>
                    <a:p>
                      <a:endParaRPr lang="en-GB" sz="1100"/>
                    </a:p>
                  </a:txBody>
                  <a:tcPr/>
                </a:tc>
              </a:tr>
              <a:tr h="445228">
                <a:tc>
                  <a:txBody>
                    <a:bodyPr/>
                    <a:lstStyle/>
                    <a:p>
                      <a:endParaRPr lang="en-US" sz="1600" b="0" i="0" kern="1200">
                        <a:solidFill>
                          <a:schemeClr val="dk1"/>
                        </a:solidFill>
                        <a:effectLst/>
                        <a:latin typeface="+mn-lt"/>
                        <a:ea typeface="+mn-ea"/>
                        <a:cs typeface="+mn-cs"/>
                      </a:endParaRPr>
                    </a:p>
                  </a:txBody>
                  <a:tcPr/>
                </a:tc>
                <a:tc>
                  <a:txBody>
                    <a:bodyPr/>
                    <a:lstStyle/>
                    <a:p>
                      <a:endParaRPr lang="en-US" sz="1600" b="0" i="0" kern="1200">
                        <a:solidFill>
                          <a:schemeClr val="dk1"/>
                        </a:solidFill>
                        <a:effectLst/>
                        <a:latin typeface="+mn-lt"/>
                        <a:ea typeface="+mn-ea"/>
                        <a:cs typeface="+mn-cs"/>
                      </a:endParaRPr>
                    </a:p>
                  </a:txBody>
                  <a:tcPr/>
                </a:tc>
                <a:tc>
                  <a:txBody>
                    <a:bodyPr/>
                    <a:lstStyle/>
                    <a:p>
                      <a:endParaRPr lang="en-GB" sz="1100"/>
                    </a:p>
                  </a:txBody>
                  <a:tcPr/>
                </a:tc>
                <a:tc>
                  <a:txBody>
                    <a:bodyPr/>
                    <a:lstStyle/>
                    <a:p>
                      <a:endParaRPr lang="en-GB" sz="1100"/>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264" y="776941"/>
            <a:ext cx="3209008" cy="5783516"/>
          </a:xfrm>
        </p:spPr>
        <p:txBody>
          <a:bodyPr>
            <a:normAutofit/>
          </a:bodyPr>
          <a:lstStyle/>
          <a:p>
            <a:r>
              <a:rPr lang="en-US"/>
              <a:t>URLs / Resources</a:t>
            </a:r>
            <a:br>
              <a:rPr lang="en-US"/>
            </a:br>
            <a:br>
              <a:rPr lang="en-US"/>
            </a:br>
            <a:r>
              <a:rPr lang="en-US" sz="2200" b="0"/>
              <a:t>Link to any useful URLs and resources you want to share directly with your supervisor here. This should include a link to your Gitlab repository (once setup by end of Week 1) and the latest working copy of your dissertation (e.g. on Onedrive, Overleaf </a:t>
            </a:r>
            <a:r>
              <a:rPr lang="en-US" sz="2200" b="0" err="1"/>
              <a:t>etc</a:t>
            </a:r>
            <a:r>
              <a:rPr lang="en-US" sz="2200" b="0"/>
              <a:t>).</a:t>
            </a:r>
            <a:endParaRPr lang="en-GB" b="0"/>
          </a:p>
        </p:txBody>
      </p:sp>
      <p:sp>
        <p:nvSpPr>
          <p:cNvPr id="7" name="Date Placeholder 6"/>
          <p:cNvSpPr>
            <a:spLocks noGrp="1"/>
          </p:cNvSpPr>
          <p:nvPr>
            <p:ph type="dt" sz="half" idx="10"/>
          </p:nvPr>
        </p:nvSpPr>
        <p:spPr/>
        <p:txBody>
          <a:bodyPr/>
          <a:lstStyle/>
          <a:p>
            <a:pPr rtl="0">
              <a:defRPr/>
            </a:pPr>
            <a:r>
              <a:rPr lang="en-GB" noProof="0">
                <a:solidFill>
                  <a:prstClr val="black"/>
                </a:solidFill>
              </a:rPr>
              <a:t>2023</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3" name="Text Placeholder 5"/>
          <p:cNvSpPr>
            <a:spLocks noGrp="1"/>
          </p:cNvSpPr>
          <p:nvPr>
            <p:ph type="body" sz="quarter" idx="15"/>
          </p:nvPr>
        </p:nvSpPr>
        <p:spPr>
          <a:xfrm>
            <a:off x="4864100" y="466726"/>
            <a:ext cx="6599238" cy="5671108"/>
          </a:xfrm>
        </p:spPr>
        <p:txBody>
          <a:bodyPr>
            <a:normAutofit/>
          </a:bodyPr>
          <a:lstStyle/>
          <a:p>
            <a:r>
              <a:rPr lang="en-US" sz="2400" b="1"/>
              <a:t>Gitlab repository</a:t>
            </a:r>
            <a:r>
              <a:rPr lang="en-US" sz="2400"/>
              <a:t>: </a:t>
            </a:r>
            <a:r>
              <a:rPr lang="en-US" altLang="zh-CN" sz="2400" b="1"/>
              <a:t>https://stgit.dcs.gla.ac.uk/msc-project-for-information-technology/2025/it-project-3155021y/self-serve-analytics</a:t>
            </a:r>
            <a:endParaRPr lang="en-US" altLang="zh-CN" sz="2400" b="1"/>
          </a:p>
          <a:p>
            <a:r>
              <a:rPr lang="en-US" sz="2400" b="1"/>
              <a:t>Dissertation</a:t>
            </a:r>
            <a:r>
              <a:rPr lang="en-US" sz="2400"/>
              <a:t>: </a:t>
            </a:r>
            <a:endParaRPr lang="en-US" sz="2400"/>
          </a:p>
          <a:p>
            <a:endParaRPr lang="en-US" sz="2400"/>
          </a:p>
          <a:p>
            <a:endParaRPr lang="en-US" sz="2400"/>
          </a:p>
          <a:p>
            <a:pPr marL="0" indent="0">
              <a:buNone/>
            </a:pPr>
            <a:endParaRPr lang="en-US" sz="2400" b="1">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264" y="776941"/>
            <a:ext cx="3209008" cy="5783516"/>
          </a:xfrm>
        </p:spPr>
        <p:txBody>
          <a:bodyPr>
            <a:normAutofit/>
          </a:bodyPr>
          <a:lstStyle/>
          <a:p>
            <a:r>
              <a:rPr lang="en-US" sz="4000"/>
              <a:t>Project Architecture</a:t>
            </a:r>
            <a:br>
              <a:rPr lang="en-US" sz="4000"/>
            </a:br>
            <a:r>
              <a:rPr lang="en-US" sz="4000"/>
              <a:t>Diagram</a:t>
            </a:r>
            <a:br>
              <a:rPr lang="en-US"/>
            </a:br>
            <a:br>
              <a:rPr lang="en-US"/>
            </a:br>
            <a:r>
              <a:rPr lang="en-US" sz="2200" b="0"/>
              <a:t>Add and maintain an architecture diagram to help your supervisor understand your project design and approach</a:t>
            </a:r>
            <a:endParaRPr lang="en-GB" b="0"/>
          </a:p>
        </p:txBody>
      </p:sp>
      <p:sp>
        <p:nvSpPr>
          <p:cNvPr id="7" name="Date Placeholder 6"/>
          <p:cNvSpPr>
            <a:spLocks noGrp="1"/>
          </p:cNvSpPr>
          <p:nvPr>
            <p:ph type="dt" sz="half" idx="10"/>
          </p:nvPr>
        </p:nvSpPr>
        <p:spPr/>
        <p:txBody>
          <a:bodyPr/>
          <a:lstStyle/>
          <a:p>
            <a:pPr rtl="0">
              <a:defRPr/>
            </a:pPr>
            <a:r>
              <a:rPr lang="en-GB" noProof="0">
                <a:solidFill>
                  <a:prstClr val="black"/>
                </a:solidFill>
              </a:rPr>
              <a:t>2023</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9" name="Rounded Rectangle 8"/>
          <p:cNvSpPr/>
          <p:nvPr/>
        </p:nvSpPr>
        <p:spPr>
          <a:xfrm>
            <a:off x="5669280" y="868680"/>
            <a:ext cx="3108960" cy="384048"/>
          </a:xfrm>
          <a:prstGeom prst="roundRect">
            <a:avLst>
              <a:gd name="adj" fmla="val 3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User — analyst / non-technical business user</a:t>
            </a:r>
            <a:endParaRPr sz="1000" b="1">
              <a:solidFill>
                <a:srgbClr val="FFFFFF"/>
              </a:solidFill>
            </a:endParaRPr>
          </a:p>
        </p:txBody>
      </p:sp>
      <p:cxnSp>
        <p:nvCxnSpPr>
          <p:cNvPr id="10" name="Connector 9"/>
          <p:cNvCxnSpPr/>
          <p:nvPr/>
        </p:nvCxnSpPr>
        <p:spPr>
          <a:xfrm>
            <a:off x="7223760" y="1252728"/>
            <a:ext cx="0" cy="182880"/>
          </a:xfrm>
          <a:prstGeom prst="line">
            <a:avLst/>
          </a:prstGeom>
          <a:ln w="19050">
            <a:solidFill>
              <a:srgbClr val="2E6DA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06240" y="1435608"/>
            <a:ext cx="6035040" cy="896112"/>
          </a:xfrm>
          <a:prstGeom prst="roundRect">
            <a:avLst>
              <a:gd name="adj" fmla="val 5000"/>
            </a:avLst>
          </a:prstGeom>
          <a:solidFill>
            <a:srgbClr val="E4EDF6"/>
          </a:solidFill>
          <a:ln w="15875">
            <a:solidFill>
              <a:srgbClr val="2E6DA4"/>
            </a:solidFill>
          </a:ln>
          <a:effectLst/>
        </p:spPr>
        <p:style>
          <a:lnRef idx="1">
            <a:schemeClr val="accent1"/>
          </a:lnRef>
          <a:fillRef idx="3">
            <a:schemeClr val="accent1"/>
          </a:fillRef>
          <a:effectRef idx="2">
            <a:schemeClr val="accent1"/>
          </a:effectRef>
          <a:fontRef idx="minor">
            <a:schemeClr val="lt1"/>
          </a:fontRef>
        </p:style>
        <p:txBody>
          <a:bodyPr wrap="square" lIns="128016" tIns="36576" bIns="36576" rtlCol="0" anchor="ctr"/>
          <a:lstStyle/>
          <a:p>
            <a:pPr algn="ctr">
              <a:spcAft>
                <a:spcPts val="200"/>
              </a:spcAft>
            </a:pPr>
            <a:r>
              <a:rPr sz="1100" b="1">
                <a:solidFill>
                  <a:srgbClr val="2E6DA4"/>
                </a:solidFill>
              </a:rPr>
              <a:t>PRESENTATION</a:t>
            </a:r>
            <a:endParaRPr sz="1100" b="1">
              <a:solidFill>
                <a:srgbClr val="2E6DA4"/>
              </a:solidFill>
            </a:endParaRPr>
          </a:p>
          <a:p>
            <a:pPr>
              <a:spcAft>
                <a:spcPts val="100"/>
              </a:spcAft>
            </a:pPr>
            <a:r>
              <a:rPr sz="950">
                <a:solidFill>
                  <a:srgbClr val="262626"/>
                </a:solidFill>
              </a:rPr>
              <a:t>Streamlit web app — dashboard + natural-language query (shows the generated SQL)</a:t>
            </a:r>
            <a:endParaRPr sz="950">
              <a:solidFill>
                <a:srgbClr val="262626"/>
              </a:solidFill>
            </a:endParaRPr>
          </a:p>
          <a:p>
            <a:pPr>
              <a:spcAft>
                <a:spcPts val="100"/>
              </a:spcAft>
            </a:pPr>
            <a:r>
              <a:rPr sz="950">
                <a:solidFill>
                  <a:srgbClr val="262626"/>
                </a:solidFill>
              </a:rPr>
              <a:t>Power BI — business dashboard</a:t>
            </a:r>
            <a:endParaRPr sz="950">
              <a:solidFill>
                <a:srgbClr val="262626"/>
              </a:solidFill>
            </a:endParaRPr>
          </a:p>
        </p:txBody>
      </p:sp>
      <p:cxnSp>
        <p:nvCxnSpPr>
          <p:cNvPr id="12" name="Connector 11"/>
          <p:cNvCxnSpPr/>
          <p:nvPr/>
        </p:nvCxnSpPr>
        <p:spPr>
          <a:xfrm>
            <a:off x="7223760" y="2331720"/>
            <a:ext cx="0" cy="219456"/>
          </a:xfrm>
          <a:prstGeom prst="line">
            <a:avLst/>
          </a:prstGeom>
          <a:ln w="19050">
            <a:solidFill>
              <a:srgbClr val="2E6DA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06240" y="2551176"/>
            <a:ext cx="6035040" cy="1188720"/>
          </a:xfrm>
          <a:prstGeom prst="roundRect">
            <a:avLst>
              <a:gd name="adj" fmla="val 5000"/>
            </a:avLst>
          </a:prstGeom>
          <a:solidFill>
            <a:srgbClr val="E2F0F1"/>
          </a:solidFill>
          <a:ln w="15875">
            <a:solidFill>
              <a:srgbClr val="1A7A8C"/>
            </a:solidFill>
          </a:ln>
          <a:effectLst/>
        </p:spPr>
        <p:style>
          <a:lnRef idx="1">
            <a:schemeClr val="accent1"/>
          </a:lnRef>
          <a:fillRef idx="3">
            <a:schemeClr val="accent1"/>
          </a:fillRef>
          <a:effectRef idx="2">
            <a:schemeClr val="accent1"/>
          </a:effectRef>
          <a:fontRef idx="minor">
            <a:schemeClr val="lt1"/>
          </a:fontRef>
        </p:style>
        <p:txBody>
          <a:bodyPr wrap="square" lIns="128016" tIns="36576" bIns="36576" rtlCol="0" anchor="ctr"/>
          <a:lstStyle/>
          <a:p>
            <a:pPr algn="ctr">
              <a:spcAft>
                <a:spcPts val="200"/>
              </a:spcAft>
            </a:pPr>
            <a:r>
              <a:rPr sz="1100" b="1">
                <a:solidFill>
                  <a:srgbClr val="1A7A8C"/>
                </a:solidFill>
              </a:rPr>
              <a:t>LOGIC — Python backend</a:t>
            </a:r>
            <a:endParaRPr sz="1100" b="1">
              <a:solidFill>
                <a:srgbClr val="1A7A8C"/>
              </a:solidFill>
            </a:endParaRPr>
          </a:p>
          <a:p>
            <a:pPr>
              <a:spcAft>
                <a:spcPts val="100"/>
              </a:spcAft>
            </a:pPr>
            <a:r>
              <a:rPr sz="950">
                <a:solidFill>
                  <a:srgbClr val="262626"/>
                </a:solidFill>
              </a:rPr>
              <a:t>Profiling + auto-clean · semantic config (roles + join keys) · data registry · progressive-unlock engine · analysis templates (KPIs/cohort/RFM)</a:t>
            </a:r>
            <a:endParaRPr sz="950">
              <a:solidFill>
                <a:srgbClr val="262626"/>
              </a:solidFill>
            </a:endParaRPr>
          </a:p>
          <a:p>
            <a:pPr>
              <a:spcAft>
                <a:spcPts val="100"/>
              </a:spcAft>
            </a:pPr>
            <a:r>
              <a:rPr sz="950">
                <a:solidFill>
                  <a:srgbClr val="262626"/>
                </a:solidFill>
              </a:rPr>
              <a:t>NL→SQL engine · query validation (read-only) · evaluation harness</a:t>
            </a:r>
            <a:endParaRPr sz="950">
              <a:solidFill>
                <a:srgbClr val="262626"/>
              </a:solidFill>
            </a:endParaRPr>
          </a:p>
        </p:txBody>
      </p:sp>
      <p:sp>
        <p:nvSpPr>
          <p:cNvPr id="14" name="Rounded Rectangle 13"/>
          <p:cNvSpPr/>
          <p:nvPr/>
        </p:nvSpPr>
        <p:spPr>
          <a:xfrm>
            <a:off x="10442448" y="2743200"/>
            <a:ext cx="1508760" cy="822960"/>
          </a:xfrm>
          <a:prstGeom prst="roundRect">
            <a:avLst>
              <a:gd name="adj" fmla="val 8000"/>
            </a:avLst>
          </a:prstGeom>
          <a:solidFill>
            <a:srgbClr val="EFF1F4"/>
          </a:solidFill>
          <a:ln w="15875">
            <a:solidFill>
              <a:srgbClr val="C9D2DD"/>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950" b="1">
                <a:solidFill>
                  <a:srgbClr val="1F3864"/>
                </a:solidFill>
              </a:rPr>
              <a:t>LLM API (external)</a:t>
            </a:r>
            <a:endParaRPr sz="950" b="1">
              <a:solidFill>
                <a:srgbClr val="1F3864"/>
              </a:solidFill>
            </a:endParaRPr>
          </a:p>
          <a:p>
            <a:pPr algn="ctr"/>
            <a:r>
              <a:rPr sz="850">
                <a:solidFill>
                  <a:srgbClr val="5B6B7E"/>
                </a:solidFill>
              </a:rPr>
              <a:t>writes SQL + suggests cleaning</a:t>
            </a:r>
            <a:endParaRPr sz="850">
              <a:solidFill>
                <a:srgbClr val="5B6B7E"/>
              </a:solidFill>
            </a:endParaRPr>
          </a:p>
        </p:txBody>
      </p:sp>
      <p:cxnSp>
        <p:nvCxnSpPr>
          <p:cNvPr id="15" name="Connector 14"/>
          <p:cNvCxnSpPr/>
          <p:nvPr/>
        </p:nvCxnSpPr>
        <p:spPr>
          <a:xfrm>
            <a:off x="10241280" y="3145536"/>
            <a:ext cx="201168" cy="0"/>
          </a:xfrm>
          <a:prstGeom prst="line">
            <a:avLst/>
          </a:prstGeom>
          <a:ln w="19050">
            <a:solidFill>
              <a:srgbClr val="C9D2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223760" y="3739896"/>
            <a:ext cx="0" cy="201167"/>
          </a:xfrm>
          <a:prstGeom prst="line">
            <a:avLst/>
          </a:prstGeom>
          <a:ln w="19050">
            <a:solidFill>
              <a:srgbClr val="2E6DA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206240" y="3941063"/>
            <a:ext cx="6035040" cy="896112"/>
          </a:xfrm>
          <a:prstGeom prst="roundRect">
            <a:avLst>
              <a:gd name="adj" fmla="val 5000"/>
            </a:avLst>
          </a:prstGeom>
          <a:solidFill>
            <a:srgbClr val="EFF1F4"/>
          </a:solidFill>
          <a:ln w="15875">
            <a:solidFill>
              <a:srgbClr val="C9D2DD"/>
            </a:solidFill>
          </a:ln>
          <a:effectLst/>
        </p:spPr>
        <p:style>
          <a:lnRef idx="1">
            <a:schemeClr val="accent1"/>
          </a:lnRef>
          <a:fillRef idx="3">
            <a:schemeClr val="accent1"/>
          </a:fillRef>
          <a:effectRef idx="2">
            <a:schemeClr val="accent1"/>
          </a:effectRef>
          <a:fontRef idx="minor">
            <a:schemeClr val="lt1"/>
          </a:fontRef>
        </p:style>
        <p:txBody>
          <a:bodyPr wrap="square" lIns="128016" tIns="36576" bIns="36576" rtlCol="0" anchor="ctr"/>
          <a:lstStyle/>
          <a:p>
            <a:pPr algn="ctr">
              <a:spcAft>
                <a:spcPts val="200"/>
              </a:spcAft>
            </a:pPr>
            <a:r>
              <a:rPr sz="1100" b="1">
                <a:solidFill>
                  <a:srgbClr val="1F3864"/>
                </a:solidFill>
              </a:rPr>
              <a:t>DATA</a:t>
            </a:r>
            <a:endParaRPr sz="1100" b="1">
              <a:solidFill>
                <a:srgbClr val="1F3864"/>
              </a:solidFill>
            </a:endParaRPr>
          </a:p>
          <a:p>
            <a:pPr>
              <a:spcAft>
                <a:spcPts val="100"/>
              </a:spcAft>
            </a:pPr>
            <a:r>
              <a:rPr sz="950">
                <a:solidFill>
                  <a:srgbClr val="262626"/>
                </a:solidFill>
              </a:rPr>
              <a:t>PostgreSQL — star-schema data model</a:t>
            </a:r>
            <a:endParaRPr sz="950">
              <a:solidFill>
                <a:srgbClr val="262626"/>
              </a:solidFill>
            </a:endParaRPr>
          </a:p>
          <a:p>
            <a:pPr>
              <a:spcAft>
                <a:spcPts val="100"/>
              </a:spcAft>
            </a:pPr>
            <a:r>
              <a:rPr sz="950">
                <a:solidFill>
                  <a:srgbClr val="262626"/>
                </a:solidFill>
              </a:rPr>
              <a:t>Source: Olist e-commerce dataset (CSV)</a:t>
            </a:r>
            <a:endParaRPr sz="950">
              <a:solidFill>
                <a:srgbClr val="262626"/>
              </a:solidFill>
            </a:endParaRPr>
          </a:p>
        </p:txBody>
      </p:sp>
      <p:sp>
        <p:nvSpPr>
          <p:cNvPr id="18" name="TextBox 17"/>
          <p:cNvSpPr txBox="1"/>
          <p:nvPr/>
        </p:nvSpPr>
        <p:spPr>
          <a:xfrm>
            <a:off x="4206240" y="4956048"/>
            <a:ext cx="7726679" cy="640080"/>
          </a:xfrm>
          <a:prstGeom prst="rect">
            <a:avLst/>
          </a:prstGeom>
          <a:noFill/>
        </p:spPr>
        <p:txBody>
          <a:bodyPr wrap="square">
            <a:spAutoFit/>
          </a:bodyPr>
          <a:lstStyle/>
          <a:p>
            <a:pPr algn="l"/>
            <a:r>
              <a:rPr sz="950" b="0">
                <a:solidFill>
                  <a:srgbClr val="5B6B7E"/>
                </a:solidFill>
              </a:rPr>
              <a:t>Flow: question → Streamlit → backend → LLM writes SQL → validated &amp; run on PostgreSQL → result + SQL shown back.   A standard 3-tier architecture (presentation / logic / data).</a:t>
            </a:r>
            <a:endParaRPr sz="950" b="0">
              <a:solidFill>
                <a:srgbClr val="5B6B7E"/>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ctrTitle"/>
          </p:nvPr>
        </p:nvSpPr>
        <p:spPr>
          <a:xfrm>
            <a:off x="649045" y="753035"/>
            <a:ext cx="5945393" cy="3967821"/>
          </a:xfrm>
        </p:spPr>
        <p:txBody>
          <a:bodyPr>
            <a:normAutofit/>
          </a:bodyPr>
          <a:lstStyle/>
          <a:p>
            <a:r>
              <a:rPr lang="en-US"/>
              <a:t>Weekly Progress Tracker</a:t>
            </a:r>
            <a:br>
              <a:rPr lang="en-US"/>
            </a:br>
            <a:br>
              <a:rPr lang="en-US"/>
            </a:br>
            <a:r>
              <a:rPr lang="en-GB" sz="2000" b="0">
                <a:latin typeface="+mn-lt"/>
                <a:ea typeface="IBM Plex Sans" charset="0"/>
                <a:cs typeface="IBM Plex Sans" charset="0"/>
              </a:rPr>
              <a:t>To be filled out by the student every week, tracking progress, aims, issues, and planning your agenda for any meetings with your supervisor or GTAs.</a:t>
            </a:r>
            <a:endParaRPr lang="en-GB" b="0"/>
          </a:p>
        </p:txBody>
      </p:sp>
      <p:sp>
        <p:nvSpPr>
          <p:cNvPr id="3" name="Footer Placeholder 2"/>
          <p:cNvSpPr>
            <a:spLocks noGrp="1"/>
          </p:cNvSpPr>
          <p:nvPr>
            <p:ph type="ftr" sz="quarter" idx="11"/>
          </p:nvPr>
        </p:nvSpPr>
        <p:spPr/>
        <p:txBody>
          <a:bodyPr/>
          <a:lstStyle/>
          <a:p>
            <a:pPr rtl="0"/>
            <a:r>
              <a:rPr lang="en-GB" noProof="0"/>
              <a:t>Presentation title</a:t>
            </a:r>
            <a:endParaRPr lang="en-GB" noProof="0"/>
          </a:p>
        </p:txBody>
      </p:sp>
      <p:sp>
        <p:nvSpPr>
          <p:cNvPr id="7" name="Date Placeholder 6"/>
          <p:cNvSpPr>
            <a:spLocks noGrp="1"/>
          </p:cNvSpPr>
          <p:nvPr>
            <p:ph type="dt" sz="half" idx="10"/>
          </p:nvPr>
        </p:nvSpPr>
        <p:spPr/>
        <p:txBody>
          <a:bodyPr/>
          <a:lstStyle/>
          <a:p>
            <a:pPr rtl="0">
              <a:defRPr/>
            </a:pPr>
            <a:r>
              <a:rPr lang="en-GB" noProof="0">
                <a:solidFill>
                  <a:prstClr val="black"/>
                </a:solidFill>
              </a:rPr>
              <a:t>20XX</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264" y="776942"/>
            <a:ext cx="3209008" cy="4262892"/>
          </a:xfrm>
        </p:spPr>
        <p:txBody>
          <a:bodyPr/>
          <a:lstStyle/>
          <a:p>
            <a:r>
              <a:rPr lang="en-US"/>
              <a:t>Purpose of the Progress Tracker</a:t>
            </a:r>
            <a:endParaRPr lang="en-GB"/>
          </a:p>
        </p:txBody>
      </p:sp>
      <p:sp>
        <p:nvSpPr>
          <p:cNvPr id="3" name="Footer Placeholder 2"/>
          <p:cNvSpPr>
            <a:spLocks noGrp="1"/>
          </p:cNvSpPr>
          <p:nvPr>
            <p:ph type="ftr" sz="quarter" idx="11"/>
          </p:nvPr>
        </p:nvSpPr>
        <p:spPr/>
        <p:txBody>
          <a:bodyPr/>
          <a:lstStyle/>
          <a:p>
            <a:pPr rtl="0"/>
            <a:r>
              <a:rPr lang="en-GB" noProof="0"/>
              <a:t>Presentation title</a:t>
            </a:r>
            <a:endParaRPr lang="en-GB" noProof="0"/>
          </a:p>
        </p:txBody>
      </p:sp>
      <p:sp>
        <p:nvSpPr>
          <p:cNvPr id="6" name="Text Placeholder 5"/>
          <p:cNvSpPr>
            <a:spLocks noGrp="1"/>
          </p:cNvSpPr>
          <p:nvPr>
            <p:ph type="body" sz="quarter" idx="15"/>
          </p:nvPr>
        </p:nvSpPr>
        <p:spPr>
          <a:xfrm>
            <a:off x="4864100" y="466726"/>
            <a:ext cx="6599238" cy="5671108"/>
          </a:xfrm>
        </p:spPr>
        <p:txBody>
          <a:bodyPr>
            <a:normAutofit fontScale="85000" lnSpcReduction="20000"/>
          </a:bodyPr>
          <a:lstStyle/>
          <a:p>
            <a:r>
              <a:rPr lang="en-US" sz="2400"/>
              <a:t>The progress tracker is here to </a:t>
            </a:r>
            <a:r>
              <a:rPr lang="en-US" sz="2400" b="1"/>
              <a:t>help you manage your project</a:t>
            </a:r>
            <a:r>
              <a:rPr lang="en-US" sz="2400"/>
              <a:t> – to set targets, explore expectations and aims with your supervisor, and </a:t>
            </a:r>
            <a:r>
              <a:rPr lang="en-US" sz="2400" err="1"/>
              <a:t>organise</a:t>
            </a:r>
            <a:r>
              <a:rPr lang="en-US" sz="2400"/>
              <a:t> and document your thoughts and progress along the way</a:t>
            </a:r>
            <a:endParaRPr lang="en-US" sz="2400"/>
          </a:p>
          <a:p>
            <a:r>
              <a:rPr lang="en-US" sz="2400"/>
              <a:t>Each week has an associated progress tracker slide that should be filled out week-by-week.</a:t>
            </a:r>
            <a:endParaRPr lang="en-US" sz="2400"/>
          </a:p>
          <a:p>
            <a:r>
              <a:rPr lang="en-US" sz="2400"/>
              <a:t>There are also “</a:t>
            </a:r>
            <a:r>
              <a:rPr lang="en-US" sz="2400" b="1"/>
              <a:t>status update</a:t>
            </a:r>
            <a:r>
              <a:rPr lang="en-US" sz="2400"/>
              <a:t>” slides aligned with the mandatory supervisor meetings throughout the project. These should also be filled prior to meeting your supervisor to evidence your progress.</a:t>
            </a:r>
            <a:endParaRPr lang="en-US" sz="2400"/>
          </a:p>
          <a:p>
            <a:pPr>
              <a:lnSpc>
                <a:spcPct val="105000"/>
              </a:lnSpc>
              <a:spcBef>
                <a:spcPts val="1000"/>
              </a:spcBef>
            </a:pPr>
            <a:r>
              <a:rPr lang="en-US" sz="2400">
                <a:ea typeface="IBM Plex Sans" charset="0"/>
                <a:cs typeface="IBM Plex Sans" charset="0"/>
              </a:rPr>
              <a:t>You can modify this template! Adapt it to suit your project needs as you go! </a:t>
            </a:r>
            <a:endParaRPr lang="en-US" sz="2400">
              <a:ea typeface="IBM Plex Sans" charset="0"/>
              <a:cs typeface="IBM Plex Sans" charset="0"/>
            </a:endParaRPr>
          </a:p>
          <a:p>
            <a:r>
              <a:rPr lang="en-US" sz="2400" b="1">
                <a:solidFill>
                  <a:srgbClr val="FF0000"/>
                </a:solidFill>
              </a:rPr>
              <a:t>Filling out the Weekly Progress Tracker and Status Update slides is mandatory </a:t>
            </a:r>
            <a:r>
              <a:rPr lang="en-US" sz="2400">
                <a:solidFill>
                  <a:srgbClr val="FF0000"/>
                </a:solidFill>
              </a:rPr>
              <a:t>– If you don’t fill this material out, this will count against your professional conduct grade, and if you can’t evidence you’ve conducted the project independently, we may refuse to mark any submission.</a:t>
            </a:r>
            <a:endParaRPr lang="en-US" sz="2400">
              <a:solidFill>
                <a:srgbClr val="FF0000"/>
              </a:solidFill>
            </a:endParaRPr>
          </a:p>
        </p:txBody>
      </p:sp>
      <p:sp>
        <p:nvSpPr>
          <p:cNvPr id="7" name="Date Placeholder 6"/>
          <p:cNvSpPr>
            <a:spLocks noGrp="1"/>
          </p:cNvSpPr>
          <p:nvPr>
            <p:ph type="dt" sz="half" idx="10"/>
          </p:nvPr>
        </p:nvSpPr>
        <p:spPr/>
        <p:txBody>
          <a:bodyPr/>
          <a:lstStyle/>
          <a:p>
            <a:pPr rtl="0">
              <a:defRPr/>
            </a:pPr>
            <a:r>
              <a:rPr lang="en-GB" noProof="0">
                <a:solidFill>
                  <a:prstClr val="black"/>
                </a:solidFill>
              </a:rPr>
              <a:t>20XX</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Example</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r>
                        <a:rPr lang="en-US" sz="1200">
                          <a:solidFill>
                            <a:schemeClr val="tx1"/>
                          </a:solidFill>
                        </a:rPr>
                        <a:t>Complete and written up</a:t>
                      </a:r>
                      <a:endParaRPr lang="en-GB" sz="1200">
                        <a:solidFill>
                          <a:schemeClr val="tx1"/>
                        </a:solidFill>
                      </a:endParaRPr>
                    </a:p>
                  </a:txBody>
                  <a:tcPr>
                    <a:solidFill>
                      <a:schemeClr val="accent1">
                        <a:lumMod val="60000"/>
                        <a:lumOff val="40000"/>
                      </a:schemeClr>
                    </a:solid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r>
                        <a:rPr lang="en-US" sz="1200">
                          <a:solidFill>
                            <a:schemeClr val="tx1"/>
                          </a:solidFill>
                        </a:rPr>
                        <a:t>In progress  but not written up</a:t>
                      </a:r>
                      <a:endParaRPr lang="en-GB" sz="1200">
                        <a:solidFill>
                          <a:schemeClr val="tx1"/>
                        </a:solidFill>
                      </a:endParaRPr>
                    </a:p>
                  </a:txBody>
                  <a:tcPr>
                    <a:solidFill>
                      <a:srgbClr val="92D050"/>
                    </a:solid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46521">
                <a:tc>
                  <a:txBody>
                    <a:bodyPr/>
                    <a:lstStyle/>
                    <a:p>
                      <a:r>
                        <a:rPr lang="en-GB" sz="1800" b="0"/>
                        <a:t>User Evaluations</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rPr>
                        <a:t> Completed Internet search of similar systems</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rPr>
                        <a:t>Developed personas to drive requirements</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285750" marR="0" lvl="0" indent="-285750" algn="l" defTabSz="449580" rtl="0" eaLnBrk="1" fontAlgn="base" latinLnBrk="0" hangingPunct="1">
                        <a:lnSpc>
                          <a:spcPct val="100000"/>
                        </a:lnSpc>
                        <a:spcBef>
                          <a:spcPct val="0"/>
                        </a:spcBef>
                        <a:spcAft>
                          <a:spcPct val="15000"/>
                        </a:spcAft>
                        <a:buClr>
                          <a:schemeClr val="accent2"/>
                        </a:buClr>
                        <a:buSzTx/>
                        <a:buFont typeface="Arial" panose="020B0604020202090204" pitchFamily="34" charset="0"/>
                        <a:buChar char="•"/>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rPr>
                        <a:t>Key Points…</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marL="285750" marR="0" lvl="0" indent="-285750" algn="l" defTabSz="449580" rtl="0" eaLnBrk="1" fontAlgn="base" latinLnBrk="0" hangingPunct="1">
                        <a:lnSpc>
                          <a:spcPct val="100000"/>
                        </a:lnSpc>
                        <a:spcBef>
                          <a:spcPct val="0"/>
                        </a:spcBef>
                        <a:spcAft>
                          <a:spcPct val="15000"/>
                        </a:spcAft>
                        <a:buClr>
                          <a:schemeClr val="accent2"/>
                        </a:buClr>
                        <a:buSzTx/>
                        <a:buFont typeface="Arial" panose="020B0604020202090204" pitchFamily="34" charset="0"/>
                        <a:buChar char="•"/>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rPr>
                        <a:t>…that you want to cover…</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marL="285750" marR="0" lvl="0" indent="-285750" algn="l" defTabSz="449580" rtl="0" eaLnBrk="1" fontAlgn="base" latinLnBrk="0" hangingPunct="1">
                        <a:lnSpc>
                          <a:spcPct val="100000"/>
                        </a:lnSpc>
                        <a:spcBef>
                          <a:spcPct val="0"/>
                        </a:spcBef>
                        <a:spcAft>
                          <a:spcPct val="15000"/>
                        </a:spcAft>
                        <a:buClr>
                          <a:schemeClr val="accent2"/>
                        </a:buClr>
                        <a:buSzTx/>
                        <a:buFont typeface="Arial" panose="020B0604020202090204" pitchFamily="34" charset="0"/>
                        <a:buChar char="•"/>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rPr>
                        <a:t>…for this weeks meeting with your supervisor, or with a GTA in the lab.</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nvGraphicFramePr>
        <p:xfrm>
          <a:off x="4714418" y="5180855"/>
          <a:ext cx="7290454" cy="1688897"/>
        </p:xfrm>
        <a:graphic>
          <a:graphicData uri="http://schemas.openxmlformats.org/drawingml/2006/table">
            <a:tbl>
              <a:tblPr/>
              <a:tblGrid>
                <a:gridCol w="7290454"/>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rPr>
                        <a:t> Trying to decide between Django and Flask for the most appropriate Python framework</a:t>
                      </a: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rPr>
                        <a:t>Trying to decide between MySQL and PostgreSQL as the database</a:t>
                      </a: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rPr>
                        <a:t>User interface design</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rPr>
                        <a:t>Database design</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1 – Initial Supervisor Meeting </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wrap="square"/>
                    <a:lstStyle/>
                    <a:p>
                      <a:pPr>
                        <a:spcAft>
                          <a:spcPts val="200"/>
                        </a:spcAft>
                      </a:pPr>
                      <a:r>
                        <a:rPr sz="1100" b="1">
                          <a:solidFill>
                            <a:srgbClr val="262626"/>
                          </a:solidFill>
                        </a:rPr>
                        <a:t>On track</a:t>
                      </a:r>
                      <a:endParaRPr lang="en-GB" sz="1200">
                        <a:solidFill>
                          <a:schemeClr val="tx1"/>
                        </a:solidFill>
                      </a:endParaRPr>
                    </a:p>
                  </a:txBody>
                  <a:tcPr>
                    <a:solidFill>
                      <a:srgbClr val="92D050"/>
                    </a:solid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wrap="square"/>
                    <a:lstStyle/>
                    <a:p>
                      <a:pPr>
                        <a:spcAft>
                          <a:spcPts val="200"/>
                        </a:spcAft>
                      </a:pPr>
                      <a:r>
                        <a:rPr sz="1100" b="1">
                          <a:solidFill>
                            <a:srgbClr val="262626"/>
                          </a:solidFill>
                        </a:rPr>
                        <a:t>On track</a:t>
                      </a:r>
                      <a:endParaRPr lang="en-GB" sz="1200">
                        <a:solidFill>
                          <a:schemeClr val="tx1"/>
                        </a:solidFill>
                      </a:endParaRPr>
                    </a:p>
                  </a:txBody>
                  <a:tcPr>
                    <a:solidFill>
                      <a:srgbClr val="92D050"/>
                    </a:solidFill>
                  </a:tcPr>
                </a:tc>
              </a:tr>
              <a:tr h="628473">
                <a:tc>
                  <a:txBody>
                    <a:bodyPr/>
                    <a:lstStyle/>
                    <a:p>
                      <a:r>
                        <a:rPr lang="en-GB" sz="1800" b="0"/>
                        <a:t>Tools, Stack, Dev. Environment</a:t>
                      </a:r>
                      <a:endParaRPr lang="en-GB" sz="1800" b="0"/>
                    </a:p>
                  </a:txBody>
                  <a:tcPr>
                    <a:solidFill>
                      <a:schemeClr val="bg1">
                        <a:lumMod val="85000"/>
                      </a:schemeClr>
                    </a:solidFill>
                  </a:tcPr>
                </a:tc>
                <a:tc>
                  <a:txBody>
                    <a:bodyPr wrap="square"/>
                    <a:lstStyle/>
                    <a:p>
                      <a:pPr>
                        <a:spcAft>
                          <a:spcPts val="200"/>
                        </a:spcAft>
                      </a:pPr>
                      <a:r>
                        <a:rPr sz="1100" b="1">
                          <a:solidFill>
                            <a:srgbClr val="262626"/>
                          </a:solidFill>
                        </a:rPr>
                        <a:t>On track</a:t>
                      </a:r>
                      <a:endParaRPr lang="en-GB" sz="1200">
                        <a:solidFill>
                          <a:schemeClr val="tx1"/>
                        </a:solidFill>
                      </a:endParaRPr>
                    </a:p>
                  </a:txBody>
                  <a:tcPr>
                    <a:solidFill>
                      <a:srgbClr val="92D050"/>
                    </a:solid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wrap="square"/>
                    <a:lstStyle/>
                    <a:p>
                      <a:pPr>
                        <a:spcAft>
                          <a:spcPts val="200"/>
                        </a:spcAft>
                      </a:pPr>
                      <a:r>
                        <a:rPr sz="1100" b="1">
                          <a:solidFill>
                            <a:srgbClr val="262626"/>
                          </a:solidFill>
                        </a:rPr>
                        <a:t>Not Started</a:t>
                      </a:r>
                      <a:endParaRPr lang="en-GB" sz="1200">
                        <a:solidFill>
                          <a:schemeClr val="tx1"/>
                        </a:solidFill>
                      </a:endParaRPr>
                    </a:p>
                  </a:txBody>
                  <a:tcPr>
                    <a:solidFill>
                      <a:srgbClr val="D9E7F5"/>
                    </a:solid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wrap="square"/>
                    <a:lstStyle/>
                    <a:p>
                      <a:pPr>
                        <a:spcAft>
                          <a:spcPts val="200"/>
                        </a:spcAft>
                      </a:pPr>
                      <a:r>
                        <a:rPr sz="1100" b="1">
                          <a:solidFill>
                            <a:srgbClr val="262626"/>
                          </a:solidFill>
                        </a:rPr>
                        <a:t>Not Started</a:t>
                      </a:r>
                      <a:endParaRPr lang="en-GB" sz="1200">
                        <a:solidFill>
                          <a:schemeClr val="tx1"/>
                        </a:solidFill>
                      </a:endParaRPr>
                    </a:p>
                  </a:txBody>
                  <a:tcPr>
                    <a:solidFill>
                      <a:srgbClr val="D9E7F5"/>
                    </a:solid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wrap="square"/>
                    <a:lstStyle/>
                    <a:p>
                      <a:pPr>
                        <a:spcAft>
                          <a:spcPts val="200"/>
                        </a:spcAft>
                      </a:pPr>
                      <a:r>
                        <a:rPr sz="1100" b="1">
                          <a:solidFill>
                            <a:srgbClr val="262626"/>
                          </a:solidFill>
                        </a:rPr>
                        <a:t>Not Started</a:t>
                      </a:r>
                      <a:endParaRPr lang="en-GB" sz="1200">
                        <a:solidFill>
                          <a:schemeClr val="tx1"/>
                        </a:solidFill>
                      </a:endParaRPr>
                    </a:p>
                  </a:txBody>
                  <a:tcPr>
                    <a:solidFill>
                      <a:srgbClr val="D9E7F5"/>
                    </a:solidFill>
                  </a:tcPr>
                </a:tc>
              </a:tr>
              <a:tr h="646521">
                <a:tc>
                  <a:txBody>
                    <a:bodyPr/>
                    <a:lstStyle/>
                    <a:p>
                      <a:r>
                        <a:rPr lang="en-GB" sz="1800" b="0"/>
                        <a:t>User Evaluations</a:t>
                      </a:r>
                      <a:endParaRPr lang="en-GB" sz="1800" b="0"/>
                    </a:p>
                  </a:txBody>
                  <a:tcPr>
                    <a:solidFill>
                      <a:schemeClr val="bg1">
                        <a:lumMod val="85000"/>
                      </a:schemeClr>
                    </a:solidFill>
                  </a:tcPr>
                </a:tc>
                <a:tc>
                  <a:txBody>
                    <a:bodyPr wrap="square"/>
                    <a:lstStyle/>
                    <a:p>
                      <a:pPr>
                        <a:spcAft>
                          <a:spcPts val="200"/>
                        </a:spcAft>
                      </a:pPr>
                      <a:r>
                        <a:rPr sz="1100" b="1">
                          <a:solidFill>
                            <a:srgbClr val="262626"/>
                          </a:solidFill>
                        </a:rPr>
                        <a:t>Not Started</a:t>
                      </a:r>
                      <a:endParaRPr lang="en-GB" sz="1200">
                        <a:solidFill>
                          <a:schemeClr val="tx1"/>
                        </a:solidFill>
                      </a:endParaRPr>
                    </a:p>
                  </a:txBody>
                  <a:tcPr>
                    <a:solidFill>
                      <a:srgbClr val="D9E7F5"/>
                    </a:solid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wrap="square"/>
                    <a:lstStyle/>
                    <a:p>
                      <a:pPr>
                        <a:spcAft>
                          <a:spcPts val="200"/>
                        </a:spcAft>
                      </a:pPr>
                      <a:r>
                        <a:rPr sz="1100" b="1">
                          <a:solidFill>
                            <a:srgbClr val="262626"/>
                          </a:solidFill>
                        </a:rPr>
                        <a:t>Not Started</a:t>
                      </a:r>
                      <a:endParaRPr lang="en-GB" sz="1200">
                        <a:solidFill>
                          <a:schemeClr val="tx1"/>
                        </a:solidFill>
                      </a:endParaRPr>
                    </a:p>
                  </a:txBody>
                  <a:tcPr>
                    <a:solidFill>
                      <a:srgbClr val="D9E7F5"/>
                    </a:solid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2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1000">
                          <a:solidFill>
                            <a:srgbClr val="262626"/>
                          </a:solidFill>
                        </a:rPr>
                        <a:t>• Defined &amp; scoped the project: a configurable self-serve analytics product (no-code config + a progressive-unlock engine + multi-domain analyses + NL→SQL), demonstrated on e-commerce (Olist) + a 2nd domain.</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a:spcAft>
                          <a:spcPts val="200"/>
                        </a:spcAft>
                      </a:pPr>
                      <a:r>
                        <a:rPr sz="1000">
                          <a:solidFill>
                            <a:srgbClr val="262626"/>
                          </a:solidFill>
                        </a:rPr>
                        <a:t>• Researched competitors (Power BI Copilot, ThoughtSpot, Vanna, WrenAI) and candidate datasets.</a:t>
                      </a:r>
                      <a:endParaRPr sz="1000">
                        <a:solidFill>
                          <a:srgbClr val="262626"/>
                        </a:solidFill>
                      </a:endParaRPr>
                    </a:p>
                    <a:p>
                      <a:pPr>
                        <a:spcAft>
                          <a:spcPts val="200"/>
                        </a:spcAft>
                      </a:pPr>
                      <a:r>
                        <a:rPr sz="1000">
                          <a:solidFill>
                            <a:srgbClr val="262626"/>
                          </a:solidFill>
                        </a:rPr>
                        <a:t>• Drafted the Proposed Project + a one-page brief.</a:t>
                      </a:r>
                      <a:endParaRPr sz="1000">
                        <a:solidFill>
                          <a:srgbClr val="262626"/>
                        </a:solidFill>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ts val="0"/>
                        </a:spcBef>
                        <a:spcAft>
                          <a:spcPts val="2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1000">
                          <a:solidFill>
                            <a:srgbClr val="262626"/>
                          </a:solidFill>
                        </a:rPr>
                        <a:t>Kick-off with supervisor:</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a:spcAft>
                          <a:spcPts val="200"/>
                        </a:spcAft>
                      </a:pPr>
                      <a:r>
                        <a:rPr sz="1000">
                          <a:solidFill>
                            <a:srgbClr val="262626"/>
                          </a:solidFill>
                        </a:rPr>
                        <a:t>1) Scope/feasibility of the full version (configurable progressive-unlock multi-domain + NL query) — MVP vs stretch</a:t>
                      </a:r>
                      <a:endParaRPr sz="1000">
                        <a:solidFill>
                          <a:srgbClr val="262626"/>
                        </a:solidFill>
                      </a:endParaRPr>
                    </a:p>
                    <a:p>
                      <a:pPr>
                        <a:spcAft>
                          <a:spcPts val="200"/>
                        </a:spcAft>
                      </a:pPr>
                      <a:r>
                        <a:rPr sz="1000">
                          <a:solidFill>
                            <a:srgbClr val="262626"/>
                          </a:solidFill>
                        </a:rPr>
                        <a:t>2) Plan: Olist (e-commerce) + a public/synthetic finance dataset; local PostgreSQL; Streamlit</a:t>
                      </a:r>
                      <a:endParaRPr sz="1000">
                        <a:solidFill>
                          <a:srgbClr val="262626"/>
                        </a:solidFill>
                      </a:endParaRPr>
                    </a:p>
                    <a:p>
                      <a:pPr>
                        <a:spcAft>
                          <a:spcPts val="200"/>
                        </a:spcAft>
                      </a:pPr>
                      <a:r>
                        <a:rPr sz="1000">
                          <a:solidFill>
                            <a:srgbClr val="262626"/>
                          </a:solidFill>
                        </a:rPr>
                        <a:t>3) Evaluation: technical benchmark + a small user study — confirm ethics route</a:t>
                      </a:r>
                      <a:endParaRPr sz="1000">
                        <a:solidFill>
                          <a:srgbClr val="262626"/>
                        </a:solidFill>
                      </a:endParaRPr>
                    </a:p>
                    <a:p>
                      <a:pPr>
                        <a:spcAft>
                          <a:spcPts val="200"/>
                        </a:spcAft>
                      </a:pPr>
                      <a:r>
                        <a:rPr sz="1000">
                          <a:solidFill>
                            <a:srgbClr val="262626"/>
                          </a:solidFill>
                        </a:rPr>
                        <a:t>4) Set up GitLab repo this week</a:t>
                      </a:r>
                      <a:endParaRPr sz="1000">
                        <a:solidFill>
                          <a:srgbClr val="262626"/>
                        </a:solidFill>
                      </a:endParaRPr>
                    </a:p>
                    <a:p>
                      <a:pPr>
                        <a:spcAft>
                          <a:spcPts val="200"/>
                        </a:spcAft>
                      </a:pPr>
                      <a:r>
                        <a:rPr sz="1000">
                          <a:solidFill>
                            <a:srgbClr val="262626"/>
                          </a:solidFill>
                        </a:rPr>
                        <a:t>5) Agree plan for Weeks 2–4 (requirements &amp; design)</a:t>
                      </a:r>
                      <a:endParaRPr sz="1000">
                        <a:solidFill>
                          <a:srgbClr val="262626"/>
                        </a:solidFill>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custDataLst>
              <p:tags r:id="rId1"/>
            </p:custDataLst>
          </p:nvPr>
        </p:nvGraphicFramePr>
        <p:xfrm>
          <a:off x="4714240" y="5339080"/>
          <a:ext cx="7477125" cy="1530985"/>
        </p:xfrm>
        <a:graphic>
          <a:graphicData uri="http://schemas.openxmlformats.org/drawingml/2006/table">
            <a:tbl>
              <a:tblPr/>
              <a:tblGrid>
                <a:gridCol w="7477125"/>
              </a:tblGrid>
              <a:tr h="312420">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218565">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3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1050">
                          <a:solidFill>
                            <a:srgbClr val="262626"/>
                          </a:solidFill>
                        </a:rPr>
                        <a:t>• Main technical uncertainty — how accurately the LLM turns questions into correct SQL on this dataset is not known in advance; to be measured with a benchmark, with safeguards (read-only, query validation).</a:t>
                      </a: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p>
                      <a:pPr>
                        <a:spcAft>
                          <a:spcPts val="300"/>
                        </a:spcAft>
                      </a:pPr>
                      <a:r>
                        <a:rPr sz="1050">
                          <a:solidFill>
                            <a:srgbClr val="262626"/>
                          </a:solidFill>
                        </a:rPr>
                        <a:t>• If a user study is included, ethics approval should be started early so it does not delay the evaluation.</a:t>
                      </a:r>
                      <a:endParaRPr sz="1050">
                        <a:solidFill>
                          <a:srgbClr val="262626"/>
                        </a:solidFill>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ts val="0"/>
                        </a:spcBef>
                        <a:spcAft>
                          <a:spcPts val="2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1000">
                          <a:solidFill>
                            <a:srgbClr val="1A1A1A"/>
                          </a:solidFill>
                        </a:rPr>
                        <a:t>• Finalise scope with supervisor.</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a:spcBef>
                          <a:spcPts val="0"/>
                        </a:spcBef>
                        <a:spcAft>
                          <a:spcPts val="200"/>
                        </a:spcAft>
                      </a:pPr>
                      <a:r>
                        <a:rPr sz="1000">
                          <a:solidFill>
                            <a:srgbClr val="1A1A1A"/>
                          </a:solidFill>
                        </a:rPr>
                        <a:t>• Set up GitLab repo + dev environment (Python, PostgreSQL).</a:t>
                      </a:r>
                      <a:endParaRPr sz="1000">
                        <a:solidFill>
                          <a:srgbClr val="1A1A1A"/>
                        </a:solidFill>
                      </a:endParaRPr>
                    </a:p>
                    <a:p>
                      <a:pPr>
                        <a:spcBef>
                          <a:spcPts val="0"/>
                        </a:spcBef>
                        <a:spcAft>
                          <a:spcPts val="200"/>
                        </a:spcAft>
                      </a:pPr>
                      <a:r>
                        <a:rPr sz="1000">
                          <a:solidFill>
                            <a:srgbClr val="1A1A1A"/>
                          </a:solidFill>
                        </a:rPr>
                        <a:t>• Requirements: user stories, MoSCoW, personas &amp; use cases; competitor analysis; background reading (Zotero).</a:t>
                      </a:r>
                      <a:endParaRPr sz="1000">
                        <a:solidFill>
                          <a:srgbClr val="1A1A1A"/>
                        </a:solidFill>
                      </a:endParaRPr>
                    </a:p>
                    <a:p>
                      <a:pPr>
                        <a:spcBef>
                          <a:spcPts val="0"/>
                        </a:spcBef>
                        <a:spcAft>
                          <a:spcPts val="200"/>
                        </a:spcAft>
                      </a:pPr>
                      <a:r>
                        <a:rPr sz="1000">
                          <a:solidFill>
                            <a:srgbClr val="1A1A1A"/>
                          </a:solidFill>
                        </a:rPr>
                        <a:t>• Design: architecture, data model (ER with a project/workspace entity + table relationships), the unlock-engine logic, UML, UI wireframes.</a:t>
                      </a:r>
                      <a:endParaRPr sz="1000">
                        <a:solidFill>
                          <a:srgbClr val="1A1A1A"/>
                        </a:solidFill>
                      </a:endParaRPr>
                    </a:p>
                    <a:p>
                      <a:pPr>
                        <a:spcBef>
                          <a:spcPts val="0"/>
                        </a:spcBef>
                        <a:spcAft>
                          <a:spcPts val="200"/>
                        </a:spcAft>
                      </a:pPr>
                      <a:r>
                        <a:rPr sz="1000">
                          <a:solidFill>
                            <a:srgbClr val="1A1A1A"/>
                          </a:solidFill>
                        </a:rPr>
                        <a:t>• Acquire &amp; explore Olist; find a public finance dataset for project 2.</a:t>
                      </a:r>
                      <a:endParaRPr sz="1000">
                        <a:solidFill>
                          <a:srgbClr val="1A1A1A"/>
                        </a:solidFill>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2</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46521">
                <a:tc>
                  <a:txBody>
                    <a:bodyPr/>
                    <a:lstStyle/>
                    <a:p>
                      <a:r>
                        <a:rPr lang="en-GB" sz="1800" b="0"/>
                        <a:t>User Evaluations</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nvGraphicFramePr>
        <p:xfrm>
          <a:off x="4714418" y="5180855"/>
          <a:ext cx="7290454" cy="1688897"/>
        </p:xfrm>
        <a:graphic>
          <a:graphicData uri="http://schemas.openxmlformats.org/drawingml/2006/table">
            <a:tbl>
              <a:tblPr/>
              <a:tblGrid>
                <a:gridCol w="7290454"/>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Week 3/4 Status Update</a:t>
            </a:r>
            <a:br>
              <a:rPr lang="en-US"/>
            </a:br>
            <a:br>
              <a:rPr lang="en-US"/>
            </a:br>
            <a:r>
              <a:rPr lang="en-US" sz="3200"/>
              <a:t>Requirements, Design</a:t>
            </a:r>
            <a:br>
              <a:rPr lang="en-US"/>
            </a:br>
            <a:endParaRPr lang="en-GB"/>
          </a:p>
        </p:txBody>
      </p:sp>
      <p:sp>
        <p:nvSpPr>
          <p:cNvPr id="3" name="Footer Placeholder 2"/>
          <p:cNvSpPr>
            <a:spLocks noGrp="1"/>
          </p:cNvSpPr>
          <p:nvPr>
            <p:ph type="ftr" sz="quarter" idx="11"/>
          </p:nvPr>
        </p:nvSpPr>
        <p:spPr/>
        <p:txBody>
          <a:bodyPr/>
          <a:lstStyle/>
          <a:p>
            <a:pPr rtl="0"/>
            <a:r>
              <a:rPr lang="en-GB" noProof="0"/>
              <a:t>Presentation title</a:t>
            </a:r>
            <a:endParaRPr lang="en-GB" noProof="0"/>
          </a:p>
        </p:txBody>
      </p:sp>
      <p:sp>
        <p:nvSpPr>
          <p:cNvPr id="6" name="Text Placeholder 5"/>
          <p:cNvSpPr>
            <a:spLocks noGrp="1"/>
          </p:cNvSpPr>
          <p:nvPr>
            <p:ph type="body" sz="quarter" idx="15"/>
          </p:nvPr>
        </p:nvSpPr>
        <p:spPr>
          <a:xfrm>
            <a:off x="4864100" y="466726"/>
            <a:ext cx="6599238" cy="5671108"/>
          </a:xfrm>
        </p:spPr>
        <p:txBody>
          <a:bodyPr wrap="square">
            <a:normAutofit fontScale="92500"/>
          </a:bodyPr>
          <a:lstStyle/>
          <a:p>
            <a:pPr marL="0" indent="0">
              <a:spcAft>
                <a:spcPts val="600"/>
              </a:spcAft>
              <a:buNone/>
            </a:pPr>
            <a:r>
              <a:rPr sz="1150">
                <a:solidFill>
                  <a:srgbClr val="1A1A1A"/>
                </a:solidFill>
              </a:rPr>
              <a:t>Project topic &amp; scope are locked: a configurable, self-serve data-analysis product. Users upload data; the tool auto-profiles and cleans it (flagging issues to confirm), lets them tag columns with roles (no code), then progressively unlocks role-based analyses (KPIs, cohort, RFM) and answers natural-language questions via a transparent NL→SQL engine that shows the SQL. It is demonstrated on the Olist e-commerce dataset and generalises to other domains by configuration alone.</a:t>
            </a:r>
            <a:endParaRPr lang="en-US" sz="2400">
              <a:solidFill>
                <a:srgbClr val="FF0000"/>
              </a:solidFill>
            </a:endParaRPr>
          </a:p>
          <a:p>
            <a:pPr>
              <a:spcAft>
                <a:spcPts val="600"/>
              </a:spcAft>
            </a:pPr>
            <a:r>
              <a:rPr sz="1150">
                <a:solidFill>
                  <a:srgbClr val="1A1A1A"/>
                </a:solidFill>
              </a:rPr>
              <a:t>Requirements (Analysis) are complete: 2 personas; 21 user-story cards prioritised with MoSCoW (13 Must = MVP); 2 end-to-end scenarios; 8 measurable non-functional requirements; and a competitor/related-work review (Power BI Copilot, Tableau, ThoughtSpot, open-source Vanna/WrenAI) framing the contribution as transparency, evaluation and integration rather than novelty.</a:t>
            </a:r>
            <a:endParaRPr sz="1150">
              <a:solidFill>
                <a:srgbClr val="1A1A1A"/>
              </a:solidFill>
            </a:endParaRPr>
          </a:p>
          <a:p>
            <a:pPr>
              <a:spcAft>
                <a:spcPts val="600"/>
              </a:spcAft>
            </a:pPr>
            <a:r>
              <a:rPr sz="1150">
                <a:solidFill>
                  <a:srgbClr val="1A1A1A"/>
                </a:solidFill>
              </a:rPr>
              <a:t>Design is complete: a three-tier architecture (Streamlit + Power BI / Python / PostgreSQL); a domain-independent meta-model (ER) and the Olist logical star schema; the engine logic as pseudocode and flowcharts (progressive-unlock check; config-driven NL→SQL with read-only + whitelist validation; profiling/cleaning); a UML class diagram; and six UI wireframes.</a:t>
            </a:r>
            <a:endParaRPr sz="1150">
              <a:solidFill>
                <a:srgbClr val="1A1A1A"/>
              </a:solidFill>
            </a:endParaRPr>
          </a:p>
          <a:p>
            <a:pPr>
              <a:spcAft>
                <a:spcPts val="600"/>
              </a:spcAft>
            </a:pPr>
            <a:r>
              <a:rPr sz="1150">
                <a:solidFill>
                  <a:srgbClr val="1A1A1A"/>
                </a:solidFill>
              </a:rPr>
              <a:t>Key decision: the engine is config-driven with no per-domain code, so it generalises across domains. Next: set up the GitLab repo + dev environment and begin the MVP build in Week 5.</a:t>
            </a:r>
            <a:endParaRPr sz="1150">
              <a:solidFill>
                <a:srgbClr val="1A1A1A"/>
              </a:solidFill>
            </a:endParaRPr>
          </a:p>
        </p:txBody>
      </p:sp>
      <p:sp>
        <p:nvSpPr>
          <p:cNvPr id="7" name="Date Placeholder 6"/>
          <p:cNvSpPr>
            <a:spLocks noGrp="1"/>
          </p:cNvSpPr>
          <p:nvPr>
            <p:ph type="dt" sz="half" idx="10"/>
          </p:nvPr>
        </p:nvSpPr>
        <p:spPr/>
        <p:txBody>
          <a:bodyPr/>
          <a:lstStyle/>
          <a:p>
            <a:pPr rtl="0">
              <a:defRPr/>
            </a:pPr>
            <a:r>
              <a:rPr lang="en-GB" noProof="0">
                <a:solidFill>
                  <a:prstClr val="black"/>
                </a:solidFill>
              </a:rPr>
              <a:t>20XX</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3</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46521">
                <a:tc>
                  <a:txBody>
                    <a:bodyPr/>
                    <a:lstStyle/>
                    <a:p>
                      <a:r>
                        <a:rPr lang="en-GB" sz="1800" b="0"/>
                        <a:t>User Evaluations</a:t>
                      </a:r>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nvGraphicFramePr>
        <p:xfrm>
          <a:off x="4714418" y="5180855"/>
          <a:ext cx="7290454" cy="1688897"/>
        </p:xfrm>
        <a:graphic>
          <a:graphicData uri="http://schemas.openxmlformats.org/drawingml/2006/table">
            <a:tbl>
              <a:tblPr/>
              <a:tblGrid>
                <a:gridCol w="7290454"/>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4</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46521">
                <a:tc>
                  <a:txBody>
                    <a:bodyPr/>
                    <a:lstStyle/>
                    <a:p>
                      <a:r>
                        <a:rPr lang="en-GB" sz="1800" b="0"/>
                        <a:t>User Evaluations</a:t>
                      </a:r>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no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nvGraphicFramePr>
        <p:xfrm>
          <a:off x="4714418" y="5180855"/>
          <a:ext cx="7290454" cy="1688897"/>
        </p:xfrm>
        <a:graphic>
          <a:graphicData uri="http://schemas.openxmlformats.org/drawingml/2006/table">
            <a:tbl>
              <a:tblPr/>
              <a:tblGrid>
                <a:gridCol w="7290454"/>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5</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r>
                        <a:rPr sz="1050">
                          <a:solidFill>
                            <a:srgbClr val="FFFFFF"/>
                          </a:solidFill>
                        </a:rPr>
                        <a:t>Completed</a:t>
                      </a:r>
                      <a:endParaRPr lang="en-GB" sz="1200">
                        <a:solidFill>
                          <a:schemeClr val="tx1"/>
                        </a:solidFill>
                      </a:endParaRPr>
                    </a:p>
                  </a:txBody>
                  <a:tcPr>
                    <a:solidFill>
                      <a:srgbClr val="4472C4"/>
                    </a:solid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r>
                        <a:rPr sz="1050">
                          <a:solidFill>
                            <a:srgbClr val="FFFFFF"/>
                          </a:solidFill>
                        </a:rPr>
                        <a:t>Completed</a:t>
                      </a:r>
                      <a:endParaRPr lang="en-GB" sz="1200">
                        <a:solidFill>
                          <a:schemeClr val="tx1"/>
                        </a:solidFill>
                      </a:endParaRPr>
                    </a:p>
                  </a:txBody>
                  <a:tcPr>
                    <a:solidFill>
                      <a:srgbClr val="4472C4"/>
                    </a:solid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r>
                        <a:rPr sz="1050">
                          <a:solidFill>
                            <a:srgbClr val="FFFFFF"/>
                          </a:solidFill>
                        </a:rPr>
                        <a:t>Completed</a:t>
                      </a:r>
                      <a:endParaRPr lang="en-GB" sz="1200">
                        <a:solidFill>
                          <a:schemeClr val="tx1"/>
                        </a:solidFill>
                      </a:endParaRPr>
                    </a:p>
                  </a:txBody>
                  <a:tcPr>
                    <a:solidFill>
                      <a:srgbClr val="4472C4"/>
                    </a:solid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r>
                        <a:rPr sz="1050">
                          <a:solidFill>
                            <a:srgbClr val="FFFFFF"/>
                          </a:solidFill>
                        </a:rPr>
                        <a:t>Completed</a:t>
                      </a:r>
                      <a:endParaRPr lang="en-GB" sz="1200">
                        <a:solidFill>
                          <a:schemeClr val="tx1"/>
                        </a:solidFill>
                      </a:endParaRPr>
                    </a:p>
                  </a:txBody>
                  <a:tcPr>
                    <a:solidFill>
                      <a:srgbClr val="4472C4"/>
                    </a:solid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r>
                        <a:rPr sz="1050">
                          <a:solidFill>
                            <a:srgbClr val="1A1A1A"/>
                          </a:solidFill>
                        </a:rPr>
                        <a:t>On track</a:t>
                      </a:r>
                      <a:endParaRPr lang="en-GB" sz="1200">
                        <a:solidFill>
                          <a:schemeClr val="tx1"/>
                        </a:solidFill>
                      </a:endParaRPr>
                    </a:p>
                  </a:txBody>
                  <a:tcPr>
                    <a:solidFill>
                      <a:srgbClr val="92D050"/>
                    </a:solid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r>
                        <a:rPr sz="1050">
                          <a:solidFill>
                            <a:srgbClr val="1A1A1A"/>
                          </a:solidFill>
                        </a:rPr>
                        <a:t>Not Started</a:t>
                      </a:r>
                      <a:endParaRPr lang="en-GB" sz="1200">
                        <a:solidFill>
                          <a:schemeClr val="tx1"/>
                        </a:solidFill>
                      </a:endParaRPr>
                    </a:p>
                  </a:txBody>
                  <a:tcPr>
                    <a:solidFill>
                      <a:srgbClr val="C5D9F1"/>
                    </a:solidFill>
                  </a:tcPr>
                </a:tc>
              </a:tr>
              <a:tr h="646521">
                <a:tc>
                  <a:txBody>
                    <a:bodyPr/>
                    <a:lstStyle/>
                    <a:p>
                      <a:r>
                        <a:rPr lang="en-GB" sz="1800" b="0"/>
                        <a:t>User Evaluations</a:t>
                      </a:r>
                      <a:endParaRPr lang="en-GB" sz="1800" b="0"/>
                    </a:p>
                  </a:txBody>
                  <a:tcPr>
                    <a:solidFill>
                      <a:schemeClr val="bg1">
                        <a:lumMod val="85000"/>
                      </a:schemeClr>
                    </a:solidFill>
                  </a:tcPr>
                </a:tc>
                <a:tc>
                  <a:txBody>
                    <a:bodyPr/>
                    <a:lstStyle/>
                    <a:p>
                      <a:r>
                        <a:rPr sz="1050">
                          <a:solidFill>
                            <a:srgbClr val="1A1A1A"/>
                          </a:solidFill>
                        </a:rPr>
                        <a:t>Not Started</a:t>
                      </a:r>
                      <a:endParaRPr lang="en-GB" sz="1200">
                        <a:solidFill>
                          <a:schemeClr val="tx1"/>
                        </a:solidFill>
                      </a:endParaRPr>
                    </a:p>
                  </a:txBody>
                  <a:tcPr>
                    <a:solidFill>
                      <a:srgbClr val="C5D9F1"/>
                    </a:solid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r>
                        <a:rPr sz="1050">
                          <a:solidFill>
                            <a:srgbClr val="1A1A1A"/>
                          </a:solidFill>
                        </a:rPr>
                        <a:t>Not Started</a:t>
                      </a:r>
                      <a:endParaRPr lang="en-GB" sz="1200">
                        <a:solidFill>
                          <a:schemeClr val="tx1"/>
                        </a:solidFill>
                      </a:endParaRPr>
                    </a:p>
                  </a:txBody>
                  <a:tcPr>
                    <a:solidFill>
                      <a:srgbClr val="C5D9F1"/>
                    </a:solid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850">
                          <a:solidFill>
                            <a:srgbClr val="1A1A1A"/>
                          </a:solidFill>
                        </a:rPr>
                        <a:t>• Completed all Requirements &amp; Design: 2 personas; 21 user-story cards + MoSCoW (13 Must = MVP); 8 NFRs; 2 scenarios;</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a:spcAft>
                          <a:spcPts val="100"/>
                        </a:spcAft>
                      </a:pPr>
                      <a:r>
                        <a:rPr sz="850">
                          <a:solidFill>
                            <a:srgbClr val="1A1A1A"/>
                          </a:solidFill>
                        </a:rPr>
                        <a:t>  architecture; data model (meta-model ER + Olist star); engine logic (unlock, NL→SQL, cleaning) as pseudocode + flowcharts;</a:t>
                      </a:r>
                      <a:endParaRPr sz="850">
                        <a:solidFill>
                          <a:srgbClr val="1A1A1A"/>
                        </a:solidFill>
                      </a:endParaRPr>
                    </a:p>
                    <a:p>
                      <a:pPr>
                        <a:spcAft>
                          <a:spcPts val="100"/>
                        </a:spcAft>
                      </a:pPr>
                      <a:r>
                        <a:rPr sz="850">
                          <a:solidFill>
                            <a:srgbClr val="1A1A1A"/>
                          </a:solidFill>
                        </a:rPr>
                        <a:t>  UML class diagram; 6 UI wireframes.</a:t>
                      </a:r>
                      <a:endParaRPr sz="850">
                        <a:solidFill>
                          <a:srgbClr val="1A1A1A"/>
                        </a:solidFill>
                      </a:endParaRPr>
                    </a:p>
                    <a:p>
                      <a:pPr>
                        <a:spcAft>
                          <a:spcPts val="100"/>
                        </a:spcAft>
                      </a:pPr>
                      <a:r>
                        <a:rPr sz="850">
                          <a:solidFill>
                            <a:srgbClr val="1A1A1A"/>
                          </a:solidFill>
                        </a:rPr>
                        <a:t>• Set up GitLab repository + development environment.</a:t>
                      </a:r>
                      <a:endParaRPr sz="850">
                        <a:solidFill>
                          <a:srgbClr val="1A1A1A"/>
                        </a:solidFill>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a:spcAft>
                          <a:spcPts val="100"/>
                        </a:spcAft>
                      </a:pPr>
                      <a:r>
                        <a:rPr sz="900">
                          <a:solidFill>
                            <a:srgbClr val="1A1A1A"/>
                          </a:solidFill>
                        </a:rPr>
                        <a:t>Meeting plan:</a:t>
                      </a:r>
                      <a:endParaRPr sz="850">
                        <a:solidFill>
                          <a:srgbClr val="1A1A1A"/>
                        </a:solidFill>
                      </a:endParaRPr>
                    </a:p>
                    <a:p>
                      <a:pPr>
                        <a:spcAft>
                          <a:spcPts val="100"/>
                        </a:spcAft>
                      </a:pPr>
                      <a:r>
                        <a:rPr sz="900">
                          <a:solidFill>
                            <a:srgbClr val="1A1A1A"/>
                          </a:solidFill>
                        </a:rPr>
                        <a:t>1) Recap progress — Requirements &amp; Design are complete .</a:t>
                      </a:r>
                      <a:endParaRPr sz="900">
                        <a:solidFill>
                          <a:srgbClr val="1A1A1A"/>
                        </a:solidFill>
                      </a:endParaRPr>
                    </a:p>
                    <a:p>
                      <a:pPr>
                        <a:spcAft>
                          <a:spcPts val="100"/>
                        </a:spcAft>
                      </a:pPr>
                      <a:r>
                        <a:rPr sz="900">
                          <a:solidFill>
                            <a:srgbClr val="1A1A1A"/>
                          </a:solidFill>
                        </a:rPr>
                        <a:t>2) Feedback &amp; confirm —Confirm MVP scope + the config-driven approach.</a:t>
                      </a:r>
                      <a:endParaRPr sz="900">
                        <a:solidFill>
                          <a:srgbClr val="1A1A1A"/>
                        </a:solidFill>
                      </a:endParaRPr>
                    </a:p>
                    <a:p>
                      <a:pPr>
                        <a:spcAft>
                          <a:spcPts val="100"/>
                        </a:spcAft>
                      </a:pPr>
                      <a:r>
                        <a:rPr sz="900">
                          <a:solidFill>
                            <a:srgbClr val="1A1A1A"/>
                          </a:solidFill>
                        </a:rPr>
                        <a:t>3) Next phase — plan to begin development (MVP build); 2nd-domain dataset; timeline.</a:t>
                      </a:r>
                      <a:endParaRPr sz="900">
                        <a:solidFill>
                          <a:srgbClr val="1A1A1A"/>
                        </a:solidFill>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nvGraphicFramePr>
        <p:xfrm>
          <a:off x="4714418" y="5180855"/>
          <a:ext cx="7290454" cy="1688897"/>
        </p:xfrm>
        <a:graphic>
          <a:graphicData uri="http://schemas.openxmlformats.org/drawingml/2006/table">
            <a:tbl>
              <a:tblPr/>
              <a:tblGrid>
                <a:gridCol w="7290454"/>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850">
                          <a:solidFill>
                            <a:srgbClr val="1A1A1A"/>
                          </a:solidFill>
                        </a:rPr>
                        <a:t>• NL→SQL accuracy on unfamiliar schemas is an empirical risk — to be quantified in evaluation.</a:t>
                      </a: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p>
                      <a:pPr>
                        <a:spcAft>
                          <a:spcPts val="100"/>
                        </a:spcAft>
                      </a:pPr>
                      <a:r>
                        <a:rPr sz="850">
                          <a:solidFill>
                            <a:srgbClr val="1A1A1A"/>
                          </a:solidFill>
                        </a:rPr>
                        <a:t>• Keeping the generic engine from eating into e-commerce depth within the timeline.</a:t>
                      </a:r>
                      <a:endParaRPr sz="850">
                        <a:solidFill>
                          <a:srgbClr val="1A1A1A"/>
                        </a:solidFill>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850">
                          <a:solidFill>
                            <a:srgbClr val="1A1A1A"/>
                          </a:solidFill>
                        </a:rPr>
                        <a:t>• Begin building the MVP core (Prototyping &amp; Build): data upload, profiling/cleaning, semantic config,</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a:spcAft>
                          <a:spcPts val="100"/>
                        </a:spcAft>
                      </a:pPr>
                      <a:r>
                        <a:rPr sz="850">
                          <a:solidFill>
                            <a:srgbClr val="1A1A1A"/>
                          </a:solidFill>
                        </a:rPr>
                        <a:t>  progressive-unlock engine.</a:t>
                      </a:r>
                      <a:endParaRPr sz="850">
                        <a:solidFill>
                          <a:srgbClr val="1A1A1A"/>
                        </a:solidFill>
                      </a:endParaRPr>
                    </a:p>
                    <a:p>
                      <a:pPr>
                        <a:spcAft>
                          <a:spcPts val="100"/>
                        </a:spcAft>
                      </a:pPr>
                      <a:r>
                        <a:rPr sz="850">
                          <a:solidFill>
                            <a:srgbClr val="1A1A1A"/>
                          </a:solidFill>
                        </a:rPr>
                        <a:t>• Start drafting the Analysis &amp; Design chapters from the collected material.</a:t>
                      </a:r>
                      <a:endParaRPr sz="850">
                        <a:solidFill>
                          <a:srgbClr val="1A1A1A"/>
                        </a:solidFill>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Week 6/7 Status Update</a:t>
            </a:r>
            <a:br>
              <a:rPr lang="en-US"/>
            </a:br>
            <a:br>
              <a:rPr lang="en-US"/>
            </a:br>
            <a:br>
              <a:rPr lang="en-US"/>
            </a:br>
            <a:endParaRPr lang="en-GB"/>
          </a:p>
        </p:txBody>
      </p:sp>
      <p:sp>
        <p:nvSpPr>
          <p:cNvPr id="3" name="Footer Placeholder 2"/>
          <p:cNvSpPr>
            <a:spLocks noGrp="1"/>
          </p:cNvSpPr>
          <p:nvPr>
            <p:ph type="ftr" sz="quarter" idx="11"/>
          </p:nvPr>
        </p:nvSpPr>
        <p:spPr/>
        <p:txBody>
          <a:bodyPr/>
          <a:lstStyle/>
          <a:p>
            <a:pPr rtl="0"/>
            <a:r>
              <a:rPr lang="en-GB" noProof="0"/>
              <a:t>Presentation title</a:t>
            </a:r>
            <a:endParaRPr lang="en-GB" noProof="0"/>
          </a:p>
        </p:txBody>
      </p:sp>
      <p:sp>
        <p:nvSpPr>
          <p:cNvPr id="6" name="Text Placeholder 5"/>
          <p:cNvSpPr>
            <a:spLocks noGrp="1"/>
          </p:cNvSpPr>
          <p:nvPr>
            <p:ph type="body" sz="quarter" idx="15"/>
          </p:nvPr>
        </p:nvSpPr>
        <p:spPr>
          <a:xfrm>
            <a:off x="4864100" y="466726"/>
            <a:ext cx="6599238" cy="5671108"/>
          </a:xfrm>
        </p:spPr>
        <p:txBody>
          <a:bodyPr>
            <a:normAutofit fontScale="92500"/>
          </a:bodyPr>
          <a:lstStyle/>
          <a:p>
            <a:pPr marL="0" indent="0">
              <a:spcAft>
                <a:spcPts val="600"/>
              </a:spcAft>
              <a:buNone/>
            </a:pPr>
            <a:r>
              <a:rPr sz="1150">
                <a:solidFill>
                  <a:srgbClr val="1A1A1A"/>
                </a:solidFill>
              </a:rPr>
              <a:t>Final design and aims: unchanged since the Week 3/4 review — a configurable self-serve analytics tool. Users upload CSV files, the tool profiles and cleans them, the user describes each column by role and join key with no code, role-based analyses (Key metrics, Cohort, RFM) unlock progressively, and natural-language questions are answered through a transparent NL→SQL path that always shows the SQL.</a:t>
            </a:r>
            <a:endParaRPr lang="en-US" sz="2400"/>
          </a:p>
          <a:p>
            <a:pPr marL="0" indent="0">
              <a:spcAft>
                <a:spcPts val="600"/>
              </a:spcAft>
              <a:buNone/>
            </a:pPr>
            <a:r>
              <a:rPr sz="1150">
                <a:solidFill>
                  <a:srgbClr val="1A1A1A"/>
                </a:solidFill>
              </a:rPr>
              <a:t>Prototyping and build: the core engine was built first (weeks 5–6) — domain model, DuckDB registry, profiling, cleaning, semantic configuration with auto-suggested roles and keys, the unlock engine with lock reasons, and config-driven SQL for the three templates. The full MVP now runs end to end: upload wizard, dashboard with Plotly charts, and the Ask screen. The NL→SQL layer has an offline stub and an optional OpenAI client behind one interface, a read-only SQL validator built on sqlglot, and a query history that stores the SQL so re-runs skip the model. Live demonstration in the meeting.</a:t>
            </a:r>
          </a:p>
          <a:p>
            <a:pPr marL="0" indent="0">
              <a:spcAft>
                <a:spcPts val="600"/>
              </a:spcAft>
              <a:buNone/>
            </a:pPr>
            <a:r>
              <a:rPr sz="1150">
                <a:solidFill>
                  <a:srgbClr val="1A1A1A"/>
                </a:solidFill>
              </a:rPr>
              <a:t>Dissertation: outline agreed; requirements and design written up in the Week 3–5 pack, to become Chapters 2–3 once the build settles.</a:t>
            </a:r>
          </a:p>
        </p:txBody>
      </p:sp>
      <p:sp>
        <p:nvSpPr>
          <p:cNvPr id="7" name="Date Placeholder 6"/>
          <p:cNvSpPr>
            <a:spLocks noGrp="1"/>
          </p:cNvSpPr>
          <p:nvPr>
            <p:ph type="dt" sz="half" idx="10"/>
          </p:nvPr>
        </p:nvSpPr>
        <p:spPr/>
        <p:txBody>
          <a:bodyPr/>
          <a:lstStyle/>
          <a:p>
            <a:pPr rtl="0">
              <a:defRPr/>
            </a:pPr>
            <a:r>
              <a:rPr lang="en-GB" noProof="0">
                <a:solidFill>
                  <a:prstClr val="black"/>
                </a:solidFill>
              </a:rPr>
              <a:t>20XX</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6</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46521">
                <a:tc>
                  <a:txBody>
                    <a:bodyPr/>
                    <a:lstStyle/>
                    <a:p>
                      <a:r>
                        <a:rPr lang="en-GB" sz="1800" b="0"/>
                        <a:t>User Evaluations</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nvGraphicFramePr>
        <p:xfrm>
          <a:off x="4714418" y="5180855"/>
          <a:ext cx="7290454" cy="1688897"/>
        </p:xfrm>
        <a:graphic>
          <a:graphicData uri="http://schemas.openxmlformats.org/drawingml/2006/table">
            <a:tbl>
              <a:tblPr/>
              <a:tblGrid>
                <a:gridCol w="7290454"/>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7</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pPr algn="ctr"/>
                      <a:r>
                        <a:rPr sz="1000" b="1">
                          <a:solidFill>
                            <a:srgbClr val="FFFFFF"/>
                          </a:solidFill>
                        </a:rPr>
                        <a:t>Completed</a:t>
                      </a:r>
                      <a:endParaRPr lang="en-GB" sz="1200">
                        <a:solidFill>
                          <a:schemeClr val="tx1"/>
                        </a:solidFill>
                      </a:endParaRPr>
                    </a:p>
                  </a:txBody>
                  <a:tcPr anchor="ctr">
                    <a:solidFill>
                      <a:srgbClr val="0070C0"/>
                    </a:solid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pPr algn="ctr"/>
                      <a:r>
                        <a:rPr sz="1000" b="1">
                          <a:solidFill>
                            <a:srgbClr val="FFFFFF"/>
                          </a:solidFill>
                        </a:rPr>
                        <a:t>Completed</a:t>
                      </a:r>
                      <a:endParaRPr lang="en-GB" sz="1200">
                        <a:solidFill>
                          <a:schemeClr val="tx1"/>
                        </a:solidFill>
                      </a:endParaRPr>
                    </a:p>
                  </a:txBody>
                  <a:tcPr anchor="ctr">
                    <a:solidFill>
                      <a:srgbClr val="0070C0"/>
                    </a:solid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pPr algn="ctr"/>
                      <a:r>
                        <a:rPr sz="1000" b="1">
                          <a:solidFill>
                            <a:srgbClr val="FFFFFF"/>
                          </a:solidFill>
                        </a:rPr>
                        <a:t>Completed</a:t>
                      </a:r>
                      <a:endParaRPr lang="en-GB" sz="1200">
                        <a:solidFill>
                          <a:schemeClr val="tx1"/>
                        </a:solidFill>
                      </a:endParaRPr>
                    </a:p>
                  </a:txBody>
                  <a:tcPr anchor="ctr">
                    <a:solidFill>
                      <a:srgbClr val="0070C0"/>
                    </a:solid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pPr algn="ctr"/>
                      <a:r>
                        <a:rPr sz="1000" b="1">
                          <a:solidFill>
                            <a:srgbClr val="FFFFFF"/>
                          </a:solidFill>
                        </a:rPr>
                        <a:t>Completed</a:t>
                      </a:r>
                      <a:endParaRPr lang="en-GB" sz="1200">
                        <a:solidFill>
                          <a:schemeClr val="tx1"/>
                        </a:solidFill>
                      </a:endParaRPr>
                    </a:p>
                  </a:txBody>
                  <a:tcPr anchor="ctr">
                    <a:solidFill>
                      <a:srgbClr val="0070C0"/>
                    </a:solid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pPr algn="ctr"/>
                      <a:r>
                        <a:rPr sz="1000" b="1">
                          <a:solidFill>
                            <a:srgbClr val="FFFFFF"/>
                          </a:solidFill>
                        </a:rPr>
                        <a:t>On track</a:t>
                      </a:r>
                      <a:endParaRPr lang="en-GB" sz="1200">
                        <a:solidFill>
                          <a:schemeClr val="tx1"/>
                        </a:solidFill>
                      </a:endParaRPr>
                    </a:p>
                  </a:txBody>
                  <a:tcPr anchor="ctr">
                    <a:solidFill>
                      <a:srgbClr val="92D050"/>
                    </a:solid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pPr algn="ctr"/>
                      <a:r>
                        <a:rPr sz="1000" b="1">
                          <a:solidFill>
                            <a:srgbClr val="FFFFFF"/>
                          </a:solidFill>
                        </a:rPr>
                        <a:t>On track</a:t>
                      </a:r>
                      <a:endParaRPr lang="en-GB" sz="1200">
                        <a:solidFill>
                          <a:schemeClr val="tx1"/>
                        </a:solidFill>
                      </a:endParaRPr>
                    </a:p>
                  </a:txBody>
                  <a:tcPr anchor="ctr">
                    <a:solidFill>
                      <a:srgbClr val="92D050"/>
                    </a:solidFill>
                  </a:tcPr>
                </a:tc>
              </a:tr>
              <a:tr h="646521">
                <a:tc>
                  <a:txBody>
                    <a:bodyPr/>
                    <a:lstStyle/>
                    <a:p>
                      <a:r>
                        <a:rPr lang="en-GB" sz="1800" b="0"/>
                        <a:t>User Evaluations</a:t>
                      </a:r>
                      <a:endParaRPr lang="en-GB" sz="1800" b="0"/>
                    </a:p>
                  </a:txBody>
                  <a:tcPr>
                    <a:solidFill>
                      <a:schemeClr val="bg1">
                        <a:lumMod val="85000"/>
                      </a:schemeClr>
                    </a:solidFill>
                  </a:tcPr>
                </a:tc>
                <a:tc>
                  <a:txBody>
                    <a:bodyPr/>
                    <a:lstStyle/>
                    <a:p>
                      <a:pPr algn="ctr"/>
                      <a:r>
                        <a:rPr sz="1000" b="1">
                          <a:solidFill>
                            <a:srgbClr val="202020"/>
                          </a:solidFill>
                        </a:rPr>
                        <a:t>Not started</a:t>
                      </a:r>
                      <a:endParaRPr lang="en-GB" sz="1200">
                        <a:solidFill>
                          <a:schemeClr val="tx1"/>
                        </a:solidFill>
                      </a:endParaRPr>
                    </a:p>
                  </a:txBody>
                  <a:tcPr anchor="ctr">
                    <a:solidFill>
                      <a:srgbClr val="DDEBF7"/>
                    </a:solid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pPr algn="ctr"/>
                      <a:r>
                        <a:rPr sz="1000" b="1">
                          <a:solidFill>
                            <a:srgbClr val="202020"/>
                          </a:solidFill>
                        </a:rPr>
                        <a:t>Not started</a:t>
                      </a:r>
                      <a:endParaRPr lang="en-GB" sz="1200">
                        <a:solidFill>
                          <a:schemeClr val="tx1"/>
                        </a:solidFill>
                      </a:endParaRPr>
                    </a:p>
                  </a:txBody>
                  <a:tcPr anchor="ctr">
                    <a:solidFill>
                      <a:srgbClr val="DDEBF7"/>
                    </a:solid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2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Built full MVP end-to-end: upload → clean → no-code config → progressive-unlock dashboard → NL→SQL</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a:spcAft>
                          <a:spcPts val="200"/>
                        </a:spcAft>
                        <a:buNone/>
                      </a:pPr>
                      <a:r>
                        <a:rPr sz="900"/>
                        <a:t>• NL→SQL shows/downloads the generated SQL; read-only SQL validator; query history persisted to a DuckDB file</a:t>
                      </a:r>
                      <a:endParaRPr sz="900"/>
                    </a:p>
                    <a:p>
                      <a:pPr>
                        <a:spcAft>
                          <a:spcPts val="200"/>
                        </a:spcAft>
                        <a:buNone/>
                      </a:pPr>
                      <a:r>
                        <a:rPr sz="900"/>
                        <a:t>• Started pytest suite ; fixed bugs found while testing the prototype</a:t>
                      </a:r>
                      <a:endParaRPr sz="900"/>
                    </a:p>
                  </a:txBody>
                  <a:tcPr marL="68580" marR="68580" marT="34296" marB="34296" anchor="t"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ts val="2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Live demo of the MVP (upload → configure → dashboard → NL→SQL with visible SQL)</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a:spcAft>
                          <a:spcPts val="200"/>
                        </a:spcAft>
                        <a:buNone/>
                      </a:pPr>
                      <a:endParaRPr sz="900"/>
                    </a:p>
                  </a:txBody>
                  <a:tcPr marL="68580" marR="68580" marT="34311" marB="34311" anchor="t"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nvGraphicFramePr>
        <p:xfrm>
          <a:off x="4714418" y="5180855"/>
          <a:ext cx="7290454" cy="1688897"/>
        </p:xfrm>
        <a:graphic>
          <a:graphicData uri="http://schemas.openxmlformats.org/drawingml/2006/table">
            <a:tbl>
              <a:tblPr/>
              <a:tblGrid>
                <a:gridCol w="7290454"/>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2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sz="900"/>
                    </a:p>
                  </a:txBody>
                  <a:tcPr marL="68580" marR="68580" marT="34279" marB="34279" anchor="t"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wrap="square"/>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2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sym typeface="+mn-ea"/>
                        </a:rPr>
                        <a:t>• </a:t>
                      </a:r>
                      <a:r>
                        <a:rPr sz="900"/>
                        <a:t>Finish unit tests + project wrap-up</a:t>
                      </a:r>
                      <a:endParaRPr sz="900"/>
                    </a:p>
                    <a:p>
                      <a:pPr>
                        <a:spcAft>
                          <a:spcPts val="200"/>
                        </a:spcAft>
                        <a:buNone/>
                      </a:pPr>
                      <a:r>
                        <a:rPr sz="900"/>
                        <a:t>• Start the dissertation draft (intro, background, requirements &amp; design)</a:t>
                      </a:r>
                      <a:endParaRPr sz="900"/>
                    </a:p>
                    <a:p>
                      <a:pPr>
                        <a:spcAft>
                          <a:spcPts val="200"/>
                        </a:spcAft>
                        <a:buNone/>
                      </a:pPr>
                      <a:r>
                        <a:rPr sz="900"/>
                        <a:t>• If time: second-domain generalisation test</a:t>
                      </a:r>
                      <a:endParaRPr sz="900"/>
                    </a:p>
                  </a:txBody>
                  <a:tcPr marL="68580" marR="68580" marT="34296" marB="34296" anchor="t"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Week 8/9 Status Update</a:t>
            </a:r>
            <a:br>
              <a:rPr lang="en-US"/>
            </a:br>
            <a:br>
              <a:rPr lang="en-US"/>
            </a:br>
            <a:br>
              <a:rPr lang="en-US"/>
            </a:br>
            <a:endParaRPr lang="en-GB"/>
          </a:p>
        </p:txBody>
      </p:sp>
      <p:sp>
        <p:nvSpPr>
          <p:cNvPr id="3" name="Footer Placeholder 2"/>
          <p:cNvSpPr>
            <a:spLocks noGrp="1"/>
          </p:cNvSpPr>
          <p:nvPr>
            <p:ph type="ftr" sz="quarter" idx="11"/>
          </p:nvPr>
        </p:nvSpPr>
        <p:spPr/>
        <p:txBody>
          <a:bodyPr/>
          <a:lstStyle/>
          <a:p>
            <a:pPr rtl="0"/>
            <a:r>
              <a:rPr lang="en-GB" noProof="0"/>
              <a:t>Presentation title</a:t>
            </a:r>
            <a:endParaRPr lang="en-GB" noProof="0"/>
          </a:p>
        </p:txBody>
      </p:sp>
      <p:sp>
        <p:nvSpPr>
          <p:cNvPr id="6" name="Text Placeholder 5"/>
          <p:cNvSpPr>
            <a:spLocks noGrp="1"/>
          </p:cNvSpPr>
          <p:nvPr>
            <p:ph type="body" sz="quarter" idx="15"/>
          </p:nvPr>
        </p:nvSpPr>
        <p:spPr>
          <a:xfrm>
            <a:off x="4864100" y="466726"/>
            <a:ext cx="6599238" cy="5671108"/>
          </a:xfrm>
        </p:spPr>
        <p:txBody>
          <a:bodyPr>
            <a:normAutofit fontScale="85000"/>
          </a:bodyPr>
          <a:lstStyle/>
          <a:p>
            <a:pPr marL="0" indent="0">
              <a:spcAft>
                <a:spcPts val="600"/>
              </a:spcAft>
              <a:buNone/>
            </a:pPr>
            <a:r>
              <a:rPr sz="1150">
                <a:solidFill>
                  <a:srgbClr val="1A1A1A"/>
                </a:solidFill>
              </a:rPr>
              <a:t>Build: at the minimum viable product and beyond it. Since the last meeting — cleaning made opt-in as suggested (detect → explain → apply only what the user approves); projects and query history persist across restarts; accounts, sign-in and multiple projects with a database file per project; cross-table SQL from declared join keys; deployed to Streamlit Community Cloud with a daily cap on model calls; dark theme and an animated landing page.</a:t>
            </a:r>
            <a:endParaRPr lang="en-US" sz="2400"/>
          </a:p>
          <a:p>
            <a:pPr marL="0" indent="0">
              <a:spcAft>
                <a:spcPts val="600"/>
              </a:spcAft>
              <a:buNone/>
            </a:pPr>
            <a:r>
              <a:rPr sz="1150">
                <a:solidFill>
                  <a:srgbClr val="1A1A1A"/>
                </a:solidFill>
              </a:rPr>
              <a:t>Remaining development: finish the test suite and a wording pass so that lock reasons use plain words rather than role names.</a:t>
            </a:r>
          </a:p>
          <a:p>
            <a:pPr marL="0" indent="0">
              <a:spcAft>
                <a:spcPts val="600"/>
              </a:spcAft>
              <a:buNone/>
            </a:pPr>
            <a:r>
              <a:rPr sz="1150">
                <a:solidFill>
                  <a:srgbClr val="1A1A1A"/>
                </a:solidFill>
              </a:rPr>
              <a:t>Evaluation plan: (1) automated tests — unit tests for pure logic, integration tests through DuckDB, the file system and the Streamlit app; (2) requirement coverage, US1–US22 and NFR-1–5, against evidence; (3) a ~30-question NL→SQL benchmark on the study data, offline stub as the baseline against gpt-4o-mini; (4) an unmoderated remote user study — a 13-step task sheet, two data files split so that progressive unlock is exercised, and an anonymous Forms survey with five project statements plus SUS (ethics checklist signed).</a:t>
            </a:r>
          </a:p>
          <a:p>
            <a:pPr marL="0" indent="0">
              <a:spcAft>
                <a:spcPts val="600"/>
              </a:spcAft>
              <a:buNone/>
            </a:pPr>
            <a:r>
              <a:rPr sz="1150">
                <a:solidFill>
                  <a:srgbClr val="1A1A1A"/>
                </a:solidFill>
              </a:rPr>
              <a:t>Dissertation: Chapters 2–3 drafted from the design pack; test statistics and the survey design on the next two slides.</a:t>
            </a:r>
          </a:p>
        </p:txBody>
      </p:sp>
      <p:sp>
        <p:nvSpPr>
          <p:cNvPr id="7" name="Date Placeholder 6"/>
          <p:cNvSpPr>
            <a:spLocks noGrp="1"/>
          </p:cNvSpPr>
          <p:nvPr>
            <p:ph type="dt" sz="half" idx="10"/>
          </p:nvPr>
        </p:nvSpPr>
        <p:spPr/>
        <p:txBody>
          <a:bodyPr/>
          <a:lstStyle/>
          <a:p>
            <a:pPr rtl="0">
              <a:defRPr/>
            </a:pPr>
            <a:r>
              <a:rPr lang="en-GB" noProof="0">
                <a:solidFill>
                  <a:prstClr val="black"/>
                </a:solidFill>
              </a:rPr>
              <a:t>20XX</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8</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46521">
                <a:tc>
                  <a:txBody>
                    <a:bodyPr/>
                    <a:lstStyle/>
                    <a:p>
                      <a:r>
                        <a:rPr lang="en-GB" sz="1800" b="0"/>
                        <a:t>User Evaluations</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nvGraphicFramePr>
        <p:xfrm>
          <a:off x="4714418" y="5180855"/>
          <a:ext cx="7290454" cy="1688897"/>
        </p:xfrm>
        <a:graphic>
          <a:graphicData uri="http://schemas.openxmlformats.org/drawingml/2006/table">
            <a:tbl>
              <a:tblPr/>
              <a:tblGrid>
                <a:gridCol w="7290454"/>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9</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r>
                        <a:rPr sz="1000" b="1">
                          <a:solidFill>
                            <a:srgbClr val="FFFFFF"/>
                          </a:solidFill>
                        </a:rPr>
                        <a:t>Completed</a:t>
                      </a:r>
                      <a:endParaRPr lang="en-GB" sz="1200">
                        <a:solidFill>
                          <a:schemeClr val="tx1"/>
                        </a:solidFill>
                      </a:endParaRPr>
                    </a:p>
                  </a:txBody>
                  <a:tcPr>
                    <a:solidFill>
                      <a:srgbClr val="0070C0"/>
                    </a:solid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r>
                        <a:rPr sz="1000" b="1">
                          <a:solidFill>
                            <a:srgbClr val="FFFFFF"/>
                          </a:solidFill>
                        </a:rPr>
                        <a:t>Completed</a:t>
                      </a:r>
                      <a:endParaRPr lang="en-GB" sz="1200">
                        <a:solidFill>
                          <a:schemeClr val="tx1"/>
                        </a:solidFill>
                      </a:endParaRPr>
                    </a:p>
                  </a:txBody>
                  <a:tcPr>
                    <a:solidFill>
                      <a:srgbClr val="0070C0"/>
                    </a:solid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r>
                        <a:rPr sz="1000" b="1">
                          <a:solidFill>
                            <a:srgbClr val="FFFFFF"/>
                          </a:solidFill>
                        </a:rPr>
                        <a:t>Completed</a:t>
                      </a:r>
                      <a:endParaRPr lang="en-GB" sz="1200">
                        <a:solidFill>
                          <a:schemeClr val="tx1"/>
                        </a:solidFill>
                      </a:endParaRPr>
                    </a:p>
                  </a:txBody>
                  <a:tcPr>
                    <a:solidFill>
                      <a:srgbClr val="0070C0"/>
                    </a:solid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r>
                        <a:rPr sz="1000" b="1">
                          <a:solidFill>
                            <a:srgbClr val="FFFFFF"/>
                          </a:solidFill>
                        </a:rPr>
                        <a:t>Completed</a:t>
                      </a:r>
                      <a:endParaRPr lang="en-GB" sz="1200">
                        <a:solidFill>
                          <a:schemeClr val="tx1"/>
                        </a:solidFill>
                      </a:endParaRPr>
                    </a:p>
                  </a:txBody>
                  <a:tcPr>
                    <a:solidFill>
                      <a:srgbClr val="0070C0"/>
                    </a:solid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r>
                        <a:rPr sz="1000" b="1">
                          <a:solidFill>
                            <a:srgbClr val="FFFFFF"/>
                          </a:solidFill>
                        </a:rPr>
                        <a:t>Completed</a:t>
                      </a:r>
                      <a:endParaRPr lang="en-GB" sz="1200">
                        <a:solidFill>
                          <a:schemeClr val="tx1"/>
                        </a:solidFill>
                      </a:endParaRPr>
                    </a:p>
                  </a:txBody>
                  <a:tcPr>
                    <a:solidFill>
                      <a:srgbClr val="0070C0"/>
                    </a:solid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r>
                        <a:rPr sz="1000" b="1">
                          <a:solidFill>
                            <a:srgbClr val="FFFFFF"/>
                          </a:solidFill>
                        </a:rPr>
                        <a:t>Completed</a:t>
                      </a:r>
                      <a:endParaRPr lang="en-GB" sz="1200">
                        <a:solidFill>
                          <a:schemeClr val="tx1"/>
                        </a:solidFill>
                      </a:endParaRPr>
                    </a:p>
                  </a:txBody>
                  <a:tcPr>
                    <a:solidFill>
                      <a:srgbClr val="0070C0"/>
                    </a:solidFill>
                  </a:tcPr>
                </a:tc>
              </a:tr>
              <a:tr h="646521">
                <a:tc>
                  <a:txBody>
                    <a:bodyPr/>
                    <a:lstStyle/>
                    <a:p>
                      <a:r>
                        <a:rPr lang="en-GB" sz="1800" b="0"/>
                        <a:t>User Evaluations</a:t>
                      </a:r>
                      <a:endParaRPr lang="en-GB" sz="1800" b="0"/>
                    </a:p>
                  </a:txBody>
                  <a:tcPr>
                    <a:solidFill>
                      <a:schemeClr val="bg1">
                        <a:lumMod val="85000"/>
                      </a:schemeClr>
                    </a:solidFill>
                  </a:tcPr>
                </a:tc>
                <a:tc>
                  <a:txBody>
                    <a:bodyPr/>
                    <a:lstStyle/>
                    <a:p>
                      <a:r>
                        <a:rPr sz="1000" b="1">
                          <a:solidFill>
                            <a:srgbClr val="FFFFFF"/>
                          </a:solidFill>
                        </a:rPr>
                        <a:t>On track</a:t>
                      </a:r>
                      <a:endParaRPr lang="en-GB" sz="1200">
                        <a:solidFill>
                          <a:schemeClr val="tx1"/>
                        </a:solidFill>
                      </a:endParaRPr>
                    </a:p>
                  </a:txBody>
                  <a:tcPr>
                    <a:solidFill>
                      <a:srgbClr val="92D050"/>
                    </a:solid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r>
                        <a:rPr sz="1000" b="1">
                          <a:solidFill>
                            <a:srgbClr val="202020"/>
                          </a:solidFill>
                        </a:rPr>
                        <a:t>Not started</a:t>
                      </a:r>
                      <a:endParaRPr lang="en-GB" sz="1200">
                        <a:solidFill>
                          <a:schemeClr val="tx1"/>
                        </a:solidFill>
                      </a:endParaRPr>
                    </a:p>
                  </a:txBody>
                  <a:tcPr>
                    <a:solidFill>
                      <a:srgbClr val="DDEBF7"/>
                    </a:solid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ts val="1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Test suite finished: 117 cases, all passing</a:t>
                      </a:r>
                      <a:endParaRPr kumimoji="0" lang="en-US" sz="18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a:spcAft>
                          <a:spcPts val="100"/>
                        </a:spcAft>
                      </a:pPr>
                      <a:r>
                        <a:rPr sz="900"/>
                        <a:t>• Task sheet, survey (live in Forms) and study dataset ready — the data is split in two so progressive unlock is exercised</a:t>
                      </a:r>
                      <a:endParaRPr sz="900"/>
                    </a:p>
                    <a:p>
                      <a:pPr>
                        <a:spcAft>
                          <a:spcPts val="100"/>
                        </a:spcAft>
                      </a:pPr>
                      <a:r>
                        <a:rPr sz="900"/>
                        <a:t>• Accounts and a redesigned landing page: register, sign in, UI polish across the app</a:t>
                      </a:r>
                      <a:endParaRPr sz="900"/>
                    </a:p>
                    <a:p>
                      <a:pPr>
                        <a:spcAft>
                          <a:spcPts val="100"/>
                        </a:spcAft>
                      </a:pPr>
                      <a:r>
                        <a:rPr sz="900"/>
                        <a:t>• Multiple projects per account, each with its own data and history</a:t>
                      </a:r>
                      <a:endParaRPr sz="900"/>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Walk through the test suite</a:t>
                      </a:r>
                      <a:endParaRPr sz="900"/>
                    </a:p>
                    <a:p>
                      <a:pPr marL="0" marR="0" lvl="0" indent="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Review the draft task sheet and survey</a:t>
                      </a:r>
                      <a:endParaRPr sz="900"/>
                    </a:p>
                    <a:p>
                      <a:endParaRPr sz="900"/>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custDataLst>
              <p:tags r:id="rId1"/>
            </p:custDataLst>
          </p:nvPr>
        </p:nvGraphicFramePr>
        <p:xfrm>
          <a:off x="4714240" y="5180965"/>
          <a:ext cx="7411720" cy="1689100"/>
        </p:xfrm>
        <a:graphic>
          <a:graphicData uri="http://schemas.openxmlformats.org/drawingml/2006/table">
            <a:tbl>
              <a:tblPr/>
              <a:tblGrid>
                <a:gridCol w="7411720"/>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sz="900"/>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Run the user study (target </a:t>
                      </a:r>
                      <a:r>
                        <a:rPr lang="en-US" sz="900"/>
                        <a:t>3-5</a:t>
                      </a:r>
                      <a:r>
                        <a:rPr sz="900"/>
                        <a:t> participants, mixed SQL experience)</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r>
                        <a:rPr sz="900"/>
                        <a:t>• Start the dissertation draft: Introduction, Background/Analysis, Design</a:t>
                      </a:r>
                      <a:endParaRPr sz="900"/>
                    </a:p>
                    <a:p>
                      <a:r>
                        <a:rPr sz="900"/>
                        <a:t>• Build the requirements-coverage table (US1–US20, NFR-1–5) and a ~30-question NL→SQL benchmark</a:t>
                      </a:r>
                      <a:endParaRPr sz="900"/>
                    </a:p>
                    <a:p>
                      <a:r>
                        <a:rPr sz="900"/>
                        <a:t>• Draft the demo video script</a:t>
                      </a:r>
                      <a:endParaRPr sz="900"/>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unit </a:t>
            </a:r>
            <a:r>
              <a:rPr lang="en-US" altLang="zh-CN"/>
              <a:t>test</a:t>
            </a:r>
            <a:endParaRPr lang="en-US" altLang="zh-CN"/>
          </a:p>
        </p:txBody>
      </p:sp>
      <p:pic>
        <p:nvPicPr>
          <p:cNvPr id="7" name="图片 6"/>
          <p:cNvPicPr/>
          <p:nvPr/>
        </p:nvPicPr>
        <p:blipFill>
          <a:blip r:embed="rId1"/>
          <a:stretch>
            <a:fillRect/>
          </a:stretch>
        </p:blipFill>
        <p:spPr>
          <a:xfrm>
            <a:off x="133350" y="1265555"/>
            <a:ext cx="7912100" cy="2851150"/>
          </a:xfrm>
          <a:prstGeom prst="rect">
            <a:avLst/>
          </a:prstGeom>
        </p:spPr>
      </p:pic>
      <p:sp>
        <p:nvSpPr>
          <p:cNvPr id="8" name="TextBox 7"/>
          <p:cNvSpPr txBox="1"/>
          <p:nvPr/>
        </p:nvSpPr>
        <p:spPr>
          <a:xfrm>
            <a:off x="137160" y="4299585"/>
            <a:ext cx="11841480" cy="2240280"/>
          </a:xfrm>
          <a:prstGeom prst="rect">
            <a:avLst/>
          </a:prstGeom>
          <a:noFill/>
        </p:spPr>
        <p:txBody>
          <a:bodyPr wrap="square">
            <a:spAutoFit/>
          </a:bodyPr>
          <a:lstStyle/>
          <a:p>
            <a:pPr>
              <a:spcAft>
                <a:spcPts val="400"/>
              </a:spcAft>
            </a:pPr>
            <a:r>
              <a:rPr sz="1600" b="1">
                <a:solidFill>
                  <a:srgbClr val="1F1F1F"/>
                </a:solidFill>
              </a:rPr>
              <a:t>117 tests, all passing · 96% coverage of the service layer, 91% of the core package, 70% overall</a:t>
            </a:r>
            <a:endParaRPr sz="1600" b="1">
              <a:solidFill>
                <a:srgbClr val="1F1F1F"/>
              </a:solidFill>
            </a:endParaRPr>
          </a:p>
          <a:p>
            <a:pPr>
              <a:spcAft>
                <a:spcPts val="200"/>
              </a:spcAft>
            </a:pPr>
            <a:r>
              <a:rPr sz="1400">
                <a:solidFill>
                  <a:srgbClr val="333333"/>
                </a:solidFill>
              </a:rPr>
              <a:t>• </a:t>
            </a:r>
            <a:r>
              <a:rPr lang="en-US" sz="1400">
                <a:solidFill>
                  <a:srgbClr val="333333"/>
                </a:solidFill>
              </a:rPr>
              <a:t>Service layer</a:t>
            </a:r>
            <a:r>
              <a:rPr sz="1400">
                <a:solidFill>
                  <a:srgbClr val="333333"/>
                </a:solidFill>
              </a:rPr>
              <a:t> Covered: profiling, cleaning, semantic configuration, unlock engine, analysis templates, SQL guard, accounts, project isolation, NL→SQL, usage cap</a:t>
            </a:r>
            <a:endParaRPr sz="1400">
              <a:solidFill>
                <a:srgbClr val="333333"/>
              </a:solidFill>
            </a:endParaRPr>
          </a:p>
          <a:p>
            <a:pPr>
              <a:spcAft>
                <a:spcPts val="200"/>
              </a:spcAft>
            </a:pPr>
            <a:r>
              <a:rPr sz="1400">
                <a:solidFill>
                  <a:srgbClr val="333333"/>
                </a:solidFill>
              </a:rPr>
              <a:t>•  Unit tests for the pure logic; integration tests run against a real DuckDB, real files, and the whole Streamlit app</a:t>
            </a:r>
            <a:endParaRPr sz="1400">
              <a:solidFill>
                <a:srgbClr val="333333"/>
              </a:solidFill>
            </a:endParaRPr>
          </a:p>
          <a:p>
            <a:pPr>
              <a:spcAft>
                <a:spcPts val="200"/>
              </a:spcAft>
            </a:pPr>
            <a:r>
              <a:rPr sz="1400">
                <a:solidFill>
                  <a:srgbClr val="333333"/>
                </a:solidFill>
              </a:rPr>
              <a:t>•  openai_client.py is 0% by design — it only calls the OpenAI API; tests use a stub with the same interface, so they stay fast, free and repeatable</a:t>
            </a:r>
            <a:endParaRPr sz="1400">
              <a:solidFill>
                <a:srgbClr val="333333"/>
              </a:solidFill>
            </a:endParaRPr>
          </a:p>
          <a:p>
            <a:pPr>
              <a:spcAft>
                <a:spcPts val="200"/>
              </a:spcAft>
            </a:pPr>
            <a:r>
              <a:rPr sz="1400">
                <a:solidFill>
                  <a:srgbClr val="333333"/>
                </a:solidFill>
              </a:rPr>
              <a:t>•  The rest of the gap is error-handling branches — a corrupt row, a locked file, SQL the parser itself cannot read</a:t>
            </a:r>
            <a:endParaRPr sz="1400">
              <a:solidFill>
                <a:srgbClr val="333333"/>
              </a:solidFill>
            </a:endParaRPr>
          </a:p>
          <a:p>
            <a:pPr>
              <a:spcAft>
                <a:spcPts val="200"/>
              </a:spcAft>
            </a:pPr>
            <a:r>
              <a:rPr sz="1400">
                <a:solidFill>
                  <a:srgbClr val="333333"/>
                </a:solidFill>
              </a:rPr>
              <a:t>•  The UI layer is 44%: routing and session state are covered, visual appearance is not — the user study judges that instead</a:t>
            </a:r>
            <a:endParaRPr sz="1400">
              <a:solidFill>
                <a:srgbClr val="333333"/>
              </a:solidFill>
            </a:endParaRPr>
          </a:p>
          <a:p>
            <a:pPr>
              <a:spcAft>
                <a:spcPts val="200"/>
              </a:spcAft>
            </a:pPr>
            <a:endParaRPr sz="1400">
              <a:solidFill>
                <a:srgbClr val="333333"/>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Survey</a:t>
            </a:r>
            <a:endParaRPr lang="en-US" altLang="zh-CN"/>
          </a:p>
        </p:txBody>
      </p:sp>
      <p:sp>
        <p:nvSpPr>
          <p:cNvPr id="3" name="内容占位符 2"/>
          <p:cNvSpPr>
            <a:spLocks noGrp="1"/>
          </p:cNvSpPr>
          <p:nvPr>
            <p:ph sz="quarter" idx="14"/>
          </p:nvPr>
        </p:nvSpPr>
        <p:spPr/>
        <p:txBody>
          <a:bodyPr/>
          <a:p>
            <a:r>
              <a:rPr lang="en-US" altLang="zh-CN">
                <a:hlinkClick r:id="rId1" action="ppaction://hlinkfile"/>
              </a:rPr>
              <a:t>https://forms.cloud.microsoft/e/H0nvCdQ6Nm</a:t>
            </a:r>
            <a:endParaRPr lang="en-US" altLang="zh-CN"/>
          </a:p>
          <a:p>
            <a:endParaRPr lang="en-US" altLang="zh-CN"/>
          </a:p>
          <a:p>
            <a:endParaRPr lang="en-US" altLang="zh-CN"/>
          </a:p>
        </p:txBody>
      </p:sp>
      <p:sp>
        <p:nvSpPr>
          <p:cNvPr id="4" name="页脚占位符 3"/>
          <p:cNvSpPr>
            <a:spLocks noGrp="1"/>
          </p:cNvSpPr>
          <p:nvPr>
            <p:ph type="ftr" sz="quarter" idx="11"/>
          </p:nvPr>
        </p:nvSpPr>
        <p:spPr/>
        <p:txBody>
          <a:bodyPr/>
          <a:p>
            <a:pPr rtl="0"/>
            <a:r>
              <a:rPr lang="en-GB" noProof="0">
                <a:solidFill>
                  <a:prstClr val="black"/>
                </a:solidFill>
              </a:rPr>
              <a:t>Presentation title</a:t>
            </a:r>
            <a:endParaRPr lang="en-GB" noProof="0">
              <a:solidFill>
                <a:prstClr val="black"/>
              </a:solidFill>
            </a:endParaRPr>
          </a:p>
        </p:txBody>
      </p:sp>
      <p:sp>
        <p:nvSpPr>
          <p:cNvPr id="5" name="日期占位符 4"/>
          <p:cNvSpPr>
            <a:spLocks noGrp="1"/>
          </p:cNvSpPr>
          <p:nvPr>
            <p:ph type="dt" sz="half" idx="10"/>
          </p:nvPr>
        </p:nvSpPr>
        <p:spPr/>
        <p:txBody>
          <a:bodyPr/>
          <a:p>
            <a:pPr rtl="0">
              <a:defRPr/>
            </a:pPr>
            <a:r>
              <a:rPr lang="en-GB" noProof="0">
                <a:solidFill>
                  <a:prstClr val="black"/>
                </a:solidFill>
              </a:rPr>
              <a:t>20XX</a:t>
            </a:r>
            <a:endParaRPr lang="en-GB" noProof="0">
              <a:solidFill>
                <a:prstClr val="black"/>
              </a:solidFill>
            </a:endParaRPr>
          </a:p>
        </p:txBody>
      </p:sp>
      <p:sp>
        <p:nvSpPr>
          <p:cNvPr id="6" name="灯片编号占位符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06B786C7-B8F9-4072-AAAA-17258464D730}"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7" name="TextBox 6"/>
          <p:cNvSpPr txBox="1"/>
          <p:nvPr/>
        </p:nvSpPr>
        <p:spPr>
          <a:xfrm>
            <a:off x="548640" y="2331720"/>
            <a:ext cx="5440680" cy="3569970"/>
          </a:xfrm>
          <a:prstGeom prst="rect">
            <a:avLst/>
          </a:prstGeom>
          <a:noFill/>
        </p:spPr>
        <p:txBody>
          <a:bodyPr wrap="square">
            <a:noAutofit/>
          </a:bodyPr>
          <a:lstStyle/>
          <a:p>
            <a:pPr>
              <a:spcAft>
                <a:spcPts val="700"/>
              </a:spcAft>
            </a:pPr>
            <a:r>
              <a:rPr sz="1600" b="1">
                <a:solidFill>
                  <a:srgbClr val="1F3B5C"/>
                </a:solidFill>
              </a:rPr>
              <a:t>The survey — Forms, anonymous, ~4 min</a:t>
            </a:r>
            <a:endParaRPr sz="1600" b="1">
              <a:solidFill>
                <a:srgbClr val="1F3B5C"/>
              </a:solidFill>
            </a:endParaRPr>
          </a:p>
          <a:p>
            <a:pPr>
              <a:spcAft>
                <a:spcPts val="600"/>
              </a:spcAft>
            </a:pPr>
            <a:r>
              <a:rPr sz="1400">
                <a:solidFill>
                  <a:srgbClr val="333333"/>
                </a:solidFill>
              </a:rPr>
              <a:t>•  Consent, then one background question: the participant's SQL level</a:t>
            </a:r>
            <a:endParaRPr sz="1400">
              <a:solidFill>
                <a:srgbClr val="333333"/>
              </a:solidFill>
            </a:endParaRPr>
          </a:p>
          <a:p>
            <a:pPr>
              <a:spcAft>
                <a:spcPts val="600"/>
              </a:spcAft>
            </a:pPr>
            <a:r>
              <a:rPr sz="1400">
                <a:solidFill>
                  <a:srgbClr val="333333"/>
                </a:solidFill>
              </a:rPr>
              <a:t>•  Five statements written for this project: unlock, describing columns, seeing the SQL, control over cleaning, trust</a:t>
            </a:r>
            <a:endParaRPr sz="1400">
              <a:solidFill>
                <a:srgbClr val="333333"/>
              </a:solidFill>
            </a:endParaRPr>
          </a:p>
          <a:p>
            <a:pPr>
              <a:spcAft>
                <a:spcPts val="600"/>
              </a:spcAft>
            </a:pPr>
            <a:r>
              <a:rPr sz="1400">
                <a:solidFill>
                  <a:srgbClr val="333333"/>
                </a:solidFill>
              </a:rPr>
              <a:t>•  The System Usability Scale — ten standard statements, scored 0–100</a:t>
            </a:r>
            <a:endParaRPr sz="1400">
              <a:solidFill>
                <a:srgbClr val="333333"/>
              </a:solidFill>
            </a:endParaRPr>
          </a:p>
          <a:p>
            <a:pPr>
              <a:spcAft>
                <a:spcPts val="600"/>
              </a:spcAft>
            </a:pPr>
            <a:r>
              <a:rPr sz="1400">
                <a:solidFill>
                  <a:srgbClr val="333333"/>
                </a:solidFill>
              </a:rPr>
              <a:t>•  SUS is used because it is standard: the score compares against a published benchmark of 68. It must be used whole</a:t>
            </a:r>
            <a:endParaRPr sz="1400">
              <a:solidFill>
                <a:srgbClr val="333333"/>
              </a:solidFill>
            </a:endParaRPr>
          </a:p>
          <a:p>
            <a:pPr>
              <a:spcAft>
                <a:spcPts val="600"/>
              </a:spcAft>
            </a:pPr>
            <a:r>
              <a:rPr sz="1400">
                <a:solidFill>
                  <a:srgbClr val="333333"/>
                </a:solidFill>
              </a:rPr>
              <a:t>•  Two optional free-text boxes: what was good, what could be improved</a:t>
            </a:r>
            <a:endParaRPr sz="1400">
              <a:solidFill>
                <a:srgbClr val="333333"/>
              </a:solidFill>
            </a:endParaRPr>
          </a:p>
        </p:txBody>
      </p:sp>
      <p:sp>
        <p:nvSpPr>
          <p:cNvPr id="8" name="TextBox 7"/>
          <p:cNvSpPr txBox="1"/>
          <p:nvPr/>
        </p:nvSpPr>
        <p:spPr>
          <a:xfrm>
            <a:off x="6263640" y="2331720"/>
            <a:ext cx="5440680" cy="4244975"/>
          </a:xfrm>
          <a:prstGeom prst="rect">
            <a:avLst/>
          </a:prstGeom>
          <a:noFill/>
        </p:spPr>
        <p:txBody>
          <a:bodyPr wrap="square">
            <a:noAutofit/>
          </a:bodyPr>
          <a:lstStyle/>
          <a:p>
            <a:pPr>
              <a:spcAft>
                <a:spcPts val="700"/>
              </a:spcAft>
            </a:pPr>
            <a:r>
              <a:rPr sz="1600" b="1">
                <a:solidFill>
                  <a:srgbClr val="1F3B5C"/>
                </a:solidFill>
              </a:rPr>
              <a:t>The task sheet — 13 steps, ~20 min, unmoderated</a:t>
            </a:r>
            <a:endParaRPr sz="1600" b="1">
              <a:solidFill>
                <a:srgbClr val="1F3B5C"/>
              </a:solidFill>
            </a:endParaRPr>
          </a:p>
          <a:p>
            <a:pPr>
              <a:spcAft>
                <a:spcPts val="600"/>
              </a:spcAft>
            </a:pPr>
            <a:r>
              <a:rPr sz="1400">
                <a:solidFill>
                  <a:srgbClr val="333333"/>
                </a:solidFill>
              </a:rPr>
              <a:t>•  Participants get the app and two data files and work alone, so the study can run remotely</a:t>
            </a:r>
            <a:endParaRPr sz="1400">
              <a:solidFill>
                <a:srgbClr val="333333"/>
              </a:solidFill>
            </a:endParaRPr>
          </a:p>
          <a:p>
            <a:pPr>
              <a:spcAft>
                <a:spcPts val="600"/>
              </a:spcAft>
            </a:pPr>
            <a:r>
              <a:rPr sz="1400">
                <a:solidFill>
                  <a:srgbClr val="333333"/>
                </a:solidFill>
              </a:rPr>
              <a:t>•  Every step says what to do and what to notice</a:t>
            </a:r>
            <a:endParaRPr sz="1400">
              <a:solidFill>
                <a:srgbClr val="333333"/>
              </a:solidFill>
            </a:endParaRPr>
          </a:p>
          <a:p>
            <a:pPr>
              <a:spcAft>
                <a:spcPts val="600"/>
              </a:spcAft>
            </a:pPr>
            <a:r>
              <a:rPr sz="1400">
                <a:solidFill>
                  <a:srgbClr val="333333"/>
                </a:solidFill>
              </a:rPr>
              <a:t>•  The data is split in two on purpose: the first file has no amounts, so only Cohort unlocks</a:t>
            </a:r>
            <a:endParaRPr sz="1400">
              <a:solidFill>
                <a:srgbClr val="333333"/>
              </a:solidFill>
            </a:endParaRPr>
          </a:p>
          <a:p>
            <a:pPr>
              <a:spcAft>
                <a:spcPts val="600"/>
              </a:spcAft>
            </a:pPr>
            <a:r>
              <a:rPr sz="1400">
                <a:solidFill>
                  <a:srgbClr val="333333"/>
                </a:solidFill>
              </a:rPr>
              <a:t>•  Step 6 stops there — whether the lock reason makes sense is the key observation</a:t>
            </a:r>
            <a:endParaRPr sz="1400">
              <a:solidFill>
                <a:srgbClr val="333333"/>
              </a:solidFill>
            </a:endParaRPr>
          </a:p>
          <a:p>
            <a:pPr>
              <a:spcAft>
                <a:spcPts val="600"/>
              </a:spcAft>
            </a:pPr>
            <a:r>
              <a:rPr sz="1400">
                <a:solidFill>
                  <a:srgbClr val="333333"/>
                </a:solidFill>
              </a:rPr>
              <a:t>•  The second file unlocks the rest; </a:t>
            </a:r>
            <a:endParaRPr sz="1400">
              <a:solidFill>
                <a:srgbClr val="333333"/>
              </a:solidFill>
            </a:endParaRPr>
          </a:p>
          <a:p>
            <a:pPr>
              <a:spcAft>
                <a:spcPts val="600"/>
              </a:spcAft>
            </a:pPr>
            <a:endParaRPr sz="1400">
              <a:solidFill>
                <a:srgbClr val="333333"/>
              </a:solidFill>
            </a:endParaRPr>
          </a:p>
          <a:p>
            <a:pPr>
              <a:spcAft>
                <a:spcPts val="600"/>
              </a:spcAft>
            </a:pPr>
            <a:r>
              <a:rPr sz="1400">
                <a:solidFill>
                  <a:srgbClr val="333333"/>
                </a:solidFill>
              </a:rPr>
              <a:t>•  Target: 5 participants, mixed SQL experience</a:t>
            </a:r>
            <a:endParaRPr sz="1400">
              <a:solidFill>
                <a:srgbClr val="33333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Week 10/11 Status Update</a:t>
            </a:r>
            <a:br>
              <a:rPr lang="en-US"/>
            </a:br>
            <a:br>
              <a:rPr lang="en-US"/>
            </a:br>
            <a:br>
              <a:rPr lang="en-US"/>
            </a:br>
            <a:endParaRPr lang="en-GB"/>
          </a:p>
        </p:txBody>
      </p:sp>
      <p:sp>
        <p:nvSpPr>
          <p:cNvPr id="3" name="Footer Placeholder 2"/>
          <p:cNvSpPr>
            <a:spLocks noGrp="1"/>
          </p:cNvSpPr>
          <p:nvPr>
            <p:ph type="ftr" sz="quarter" idx="11"/>
          </p:nvPr>
        </p:nvSpPr>
        <p:spPr/>
        <p:txBody>
          <a:bodyPr/>
          <a:lstStyle/>
          <a:p>
            <a:pPr rtl="0"/>
            <a:r>
              <a:rPr lang="en-GB" noProof="0"/>
              <a:t>Presentation title</a:t>
            </a:r>
            <a:endParaRPr lang="en-GB" noProof="0"/>
          </a:p>
        </p:txBody>
      </p:sp>
      <p:sp>
        <p:nvSpPr>
          <p:cNvPr id="6" name="Text Placeholder 5"/>
          <p:cNvSpPr>
            <a:spLocks noGrp="1"/>
          </p:cNvSpPr>
          <p:nvPr>
            <p:ph type="body" sz="quarter" idx="15"/>
          </p:nvPr>
        </p:nvSpPr>
        <p:spPr>
          <a:xfrm>
            <a:off x="4864100" y="466726"/>
            <a:ext cx="6599238" cy="5671108"/>
          </a:xfrm>
        </p:spPr>
        <p:txBody>
          <a:bodyPr>
            <a:normAutofit/>
          </a:bodyPr>
          <a:lstStyle/>
          <a:p>
            <a:pPr marL="0" indent="0">
              <a:buNone/>
            </a:pPr>
            <a:endParaRPr lang="en-US" sz="2400"/>
          </a:p>
          <a:p>
            <a:pPr marL="0" indent="0">
              <a:buNone/>
            </a:pPr>
            <a:r>
              <a:rPr lang="en-US" sz="2400"/>
              <a:t>By the Week 10/11 meeting, you should be able to update your supervisor on:</a:t>
            </a:r>
            <a:endParaRPr lang="en-US" sz="2400"/>
          </a:p>
          <a:p>
            <a:pPr lvl="1"/>
            <a:r>
              <a:rPr lang="en-US" sz="2400"/>
              <a:t>The </a:t>
            </a:r>
            <a:r>
              <a:rPr lang="en-US" sz="2400" b="1"/>
              <a:t>results of any evaluations and testing </a:t>
            </a:r>
            <a:r>
              <a:rPr lang="en-US" sz="2400"/>
              <a:t>conducted or in-progress</a:t>
            </a:r>
            <a:endParaRPr lang="en-US" sz="2400"/>
          </a:p>
          <a:p>
            <a:pPr lvl="1"/>
            <a:r>
              <a:rPr lang="en-US" sz="2400" b="1"/>
              <a:t>Remaining dissertation writing </a:t>
            </a:r>
            <a:r>
              <a:rPr lang="en-US" sz="2400"/>
              <a:t>(e.g. evaluation, discussion, conclusions), and your plan for the last 2 weeks and final write-up.</a:t>
            </a:r>
            <a:endParaRPr lang="en-US" sz="2400"/>
          </a:p>
          <a:p>
            <a:pPr lvl="1"/>
            <a:r>
              <a:rPr lang="en-US" sz="2400"/>
              <a:t>Any remaining content you would like supervisor feedback on, if they have time.</a:t>
            </a:r>
            <a:endParaRPr lang="en-US" sz="2400"/>
          </a:p>
        </p:txBody>
      </p:sp>
      <p:sp>
        <p:nvSpPr>
          <p:cNvPr id="7" name="Date Placeholder 6"/>
          <p:cNvSpPr>
            <a:spLocks noGrp="1"/>
          </p:cNvSpPr>
          <p:nvPr>
            <p:ph type="dt" sz="half" idx="10"/>
          </p:nvPr>
        </p:nvSpPr>
        <p:spPr/>
        <p:txBody>
          <a:bodyPr/>
          <a:lstStyle/>
          <a:p>
            <a:pPr rtl="0">
              <a:defRPr/>
            </a:pPr>
            <a:r>
              <a:rPr lang="en-GB" noProof="0">
                <a:solidFill>
                  <a:prstClr val="black"/>
                </a:solidFill>
              </a:rPr>
              <a:t>20XX</a:t>
            </a:r>
            <a:endParaRPr lang="en-GB" noProof="0">
              <a:solidFill>
                <a:prstClr val="black"/>
              </a:solidFill>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44D815C-8BF3-4ECF-A945-A2A7C2983AF9}" type="slidenum">
              <a:rPr kumimoji="0" lang="en-GB" sz="1050" b="0" i="0" u="none" strike="noStrike" kern="1200" cap="none" spc="0" normalizeH="0" baseline="0" noProof="0" smtClean="0">
                <a:ln>
                  <a:noFill/>
                </a:ln>
                <a:solidFill>
                  <a:prstClr val="black"/>
                </a:solidFill>
                <a:effectLst/>
                <a:uLnTx/>
                <a:uFillTx/>
                <a:latin typeface="Avenir Next LT Pro"/>
                <a:ea typeface="+mn-ea"/>
                <a:cs typeface="+mn-cs"/>
              </a:rPr>
            </a:fld>
            <a:endParaRPr kumimoji="0" lang="en-GB" sz="1050" b="0" i="0" u="none" strike="noStrike" kern="1200" cap="none" spc="0" normalizeH="0" baseline="0" noProof="0">
              <a:ln>
                <a:noFill/>
              </a:ln>
              <a:solidFill>
                <a:prstClr val="black"/>
              </a:solidFill>
              <a:effectLst/>
              <a:uLnTx/>
              <a:uFillTx/>
              <a:latin typeface="Avenir Next LT Pro"/>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10</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46521">
                <a:tc>
                  <a:txBody>
                    <a:bodyPr/>
                    <a:lstStyle/>
                    <a:p>
                      <a:r>
                        <a:rPr lang="en-GB" sz="1800" b="0"/>
                        <a:t>User Evaluations</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nvGraphicFramePr>
        <p:xfrm>
          <a:off x="4714418" y="5180855"/>
          <a:ext cx="7290454" cy="1688897"/>
        </p:xfrm>
        <a:graphic>
          <a:graphicData uri="http://schemas.openxmlformats.org/drawingml/2006/table">
            <a:tbl>
              <a:tblPr/>
              <a:tblGrid>
                <a:gridCol w="7290454"/>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11</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r>
                        <a:rPr sz="1000"/>
                        <a:t>Completed</a:t>
                      </a:r>
                      <a:endParaRPr lang="en-GB" sz="1200">
                        <a:solidFill>
                          <a:schemeClr val="tx1"/>
                        </a:solidFill>
                      </a:endParaRPr>
                    </a:p>
                  </a:txBody>
                  <a:tcPr>
                    <a:solidFill>
                      <a:srgbClr val="0070C0"/>
                    </a:solid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r>
                        <a:rPr sz="1000"/>
                        <a:t>Completed</a:t>
                      </a:r>
                      <a:endParaRPr lang="en-GB" sz="1200">
                        <a:solidFill>
                          <a:schemeClr val="tx1"/>
                        </a:solidFill>
                      </a:endParaRPr>
                    </a:p>
                  </a:txBody>
                  <a:tcPr>
                    <a:solidFill>
                      <a:srgbClr val="0070C0"/>
                    </a:solid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r>
                        <a:rPr sz="1000"/>
                        <a:t>Completed</a:t>
                      </a:r>
                      <a:endParaRPr lang="en-GB" sz="1200">
                        <a:solidFill>
                          <a:schemeClr val="tx1"/>
                        </a:solidFill>
                      </a:endParaRPr>
                    </a:p>
                  </a:txBody>
                  <a:tcPr>
                    <a:solidFill>
                      <a:srgbClr val="0070C0"/>
                    </a:solid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r>
                        <a:rPr sz="1000"/>
                        <a:t>Completed</a:t>
                      </a:r>
                      <a:endParaRPr lang="en-GB" sz="1200">
                        <a:solidFill>
                          <a:schemeClr val="tx1"/>
                        </a:solidFill>
                      </a:endParaRPr>
                    </a:p>
                  </a:txBody>
                  <a:tcPr>
                    <a:solidFill>
                      <a:srgbClr val="0070C0"/>
                    </a:solid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r>
                        <a:rPr sz="1000"/>
                        <a:t>Completed</a:t>
                      </a:r>
                      <a:endParaRPr lang="en-GB" sz="1200">
                        <a:solidFill>
                          <a:schemeClr val="tx1"/>
                        </a:solidFill>
                      </a:endParaRPr>
                    </a:p>
                  </a:txBody>
                  <a:tcPr>
                    <a:solidFill>
                      <a:srgbClr val="0070C0"/>
                    </a:solid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r>
                        <a:rPr sz="1000"/>
                        <a:t>Completed</a:t>
                      </a:r>
                      <a:endParaRPr lang="en-GB" sz="1200">
                        <a:solidFill>
                          <a:schemeClr val="tx1"/>
                        </a:solidFill>
                      </a:endParaRPr>
                    </a:p>
                  </a:txBody>
                  <a:tcPr>
                    <a:solidFill>
                      <a:srgbClr val="0070C0"/>
                    </a:solidFill>
                  </a:tcPr>
                </a:tc>
              </a:tr>
              <a:tr h="646521">
                <a:tc>
                  <a:txBody>
                    <a:bodyPr/>
                    <a:lstStyle/>
                    <a:p>
                      <a:r>
                        <a:rPr lang="en-GB" sz="1800" b="0"/>
                        <a:t>User Evaluations</a:t>
                      </a:r>
                      <a:endParaRPr lang="en-GB" sz="1800" b="0"/>
                    </a:p>
                  </a:txBody>
                  <a:tcPr>
                    <a:solidFill>
                      <a:schemeClr val="bg1">
                        <a:lumMod val="85000"/>
                      </a:schemeClr>
                    </a:solidFill>
                  </a:tcPr>
                </a:tc>
                <a:tc>
                  <a:txBody>
                    <a:bodyPr/>
                    <a:lstStyle/>
                    <a:p>
                      <a:r>
                        <a:rPr sz="1000"/>
                        <a:t>Completed</a:t>
                      </a:r>
                      <a:endParaRPr lang="en-GB" sz="1200">
                        <a:solidFill>
                          <a:schemeClr val="tx1"/>
                        </a:solidFill>
                      </a:endParaRPr>
                    </a:p>
                  </a:txBody>
                  <a:tcPr>
                    <a:solidFill>
                      <a:srgbClr val="0070C0"/>
                    </a:solid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r>
                        <a:rPr sz="1000"/>
                        <a:t>On track</a:t>
                      </a:r>
                      <a:endParaRPr lang="en-GB" sz="1200">
                        <a:solidFill>
                          <a:schemeClr val="tx1"/>
                        </a:solidFill>
                      </a:endParaRPr>
                    </a:p>
                  </a:txBody>
                  <a:tcPr>
                    <a:solidFill>
                      <a:srgbClr val="92D050"/>
                    </a:solid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30-question NL→SQL benchmark: gpt-4o-mini 80% vs offline stub 13%, failures classified; two stub defects fixed; second-domain check on a synthetic hospital dataset (6 Sep)</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Per-card column selector for each role (2 Sep); named shared join keys; requirements-lock.txt</a:t>
                      </a:r>
                      <a:endParaRPr sz="900"/>
                    </a:p>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Tests: 126 cases pass in 2.3 s; 92% coverage of ssa, 97% of the service layer</a:t>
                      </a:r>
                      <a:endParaRPr sz="900"/>
                    </a:p>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Dissertation: full draft Ch1–5 + 26 verified references in the School template (19 pages); video script drafted</a:t>
                      </a:r>
                      <a:endParaRPr sz="900"/>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No meeting this week (viva done at the Week 10/11 checkpoint)</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nvGraphicFramePr>
        <p:xfrm>
          <a:off x="4714418" y="5180855"/>
          <a:ext cx="7290454" cy="1688897"/>
        </p:xfrm>
        <a:graphic>
          <a:graphicData uri="http://schemas.openxmlformats.org/drawingml/2006/table">
            <a:tbl>
              <a:tblPr/>
              <a:tblGrid>
                <a:gridCol w="7290454"/>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sz="900"/>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Upcoming Activities – Next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Record the 10-minute solution video (face on camera)</a:t>
                      </a: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Final proofread, contents, export the PDF</a:t>
                      </a:r>
                      <a:endParaRPr sz="900"/>
                    </a:p>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Package the zip (code, CodeList, SoftwarePrereqs, task sheet, survey, ethics, tracker); sign the originality form</a:t>
                      </a:r>
                      <a:endParaRPr sz="900"/>
                    </a:p>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r>
                        <a:rPr sz="900"/>
                        <a:t>• Submit on Moodle by Fri 11 Sep 16:30</a:t>
                      </a:r>
                      <a:endParaRPr sz="900"/>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Autofit/>
          </a:bodyPr>
          <a:lstStyle/>
          <a:p>
            <a:r>
              <a:rPr lang="en-GB" sz="3600"/>
              <a:t>Week 12 - Final Week</a:t>
            </a:r>
            <a:endParaRPr lang="en-GB" sz="3600"/>
          </a:p>
        </p:txBody>
      </p:sp>
      <p:graphicFrame>
        <p:nvGraphicFramePr>
          <p:cNvPr id="12" name="Table 11"/>
          <p:cNvGraphicFramePr>
            <a:graphicFrameLocks noGrp="1"/>
          </p:cNvGraphicFramePr>
          <p:nvPr/>
        </p:nvGraphicFramePr>
        <p:xfrm>
          <a:off x="187128" y="1227364"/>
          <a:ext cx="4320780" cy="5492841"/>
        </p:xfrm>
        <a:graphic>
          <a:graphicData uri="http://schemas.openxmlformats.org/drawingml/2006/table">
            <a:tbl>
              <a:tblPr firstRow="1" bandRow="1">
                <a:tableStyleId>{5C22544A-7EE6-4342-B048-85BDC9FD1C3A}</a:tableStyleId>
              </a:tblPr>
              <a:tblGrid>
                <a:gridCol w="2663024"/>
                <a:gridCol w="1657756"/>
              </a:tblGrid>
              <a:tr h="359126">
                <a:tc>
                  <a:txBody>
                    <a:bodyPr/>
                    <a:lstStyle/>
                    <a:p>
                      <a:r>
                        <a:rPr lang="en-GB" sz="1800"/>
                        <a:t>Key Milestones </a:t>
                      </a:r>
                      <a:endParaRPr lang="en-GB" sz="1800"/>
                    </a:p>
                  </a:txBody>
                  <a:tcPr/>
                </a:tc>
                <a:tc>
                  <a:txBody>
                    <a:bodyPr/>
                    <a:lstStyle/>
                    <a:p>
                      <a:r>
                        <a:rPr lang="en-GB" sz="1800"/>
                        <a:t>Status  </a:t>
                      </a:r>
                      <a:endParaRPr lang="en-GB" sz="1800"/>
                    </a:p>
                  </a:txBody>
                  <a:tcPr/>
                </a:tc>
              </a:tr>
              <a:tr h="628473">
                <a:tc>
                  <a:txBody>
                    <a:bodyPr/>
                    <a:lstStyle/>
                    <a:p>
                      <a:r>
                        <a:rPr lang="en-GB" sz="1800" b="0"/>
                        <a:t>Project Topic &amp; High Level scope</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38504">
                <a:tc>
                  <a:txBody>
                    <a:bodyPr/>
                    <a:lstStyle/>
                    <a:p>
                      <a:pPr algn="l" fontAlgn="b"/>
                      <a:r>
                        <a:rPr lang="en-GB" sz="1800" b="0" i="0" u="none" strike="noStrike">
                          <a:solidFill>
                            <a:srgbClr val="000000"/>
                          </a:solidFill>
                          <a:effectLst/>
                          <a:latin typeface="+mn-lt"/>
                        </a:rPr>
                        <a:t>Requirements / Analysis</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Tools, Stack, Dev. Environment</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Prototype and Design</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Development</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System testing</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46521">
                <a:tc>
                  <a:txBody>
                    <a:bodyPr/>
                    <a:lstStyle/>
                    <a:p>
                      <a:r>
                        <a:rPr lang="en-GB" sz="1800" b="0"/>
                        <a:t>User Evaluations</a:t>
                      </a:r>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r h="628473">
                <a:tc>
                  <a:txBody>
                    <a:bodyPr/>
                    <a:lstStyle/>
                    <a:p>
                      <a:r>
                        <a:rPr lang="en-GB" sz="1800" b="0"/>
                        <a:t>Dissertation  &amp; Video </a:t>
                      </a:r>
                      <a:endParaRPr lang="en-GB" sz="1800" b="0"/>
                    </a:p>
                    <a:p>
                      <a:endParaRPr lang="en-GB" sz="1800" b="0"/>
                    </a:p>
                  </a:txBody>
                  <a:tcPr>
                    <a:solidFill>
                      <a:schemeClr val="bg1">
                        <a:lumMod val="85000"/>
                      </a:schemeClr>
                    </a:solidFill>
                  </a:tcPr>
                </a:tc>
                <a:tc>
                  <a:txBody>
                    <a:bodyPr/>
                    <a:lstStyle/>
                    <a:p>
                      <a:endParaRPr lang="en-GB" sz="1200">
                        <a:solidFill>
                          <a:schemeClr val="tx1"/>
                        </a:solidFill>
                      </a:endParaRPr>
                    </a:p>
                  </a:txBody>
                  <a:tcPr>
                    <a:solidFill>
                      <a:schemeClr val="bg1">
                        <a:lumMod val="95000"/>
                      </a:schemeClr>
                    </a:solidFill>
                  </a:tcPr>
                </a:tc>
              </a:tr>
            </a:tbl>
          </a:graphicData>
        </a:graphic>
      </p:graphicFrame>
      <p:graphicFrame>
        <p:nvGraphicFramePr>
          <p:cNvPr id="13" name="Table 12"/>
          <p:cNvGraphicFramePr>
            <a:graphicFrameLocks noGrp="1" noChangeAspect="1"/>
          </p:cNvGraphicFramePr>
          <p:nvPr/>
        </p:nvGraphicFramePr>
        <p:xfrm>
          <a:off x="4638741" y="1509703"/>
          <a:ext cx="1790078" cy="1714500"/>
        </p:xfrm>
        <a:graphic>
          <a:graphicData uri="http://schemas.openxmlformats.org/drawingml/2006/table">
            <a:tbl>
              <a:tblPr firstRow="1" bandRow="1">
                <a:tableStyleId>{21E4AEA4-8DFA-4A89-87EB-49C32662AFE0}</a:tableStyleId>
              </a:tblPr>
              <a:tblGrid>
                <a:gridCol w="508161"/>
                <a:gridCol w="1281917"/>
              </a:tblGrid>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050">
                          <a:solidFill>
                            <a:schemeClr val="tx1"/>
                          </a:solidFill>
                          <a:latin typeface="Arial" panose="020B0604020202090204" pitchFamily="34" charset="0"/>
                          <a:cs typeface="Arial" panose="020B0604020202090204" pitchFamily="34" charset="0"/>
                        </a:rPr>
                        <a:t>Not Started</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1050">
                          <a:solidFill>
                            <a:schemeClr val="tx1"/>
                          </a:solidFill>
                          <a:latin typeface="Arial" panose="020B0604020202090204" pitchFamily="34" charset="0"/>
                          <a:cs typeface="Arial" panose="020B0604020202090204" pitchFamily="34" charset="0"/>
                        </a:rPr>
                        <a:t>On track</a:t>
                      </a:r>
                      <a:endParaRPr lang="en-US" sz="1050">
                        <a:solidFill>
                          <a:schemeClr val="tx1"/>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50">
                          <a:latin typeface="Arial" panose="020B0604020202090204" pitchFamily="34" charset="0"/>
                          <a:cs typeface="Arial" panose="020B0604020202090204" pitchFamily="34" charset="0"/>
                        </a:rPr>
                        <a:t>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r>
              <a:tr h="342900">
                <a:tc>
                  <a:txBody>
                    <a:bodyPr/>
                    <a:lstStyle/>
                    <a:p>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50">
                          <a:latin typeface="Arial" panose="020B0604020202090204" pitchFamily="34" charset="0"/>
                          <a:cs typeface="Arial" panose="020B0604020202090204" pitchFamily="34" charset="0"/>
                        </a:rPr>
                        <a:t>Major issues</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r h="342900">
                <a:tc>
                  <a:txBody>
                    <a:bodyPr/>
                    <a:lstStyle/>
                    <a:p>
                      <a:endParaRPr lang="en-US" sz="1050">
                        <a:solidFill>
                          <a:schemeClr val="accent1">
                            <a:lumMod val="60000"/>
                            <a:lumOff val="40000"/>
                          </a:schemeClr>
                        </a:solidFill>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050">
                          <a:latin typeface="Arial" panose="020B0604020202090204" pitchFamily="34" charset="0"/>
                          <a:cs typeface="Arial" panose="020B0604020202090204" pitchFamily="34" charset="0"/>
                        </a:rPr>
                        <a:t>Completed</a:t>
                      </a:r>
                      <a:endParaRPr lang="en-US" sz="1050">
                        <a:latin typeface="Arial" panose="020B0604020202090204" pitchFamily="34" charset="0"/>
                        <a:cs typeface="Arial" panose="020B0604020202090204" pitchFamily="34" charset="0"/>
                      </a:endParaRPr>
                    </a:p>
                  </a:txBody>
                  <a:tcPr marL="68610" marR="68610" marT="34305" marB="3430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14" name="TextBox 13"/>
          <p:cNvSpPr txBox="1"/>
          <p:nvPr/>
        </p:nvSpPr>
        <p:spPr>
          <a:xfrm>
            <a:off x="4638741" y="1171149"/>
            <a:ext cx="1371600" cy="338554"/>
          </a:xfrm>
          <a:prstGeom prst="rect">
            <a:avLst/>
          </a:prstGeom>
          <a:noFill/>
        </p:spPr>
        <p:txBody>
          <a:bodyPr wrap="square">
            <a:spAutoFit/>
          </a:bodyPr>
          <a:lstStyle/>
          <a:p>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Key</a:t>
            </a:r>
            <a:endParaRPr lang="en-GB" sz="1600"/>
          </a:p>
        </p:txBody>
      </p:sp>
      <p:graphicFrame>
        <p:nvGraphicFramePr>
          <p:cNvPr id="15" name="Group 20"/>
          <p:cNvGraphicFramePr>
            <a:graphicFrameLocks noGrp="1"/>
          </p:cNvGraphicFramePr>
          <p:nvPr/>
        </p:nvGraphicFramePr>
        <p:xfrm>
          <a:off x="4714418" y="3429000"/>
          <a:ext cx="3558726" cy="1742075"/>
        </p:xfrm>
        <a:graphic>
          <a:graphicData uri="http://schemas.openxmlformats.org/drawingml/2006/table">
            <a:tbl>
              <a:tblPr/>
              <a:tblGrid>
                <a:gridCol w="3558726"/>
              </a:tblGrid>
              <a:tr h="33248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Completed Activities This week </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09593">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6" name="Group 28"/>
          <p:cNvGraphicFramePr/>
          <p:nvPr/>
        </p:nvGraphicFramePr>
        <p:xfrm>
          <a:off x="6216850" y="1286996"/>
          <a:ext cx="5908245" cy="2142004"/>
        </p:xfrm>
        <a:graphic>
          <a:graphicData uri="http://schemas.openxmlformats.org/drawingml/2006/table">
            <a:tbl>
              <a:tblPr/>
              <a:tblGrid>
                <a:gridCol w="5908245"/>
              </a:tblGrid>
              <a:tr h="326512">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Meeting Agenda (if scheduled for this week)</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815492">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None/>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311" marB="34311"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7" name="Group 119"/>
          <p:cNvGraphicFramePr/>
          <p:nvPr/>
        </p:nvGraphicFramePr>
        <p:xfrm>
          <a:off x="4714418" y="5180855"/>
          <a:ext cx="7290454" cy="1688897"/>
        </p:xfrm>
        <a:graphic>
          <a:graphicData uri="http://schemas.openxmlformats.org/drawingml/2006/table">
            <a:tbl>
              <a:tblPr/>
              <a:tblGrid>
                <a:gridCol w="7290454"/>
              </a:tblGrid>
              <a:tr h="300646">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Issues, Risks and Concerns</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376499">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rgbClr val="000000"/>
                        </a:solidFill>
                        <a:effectLst/>
                        <a:latin typeface="Arial" panose="020B0604020202090204" pitchFamily="34" charset="0"/>
                        <a:cs typeface="Arial" panose="020B0604020202090204" pitchFamily="34" charset="0"/>
                      </a:endParaRPr>
                    </a:p>
                  </a:txBody>
                  <a:tcPr marL="68580" marR="68580" marT="34279" marB="34279"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graphicFrame>
        <p:nvGraphicFramePr>
          <p:cNvPr id="18" name="Group 20"/>
          <p:cNvGraphicFramePr>
            <a:graphicFrameLocks noGrp="1"/>
          </p:cNvGraphicFramePr>
          <p:nvPr/>
        </p:nvGraphicFramePr>
        <p:xfrm>
          <a:off x="8273143" y="3428999"/>
          <a:ext cx="3851952" cy="1751855"/>
        </p:xfrm>
        <a:graphic>
          <a:graphicData uri="http://schemas.openxmlformats.org/drawingml/2006/table">
            <a:tbl>
              <a:tblPr/>
              <a:tblGrid>
                <a:gridCol w="3851952"/>
              </a:tblGrid>
              <a:tr h="339309">
                <a:tc>
                  <a:txBody>
                    <a:bodyPr/>
                    <a:lstStyle>
                      <a:lvl1pPr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90204" pitchFamily="34" charset="0"/>
                          <a:cs typeface="Arial" panose="020B0604020202090204" pitchFamily="34" charset="0"/>
                        </a:defRPr>
                      </a:lvl2pPr>
                      <a:lvl3pPr marL="11430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4pPr>
                      <a:lvl5pPr marL="2057400" indent="-228600" defTabSz="44958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5pPr>
                      <a:lvl6pPr marL="25146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6pPr>
                      <a:lvl7pPr marL="29718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7pPr>
                      <a:lvl8pPr marL="34290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8pPr>
                      <a:lvl9pPr marL="3886200" indent="-228600" defTabSz="449580" fontAlgn="base">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90204" pitchFamily="34" charset="0"/>
                          <a:cs typeface="Arial" panose="020B0604020202090204" pitchFamily="34" charset="0"/>
                        </a:defRPr>
                      </a:lvl9pPr>
                    </a:lstStyle>
                    <a:p>
                      <a:pPr marL="0" marR="0" lvl="0" indent="0" algn="l" defTabSz="449580" rtl="0" eaLnBrk="1" fontAlgn="base" latinLnBrk="0" hangingPunct="1">
                        <a:lnSpc>
                          <a:spcPct val="100000"/>
                        </a:lnSpc>
                        <a:spcBef>
                          <a:spcPct val="0"/>
                        </a:spcBef>
                        <a:spcAft>
                          <a:spcPct val="15000"/>
                        </a:spcAft>
                        <a:buClr>
                          <a:srgbClr val="FFFFFF"/>
                        </a:buClr>
                        <a:buSzTx/>
                        <a:buFont typeface="Wingdings" panose="05000000000000000000"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rPr>
                        <a:t>Activities Remaining</a:t>
                      </a:r>
                      <a:endParaRPr kumimoji="0" lang="en-GB" sz="16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solidFill>
                      <a:schemeClr val="bg2"/>
                    </a:solidFill>
                  </a:tcPr>
                </a:tc>
              </a:tr>
              <a:tr h="1412546">
                <a:tc>
                  <a:txBody>
                    <a:bodyPr/>
                    <a:lstStyle>
                      <a:lvl1pPr marL="189230" indent="-18923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800">
                          <a:solidFill>
                            <a:schemeClr val="tx1"/>
                          </a:solidFill>
                          <a:latin typeface="Arial" panose="020B0604020202090204" pitchFamily="34" charset="0"/>
                          <a:cs typeface="Arial" panose="020B0604020202090204" pitchFamily="34" charset="0"/>
                        </a:defRPr>
                      </a:lvl1pPr>
                      <a:lvl2pPr marL="742950" indent="-28575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400">
                          <a:solidFill>
                            <a:schemeClr val="tx1"/>
                          </a:solidFill>
                          <a:latin typeface="Arial" panose="020B0604020202090204" pitchFamily="34" charset="0"/>
                          <a:cs typeface="Arial" panose="020B0604020202090204" pitchFamily="34" charset="0"/>
                        </a:defRPr>
                      </a:lvl2pPr>
                      <a:lvl3pPr marL="1151255"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sz="2000">
                          <a:solidFill>
                            <a:schemeClr val="tx1"/>
                          </a:solidFill>
                          <a:latin typeface="Arial" panose="020B0604020202090204" pitchFamily="34" charset="0"/>
                          <a:cs typeface="Arial" panose="020B0604020202090204" pitchFamily="34" charset="0"/>
                        </a:defRPr>
                      </a:lvl3pPr>
                      <a:lvl4pPr marL="1600200" indent="-228600"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4pPr>
                      <a:lvl5pPr defTabSz="449580">
                        <a:spcBef>
                          <a:spcPct val="20000"/>
                        </a:spcBef>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5pPr>
                      <a:lvl6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6pPr>
                      <a:lvl7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7pPr>
                      <a:lvl8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8pPr>
                      <a:lvl9pPr defTabSz="449580" fontAlgn="base">
                        <a:spcBef>
                          <a:spcPct val="20000"/>
                        </a:spcBef>
                        <a:spcAft>
                          <a:spcPct val="0"/>
                        </a:spcAft>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solidFill>
                            <a:schemeClr val="tx1"/>
                          </a:solidFill>
                          <a:latin typeface="Arial" panose="020B0604020202090204" pitchFamily="34" charset="0"/>
                          <a:cs typeface="Arial" panose="020B0604020202090204" pitchFamily="34" charset="0"/>
                        </a:defRPr>
                      </a:lvl9pPr>
                    </a:lstStyle>
                    <a:p>
                      <a:pPr marL="189230" marR="0" lvl="0" indent="-189230" algn="l" defTabSz="449580" rtl="0" eaLnBrk="1" fontAlgn="base" latinLnBrk="0" hangingPunct="1">
                        <a:lnSpc>
                          <a:spcPct val="100000"/>
                        </a:lnSpc>
                        <a:spcBef>
                          <a:spcPct val="0"/>
                        </a:spcBef>
                        <a:spcAft>
                          <a:spcPct val="15000"/>
                        </a:spcAft>
                        <a:buClr>
                          <a:schemeClr val="accent2"/>
                        </a:buClr>
                        <a:buSzTx/>
                        <a:buFont typeface="Wingdings" panose="05000000000000000000" pitchFamily="2" charset="2"/>
                        <a:buChar char="Ø"/>
                        <a:tabLst>
                          <a:tab pos="358775" algn="l"/>
                          <a:tab pos="1102995" algn="l"/>
                          <a:tab pos="2017395" algn="l"/>
                          <a:tab pos="2931795" algn="l"/>
                          <a:tab pos="3846195" algn="l"/>
                          <a:tab pos="4760595" algn="l"/>
                          <a:tab pos="5674995" algn="l"/>
                          <a:tab pos="6589395" algn="l"/>
                          <a:tab pos="7503795" algn="l"/>
                          <a:tab pos="8418195" algn="l"/>
                          <a:tab pos="9332595" algn="l"/>
                          <a:tab pos="10246995" algn="l"/>
                        </a:tabLst>
                        <a:defRPr/>
                      </a:pPr>
                      <a:endParaRPr kumimoji="0" lang="en-US" sz="16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a:txBody>
                  <a:tcPr marL="68580" marR="68580" marT="34296" marB="34296" horzOverflow="overflow">
                    <a:lnL w="9000" cap="flat" cmpd="sng" algn="ctr">
                      <a:solidFill>
                        <a:srgbClr val="7889FB"/>
                      </a:solidFill>
                      <a:prstDash val="solid"/>
                      <a:round/>
                      <a:headEnd type="none" w="med" len="med"/>
                      <a:tailEnd type="none" w="med" len="med"/>
                    </a:lnL>
                    <a:lnR w="9000" cap="flat" cmpd="sng" algn="ctr">
                      <a:solidFill>
                        <a:srgbClr val="7889FB"/>
                      </a:solidFill>
                      <a:prstDash val="solid"/>
                      <a:round/>
                      <a:headEnd type="none" w="med" len="med"/>
                      <a:tailEnd type="none" w="med" len="med"/>
                    </a:lnR>
                    <a:lnT w="9000" cap="flat" cmpd="sng" algn="ctr">
                      <a:solidFill>
                        <a:srgbClr val="7889FB"/>
                      </a:solidFill>
                      <a:prstDash val="solid"/>
                      <a:round/>
                      <a:headEnd type="none" w="med" len="med"/>
                      <a:tailEnd type="none" w="med" len="med"/>
                    </a:lnT>
                    <a:lnB w="9000" cap="flat" cmpd="sng" algn="ctr">
                      <a:solidFill>
                        <a:srgbClr val="7889FB"/>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tags/tag1.xml><?xml version="1.0" encoding="utf-8"?>
<p:tagLst xmlns:p="http://schemas.openxmlformats.org/presentationml/2006/main">
  <p:tag name="TABLE_ENDDRAG_ORIGIN_RECT" val="639*540"/>
  <p:tag name="TABLE_ENDDRAG_RECT" val="320*0*639*540"/>
</p:tagLst>
</file>

<file path=ppt/tags/tag2.xml><?xml version="1.0" encoding="utf-8"?>
<p:tagLst xmlns:p="http://schemas.openxmlformats.org/presentationml/2006/main">
  <p:tag name="TABLE_ENDDRAG_ORIGIN_RECT" val="588*117"/>
  <p:tag name="TABLE_ENDDRAG_RECT" val="371*423*588*117"/>
</p:tagLst>
</file>

<file path=ppt/tags/tag3.xml><?xml version="1.0" encoding="utf-8"?>
<p:tagLst xmlns:p="http://schemas.openxmlformats.org/presentationml/2006/main">
  <p:tag name="TABLE_ENDDRAG_ORIGIN_RECT" val="583*133"/>
  <p:tag name="TABLE_ENDDRAG_RECT" val="371*407*583*133"/>
</p:tagLst>
</file>

<file path=ppt/theme/theme1.xml><?xml version="1.0" encoding="utf-8"?>
<a:theme xmlns:a="http://schemas.openxmlformats.org/drawingml/2006/main" name="ColorBlockVTI">
  <a:themeElements>
    <a:clrScheme name="Custom 20">
      <a:dk1>
        <a:sysClr val="windowText" lastClr="000000"/>
      </a:dk1>
      <a:lt1>
        <a:sysClr val="window" lastClr="FFFFFF"/>
      </a:lt1>
      <a:dk2>
        <a:srgbClr val="17406D"/>
      </a:dk2>
      <a:lt2>
        <a:srgbClr val="DBEFF9"/>
      </a:lt2>
      <a:accent1>
        <a:srgbClr val="17406D"/>
      </a:accent1>
      <a:accent2>
        <a:srgbClr val="17406D"/>
      </a:accent2>
      <a:accent3>
        <a:srgbClr val="0BD0D9"/>
      </a:accent3>
      <a:accent4>
        <a:srgbClr val="10CF9B"/>
      </a:accent4>
      <a:accent5>
        <a:srgbClr val="7CCA62"/>
      </a:accent5>
      <a:accent6>
        <a:srgbClr val="A5C249"/>
      </a:accent6>
      <a:hlink>
        <a:srgbClr val="F49100"/>
      </a:hlink>
      <a:folHlink>
        <a:srgbClr val="85DFD0"/>
      </a:folHlink>
    </a:clrScheme>
    <a:fontScheme name="Custom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ct:contentTypeSchema xmlns:ct="http://schemas.microsoft.com/office/2006/metadata/contentType" xmlns:ma="http://schemas.microsoft.com/office/2006/metadata/properties/metaAttributes" ma:versionID="1267097ee5f5874adfcc408041ae252e" ma:contentTypeScope="" ct:_="" ma:contentTypeVersion="20" ma:contentTypeName="Document" ma:contentTypeDescription="Create a new document." ma:_="" ma:contentTypeID="0x01010079F111ED35F8CC479449609E8A0923A6">
  <xsd:schema xmlns:p="http://schemas.microsoft.com/office/2006/metadata/properties" xmlns:ns1="http://schemas.microsoft.com/sharepoint/v3" xmlns:ns2="71af3243-3dd4-4a8d-8c0d-dd76da1f02a5" xmlns:ns3="16c05727-aa75-4e4a-9b5f-8a80a1165891" xmlns:ns4="230e9df3-be65-4c73-a93b-d1236ebd677e" xmlns:xs="http://www.w3.org/2001/XMLSchema" xmlns:xsd="http://www.w3.org/2001/XMLSchema" ns1:_="" ns3:_="" ma:root="true" targetNamespace="http://schemas.microsoft.com/office/2006/metadata/properties" ns2:_="" ns4:_="" ma:fieldsID="395891a93df65b14727750f2c06c306c">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minOccurs="0" ref="ns2:MediaServiceMetadata"/>
                <xsd:element minOccurs="0" ref="ns2:MediaServiceFastMetadata"/>
                <xsd:element minOccurs="0" ref="ns2:MediaServiceOCR"/>
                <xsd:element minOccurs="0" ref="ns2:MediaServiceAutoTags"/>
                <xsd:element minOccurs="0" ref="ns2:MediaServiceEventHashCode"/>
                <xsd:element minOccurs="0" ref="ns2:MediaServiceGenerationTime"/>
                <xsd:element minOccurs="0" ref="ns3:SharedWithUsers"/>
                <xsd:element minOccurs="0" ref="ns3:SharedWithDetails"/>
                <xsd:element minOccurs="0" ref="ns2:MediaServiceAutoKeyPoints"/>
                <xsd:element minOccurs="0" ref="ns2:MediaServiceKeyPoints"/>
                <xsd:element minOccurs="0" ref="ns2:MediaServiceDateTaken"/>
                <xsd:element minOccurs="0" ref="ns2:Status"/>
                <xsd:element minOccurs="0" ref="ns1:_ip_UnifiedCompliancePolicyProperties"/>
                <xsd:element minOccurs="0" ref="ns1:_ip_UnifiedCompliancePolicyUIAction"/>
                <xsd:element minOccurs="0" ref="ns2:Image"/>
                <xsd:element minOccurs="0" ref="ns4:TaxCatchAll"/>
                <xsd:element minOccurs="0" ref="ns2:ImageTagsTaxHTField"/>
              </xsd:all>
            </xsd:complexType>
          </xsd:element>
        </xsd:sequence>
      </xsd:complexType>
    </xsd:element>
  </xsd:schema>
  <xsd:schema xmlns:dms="http://schemas.microsoft.com/office/2006/documentManagement/types" xmlns:pc="http://schemas.microsoft.com/office/infopath/2007/PartnerControls" xmlns:xs="http://www.w3.org/2001/XMLSchema" xmlns:xsd="http://www.w3.org/2001/XMLSchema" elementFormDefault="qualified" targetNamespace="http://schemas.microsoft.com/sharepoint/v3">
    <xsd:import namespace="http://schemas.microsoft.com/office/2006/documentManagement/types"/>
    <xsd:import namespace="http://schemas.microsoft.com/office/infopath/2007/PartnerControls"/>
    <xsd:element nillable="true" ma:displayName="Unified Compliance Policy Properties" ma:internalName="_ip_UnifiedCompliancePolicyProperties" ma:index="20" ma:hidden="true" name="_ip_UnifiedCompliancePolicyProperties">
      <xsd:simpleType>
        <xsd:restriction base="dms:Note"/>
      </xsd:simpleType>
    </xsd:element>
    <xsd:element nillable="true" ma:displayName="Unified Compliance Policy UI Action" ma:internalName="_ip_UnifiedCompliancePolicyUIAction" ma:index="21" ma:hidden="true" name="_ip_UnifiedCompliancePolicyUIAction">
      <xsd:simpleType>
        <xsd:restriction base="dms:Text"/>
      </xsd:simpleType>
    </xsd:element>
  </xsd:schema>
  <xsd:schema xmlns:dms="http://schemas.microsoft.com/office/2006/documentManagement/types" xmlns:pc="http://schemas.microsoft.com/office/infopath/2007/PartnerControls" xmlns:xs="http://www.w3.org/2001/XMLSchema" xmlns:xsd="http://www.w3.org/2001/XMLSchema" elementFormDefault="qualified" targetNamespace="71af3243-3dd4-4a8d-8c0d-dd76da1f02a5">
    <xsd:import namespace="http://schemas.microsoft.com/office/2006/documentManagement/types"/>
    <xsd:import namespace="http://schemas.microsoft.com/office/infopath/2007/PartnerControls"/>
    <xsd:element nillable="true" ma:displayName="MediaServiceMetadata" ma:internalName="MediaServiceMetadata" ma:index="8" ma:hidden="true" ma:readOnly="true" name="MediaServiceMetadata">
      <xsd:simpleType>
        <xsd:restriction base="dms:Note"/>
      </xsd:simpleType>
    </xsd:element>
    <xsd:element nillable="true" ma:displayName="MediaServiceFastMetadata" ma:internalName="MediaServiceFastMetadata" ma:index="9" ma:hidden="true" ma:readOnly="true" name="MediaServiceFastMetadata">
      <xsd:simpleType>
        <xsd:restriction base="dms:Note"/>
      </xsd:simpleType>
    </xsd:element>
    <xsd:element nillable="true" ma:displayName="MediaServiceOCR" ma:internalName="MediaServiceOCR" ma:index="10" ma:readOnly="true" name="MediaServiceOCR">
      <xsd:simpleType>
        <xsd:restriction base="dms:Note">
          <xsd:maxLength value="255"/>
        </xsd:restriction>
      </xsd:simpleType>
    </xsd:element>
    <xsd:element nillable="true" ma:displayName="MediaServiceAutoTags" ma:internalName="MediaServiceAutoTags" ma:index="11" ma:readOnly="true" name="MediaServiceAutoTags">
      <xsd:simpleType>
        <xsd:restriction base="dms:Text"/>
      </xsd:simpleType>
    </xsd:element>
    <xsd:element nillable="true" ma:displayName="MediaServiceEventHashCode" ma:internalName="MediaServiceEventHashCode" ma:index="12" ma:hidden="true" ma:readOnly="true" name="MediaServiceEventHashCode">
      <xsd:simpleType>
        <xsd:restriction base="dms:Text"/>
      </xsd:simpleType>
    </xsd:element>
    <xsd:element nillable="true" ma:displayName="MediaServiceGenerationTime" ma:internalName="MediaServiceGenerationTime" ma:index="13" ma:hidden="true" ma:readOnly="true" name="MediaServiceGenerationTime">
      <xsd:simpleType>
        <xsd:restriction base="dms:Text"/>
      </xsd:simpleType>
    </xsd:element>
    <xsd:element nillable="true" ma:displayName="MediaServiceAutoKeyPoints" ma:internalName="MediaServiceAutoKeyPoints" ma:index="16" ma:hidden="true" ma:readOnly="true" name="MediaServiceAutoKeyPoints">
      <xsd:simpleType>
        <xsd:restriction base="dms:Note"/>
      </xsd:simpleType>
    </xsd:element>
    <xsd:element nillable="true" ma:displayName="KeyPoints" ma:internalName="MediaServiceKeyPoints" ma:index="17" ma:readOnly="false" name="MediaServiceKeyPoints">
      <xsd:simpleType>
        <xsd:restriction base="dms:Note">
          <xsd:maxLength value="255"/>
        </xsd:restriction>
      </xsd:simpleType>
    </xsd:element>
    <xsd:element nillable="true" ma:displayName="MediaServiceDateTaken" ma:internalName="MediaServiceDateTaken" ma:index="18" ma:hidden="true" ma:readOnly="true" name="MediaServiceDateTaken">
      <xsd:simpleType>
        <xsd:restriction base="dms:Text"/>
      </xsd:simpleType>
    </xsd:element>
    <xsd:element nillable="true" ma:default="Not started" ma:displayName="Status" ma:internalName="Status" ma:index="19" ma:format="Dropdown" name="Status">
      <xsd:simpleType>
        <xsd:restriction base="dms:Choice">
          <xsd:enumeration value="Not started"/>
          <xsd:enumeration value="In Progress"/>
          <xsd:enumeration value="Completed"/>
        </xsd:restriction>
      </xsd:simpleType>
    </xsd:element>
    <xsd:element nillable="true" ma:displayName="Image" ma:internalName="Image" ma:index="22" ma:format="Image" name="Image">
      <xsd:complexType>
        <xsd:complexContent>
          <xsd:extension base="dms:URL">
            <xsd:sequence>
              <xsd:element nillable="true" minOccurs="0" type="dms:ValidUrl" name="Url"/>
              <xsd:element nillable="true" type="xsd:string" name="Description"/>
            </xsd:sequence>
          </xsd:extension>
        </xsd:complexContent>
      </xsd:complexType>
    </xsd:element>
    <xsd:element nillable="true" ma:taxonomy="true" ma:displayName="Image Tags" ma:sspId="e385fb40-52d4-4fae-9c5b-3e8ff8a5878e" ma:open="true" ma:internalName="ImageTagsTaxHTField" ma:isKeyword="false" ma:index="25" ma:termSetId="09814cd3-568e-fe90-9814-8d621ff8fb84" ma:fieldId="{5cf76f15-5ced-4ddc-b409-7134ff3c332f}" ma:anchorId="fba54fb3-c3e1-fe81-a776-ca4b69148c4d" ma:readOnly="false" name="ImageTagsTaxHTField" ma:taxonomyFieldName="MediaServiceImageTags" ma:taxonomyMulti="true">
      <xsd:complexType>
        <xsd:sequence>
          <xsd:element minOccurs="0" ref="pc:Terms" maxOccurs="1"/>
        </xsd:sequence>
      </xsd:complexType>
    </xsd:element>
  </xsd:schema>
  <xsd:schema xmlns:dms="http://schemas.microsoft.com/office/2006/documentManagement/types" xmlns:pc="http://schemas.microsoft.com/office/infopath/2007/PartnerControls" xmlns:xs="http://www.w3.org/2001/XMLSchema" xmlns:xsd="http://www.w3.org/2001/XMLSchema" elementFormDefault="qualified" targetNamespace="16c05727-aa75-4e4a-9b5f-8a80a1165891">
    <xsd:import namespace="http://schemas.microsoft.com/office/2006/documentManagement/types"/>
    <xsd:import namespace="http://schemas.microsoft.com/office/infopath/2007/PartnerControls"/>
    <xsd:element nillable="true" ma:displayName="Shared With" ma:internalName="SharedWithUsers" ma:index="14" ma:readOnly="true" name="SharedWithUsers">
      <xsd:complexType>
        <xsd:complexContent>
          <xsd:extension base="dms:UserMulti">
            <xsd:sequence>
              <xsd:element minOccurs="0" name="UserInfo" maxOccurs="unbounded">
                <xsd:complexType>
                  <xsd:sequence>
                    <xsd:element minOccurs="0" type="xsd:string" name="DisplayName"/>
                    <xsd:element nillable="true" minOccurs="0" type="dms:UserId" name="AccountId"/>
                    <xsd:element minOccurs="0" type="xsd:string" name="AccountType"/>
                  </xsd:sequence>
                </xsd:complexType>
              </xsd:element>
            </xsd:sequence>
          </xsd:extension>
        </xsd:complexContent>
      </xsd:complexType>
    </xsd:element>
    <xsd:element nillable="true" ma:displayName="Shared With Details" ma:internalName="SharedWithDetails" ma:index="15" ma:readOnly="true" name="SharedWithDetails">
      <xsd:simpleType>
        <xsd:restriction base="dms:Note">
          <xsd:maxLength value="255"/>
        </xsd:restriction>
      </xsd:simpleType>
    </xsd:element>
  </xsd:schema>
  <xsd:schema xmlns:dms="http://schemas.microsoft.com/office/2006/documentManagement/types" xmlns:pc="http://schemas.microsoft.com/office/infopath/2007/PartnerControls" xmlns:xs="http://www.w3.org/2001/XMLSchema" xmlns:xsd="http://www.w3.org/2001/XMLSchema" elementFormDefault="qualified" targetNamespace="230e9df3-be65-4c73-a93b-d1236ebd677e">
    <xsd:import namespace="http://schemas.microsoft.com/office/2006/documentManagement/types"/>
    <xsd:import namespace="http://schemas.microsoft.com/office/infopath/2007/PartnerControls"/>
    <xsd:element nillable="true" ma:showField="CatchAllData" ma:list="{3f6bfcbc-3db3-4ae6-bd76-326f0798ad28}" ma:displayName="Taxonomy Catch All Column" ma:internalName="TaxCatchAll" ma:index="23" ma:web="16c05727-aa75-4e4a-9b5f-8a80a1165891" ma:hidden="true" name="TaxCatchAll">
      <xsd:complexType>
        <xsd:complexContent>
          <xsd:extension base="dms:MultiChoiceLookup">
            <xsd:sequence>
              <xsd:element nillable="true" minOccurs="0" type="dms:Lookup" name="Value" maxOccurs="unbounded"/>
            </xsd:sequence>
          </xsd:extension>
        </xsd:complexContent>
      </xsd:complexType>
    </xsd:element>
  </xsd:schema>
  <xsd:schema xmlns:dcterms="http://purl.org/dc/terms/" xmlns:xsi="http://www.w3.org/2001/XMLSchema-instance" xmlns:dc="http://purl.org/dc/elements/1.1/" xmlns="http://schemas.openxmlformats.org/package/2006/metadata/core-properties" xmlns:odoc="http://schemas.microsoft.com/internal/obd" xmlns:xsd="http://www.w3.org/2001/XMLSchema" elementFormDefault="qualified" blockDefault="#all" targetNamespace="http://schemas.openxmlformats.org/package/2006/metadata/core-properties" attributeFormDefault="unqualified">
    <xsd:import schemaLocation="http://dublincore.org/schemas/xmls/qdc/2003/04/02/dc.xsd" namespace="http://purl.org/dc/elements/1.1/"/>
    <xsd:import schemaLocation="http://dublincore.org/schemas/xmls/qdc/2003/04/02/dcterms.xsd" namespace="http://purl.org/dc/terms/"/>
    <xsd:element type="CT_coreProperties" name="coreProperties"/>
    <xsd:complexType name="CT_coreProperties">
      <xsd:all>
        <xsd:element minOccurs="0" ref="dc:creator" maxOccurs="1"/>
        <xsd:element minOccurs="0" ref="dcterms:created" maxOccurs="1"/>
        <xsd:element minOccurs="0" ref="dc:identifier" maxOccurs="1"/>
        <xsd:element minOccurs="0" ma:displayName="Content Type" ma:index="0" type="xsd:string" name="contentType" maxOccurs="1"/>
        <xsd:element minOccurs="0" ma:displayName="Title" ma:index="4" ref="dc:title" maxOccurs="1"/>
        <xsd:element minOccurs="0" ref="dc:subject" maxOccurs="1"/>
        <xsd:element minOccurs="0" ref="dc:description" maxOccurs="1"/>
        <xsd:element minOccurs="0" type="xsd:string" name="keywords" maxOccurs="1"/>
        <xsd:element minOccurs="0" ref="dc:language" maxOccurs="1"/>
        <xsd:element minOccurs="0" type="xsd:string" name="category" maxOccurs="1"/>
        <xsd:element minOccurs="0" type="xsd:string" name="version" maxOccurs="1"/>
        <xsd:element minOccurs="0" type="xsd:string" name="revision" maxOccurs="1">
          <xsd:annotation>
            <xsd:documentation>
                        This value indicates the number of saves or revisions. The application is responsible for updating this value after each revision.
                    </xsd:documentation>
          </xsd:annotation>
        </xsd:element>
        <xsd:element minOccurs="0" type="xsd:string" name="lastModifiedBy" maxOccurs="1"/>
        <xsd:element minOccurs="0" ref="dcterms:modified" maxOccurs="1"/>
        <xsd:element minOccurs="0" type="xsd:string" name="contentStatus" maxOccurs="1"/>
      </xsd:all>
    </xsd:complexType>
  </xsd:schema>
  <xs:schema xmlns:pc="http://schemas.microsoft.com/office/infopath/2007/PartnerControls" xmlns:xs="http://www.w3.org/2001/XMLSchema" elementFormDefault="qualified" targetNamespace="http://schemas.microsoft.com/office/infopath/2007/PartnerControls" attributeFormDefault="unqualified">
    <xs:element name="Person">
      <xs:complexType>
        <xs:sequence>
          <xs:element minOccurs="0" ref="pc:DisplayName"/>
          <xs:element minOccurs="0" ref="pc:AccountId"/>
          <xs:element minOccurs="0" ref="pc:AccountType"/>
        </xs:sequence>
      </xs:complexType>
    </xs:element>
    <xs:element type="xs:string" name="DisplayName"/>
    <xs:element type="xs:string" name="AccountId"/>
    <xs:element type="xs:string" name="AccountType"/>
    <xs:element name="BDCAssociatedEntity">
      <xs:complexType>
        <xs:sequence>
          <xs:element minOccurs="0" ref="pc:BDCEntity" maxOccurs="unbounded"/>
        </xs:sequence>
        <xs:attribute ref="pc:EntityNamespace"/>
        <xs:attribute ref="pc:EntityName"/>
        <xs:attribute ref="pc:SystemInstanceName"/>
        <xs:attribute ref="pc:AssociationName"/>
      </xs:complexType>
    </xs:element>
    <xs:attribute type="xs:string" name="EntityNamespace"/>
    <xs:attribute type="xs:string" name="EntityName"/>
    <xs:attribute type="xs:string" name="SystemInstanceName"/>
    <xs:attribute type="xs:string" name="AssociationName"/>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type="xs:string" name="EntityDisplayName"/>
    <xs:element type="xs:string" name="EntityInstanceReference"/>
    <xs:element type="xs:string" name="EntityId1"/>
    <xs:element type="xs:string" name="EntityId2"/>
    <xs:element type="xs:string" name="EntityId3"/>
    <xs:element type="xs:string" name="EntityId4"/>
    <xs:element type="xs:string" name="EntityId5"/>
    <xs:element name="Terms">
      <xs:complexType>
        <xs:sequence>
          <xs:element minOccurs="0" ref="pc:TermInfo" maxOccurs="unbounded"/>
        </xs:sequence>
      </xs:complexType>
    </xs:element>
    <xs:element name="TermInfo">
      <xs:complexType>
        <xs:sequence>
          <xs:element minOccurs="0" ref="pc:TermName"/>
          <xs:element minOccurs="0" ref="pc:TermId"/>
        </xs:sequence>
      </xs:complexType>
    </xs:element>
    <xs:element type="xs:string" name="TermName"/>
    <xs:element type="xs:string" name="TermId"/>
  </xs:schema>
</ct:contentTypeSchema>
</file>

<file path=customXml/item2.xml><?xml version="1.0" encoding="utf-8"?>
<p:properties xmlns:xsi="http://www.w3.org/2001/XMLSchema-instance" xmlns:pc="http://schemas.microsoft.com/office/infopath/2007/PartnerControls" xmlns:p="http://schemas.microsoft.com/office/2006/metadata/propertie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4.xml><?xml version="1.0" encoding="utf-8"?>
<ds:datastoreItem xmlns:ds="http://schemas.openxmlformats.org/officeDocument/2006/customXml" ds:itemID="{0AF0BF08-C674-44E3-8BFC-85BC65E095F1}">
  <ds:schemaRefs/>
</ds:datastoreItem>
</file>

<file path=customXml/itemProps5.xml><?xml version="1.0" encoding="utf-8"?>
<ds:datastoreItem xmlns:ds="http://schemas.openxmlformats.org/officeDocument/2006/customXml" ds:itemID="{08757C30-AE9A-4680-90EB-19D282EC2B7C}">
  <ds:schemaRefs/>
</ds:datastoreItem>
</file>

<file path=customXml/itemProps6.xml><?xml version="1.0" encoding="utf-8"?>
<ds:datastoreItem xmlns:ds="http://schemas.openxmlformats.org/officeDocument/2006/customXml" ds:itemID="{A5CCB28C-7D26-4A36-9CFC-D739C28F3D18}">
  <ds:schemaRefs/>
</ds:datastoreItem>
</file>

<file path=docProps/app.xml><?xml version="1.0" encoding="utf-8"?>
<Properties xmlns="http://schemas.openxmlformats.org/officeDocument/2006/extended-properties" xmlns:vt="http://schemas.openxmlformats.org/officeDocument/2006/docPropsVTypes">
  <Template>{F0D41A06-DF97-4010-859F-85233BE92F44}tf89117832_win32</Template>
  <TotalTime>0</TotalTime>
  <Words>25471</Words>
  <Application>WPS 表格</Application>
  <PresentationFormat>宽屏</PresentationFormat>
  <Paragraphs>1092</Paragraphs>
  <Slides>31</Slides>
  <Notes>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31</vt:i4>
      </vt:variant>
    </vt:vector>
  </HeadingPairs>
  <TitlesOfParts>
    <vt:vector size="51" baseType="lpstr">
      <vt:lpstr>Arial</vt:lpstr>
      <vt:lpstr>宋体</vt:lpstr>
      <vt:lpstr>Wingdings</vt:lpstr>
      <vt:lpstr>Avenir Next LT Pro</vt:lpstr>
      <vt:lpstr>Thonburi</vt:lpstr>
      <vt:lpstr>IBM Plex Sans</vt:lpstr>
      <vt:lpstr>苹方-简</vt:lpstr>
      <vt:lpstr>宋体</vt:lpstr>
      <vt:lpstr>汉仪书宋二KW</vt:lpstr>
      <vt:lpstr>微软雅黑</vt:lpstr>
      <vt:lpstr>汉仪旗黑</vt:lpstr>
      <vt:lpstr>宋体</vt:lpstr>
      <vt:lpstr>Arial Unicode MS</vt:lpstr>
      <vt:lpstr>Calibri</vt:lpstr>
      <vt:lpstr>Helvetica Neue</vt:lpstr>
      <vt:lpstr>等线</vt:lpstr>
      <vt:lpstr>汉仪中等线KW</vt:lpstr>
      <vt:lpstr>Avenir Next LT Pro</vt:lpstr>
      <vt:lpstr>Wingdings</vt:lpstr>
      <vt:lpstr>ColorBlockVTI</vt:lpstr>
      <vt:lpstr>MSc IT+ Projects Tracker</vt:lpstr>
      <vt:lpstr>Project Ideation</vt:lpstr>
      <vt:lpstr>About You  This information will help your supervisor to understand your background, skillset and interests   Optional – Include a photo of yourself below</vt:lpstr>
      <vt:lpstr>Project Topic Ideation  Based on the project Ideation video, try to see if you can define a project topic.   Your supervisor will then provide feedback on your topic ideas, and prescribe a topic if necessary, by Week 1 of the IT+ projects.</vt:lpstr>
      <vt:lpstr>Project Topic Ideation  Feedback from Supervisor  </vt:lpstr>
      <vt:lpstr>Project Proposal</vt:lpstr>
      <vt:lpstr>Proposed Project  Based on the feedback and discussion with your supervisor, now refine your understanding of your project topic and aims.  This should be agreed with your supervisor by the start of Week 2 at the latest.</vt:lpstr>
      <vt:lpstr>Changes to Proposed Project  As you progress through the 12 week project, keep a note of any changes to the proposed project topic, aims, technologies used etc. here.   This will help your supervisor to understand how the project has evolved and why.</vt:lpstr>
      <vt:lpstr>URLs / Resources  Link to any useful URLs and resources you want to share directly with your supervisor here. This should include a link to your Gitlab repository (once setup by end of Week 1) and the latest working copy of your dissertation (e.g. on Onedrive, Overleaf etc).</vt:lpstr>
      <vt:lpstr>Project Architecture Diagram  Add and maintain an architecture diagram to help your supervisor understand your project design and approach</vt:lpstr>
      <vt:lpstr>Weekly Progress Tracker  To be filled out by the student every week, tracking progress, aims, issues, and planning your agenda for any meetings with your supervisor or GTAs.</vt:lpstr>
      <vt:lpstr>Purpose of the Progress Tracker</vt:lpstr>
      <vt:lpstr>Example</vt:lpstr>
      <vt:lpstr>Week 1 – Initial Supervisor Meeting </vt:lpstr>
      <vt:lpstr>Week 2</vt:lpstr>
      <vt:lpstr>Week 3/4 Status Update  Requirements, Design </vt:lpstr>
      <vt:lpstr>Week 3</vt:lpstr>
      <vt:lpstr>Week 4</vt:lpstr>
      <vt:lpstr>Week 5</vt:lpstr>
      <vt:lpstr>Week 6/7 Status Update   </vt:lpstr>
      <vt:lpstr>Week 6</vt:lpstr>
      <vt:lpstr>Week 7</vt:lpstr>
      <vt:lpstr>Week 8/9 Status Update   </vt:lpstr>
      <vt:lpstr>Week 8</vt:lpstr>
      <vt:lpstr>Week 9</vt:lpstr>
      <vt:lpstr>unit test</vt:lpstr>
      <vt:lpstr>Survey</vt:lpstr>
      <vt:lpstr>Week 10/11 Status Update   </vt:lpstr>
      <vt:lpstr>Week 10</vt:lpstr>
      <vt:lpstr>Week 11</vt:lpstr>
      <vt:lpstr>Week 12 - Final Week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MSc IT+ Projects Tracker</dc:title>
  <dc:creator>Mark McGill</dc:creator>
  <cp:lastModifiedBy>WPS_1542118790</cp:lastModifiedBy>
  <cp:revision>39</cp:revision>
  <dcterms:created xsi:type="dcterms:W3CDTF">2026-09-06T11:18:07Z</dcterms:created>
  <dcterms:modified xsi:type="dcterms:W3CDTF">2026-09-06T11:18:07Z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0BBF60C9D8AB3A3E304B176A04CC76C6_43</vt:lpwstr>
  </property>
  <property fmtid="{D5CDD505-2E9C-101B-9397-08002B2CF9AE}" pid="4" name="KSOProductBuildVer">
    <vt:lpwstr>2052-7.4.0.8981</vt:lpwstr>
  </property>
</Properties>
</file>